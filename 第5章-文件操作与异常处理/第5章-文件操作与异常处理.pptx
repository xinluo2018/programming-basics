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4773" r:id="rId1"/>
    <p:sldMasterId id="2147484986" r:id="rId2"/>
  </p:sldMasterIdLst>
  <p:notesMasterIdLst>
    <p:notesMasterId r:id="rId18"/>
  </p:notesMasterIdLst>
  <p:handoutMasterIdLst>
    <p:handoutMasterId r:id="rId19"/>
  </p:handoutMasterIdLst>
  <p:sldIdLst>
    <p:sldId id="2708" r:id="rId3"/>
    <p:sldId id="2387" r:id="rId4"/>
    <p:sldId id="2447" r:id="rId5"/>
    <p:sldId id="2729" r:id="rId6"/>
    <p:sldId id="2769" r:id="rId7"/>
    <p:sldId id="2770" r:id="rId8"/>
    <p:sldId id="2761" r:id="rId9"/>
    <p:sldId id="2762" r:id="rId10"/>
    <p:sldId id="2768" r:id="rId11"/>
    <p:sldId id="2709" r:id="rId12"/>
    <p:sldId id="2767" r:id="rId13"/>
    <p:sldId id="2771" r:id="rId14"/>
    <p:sldId id="2766" r:id="rId15"/>
    <p:sldId id="2764" r:id="rId16"/>
    <p:sldId id="2741" r:id="rId17"/>
  </p:sldIdLst>
  <p:sldSz cx="12192000" cy="6858000"/>
  <p:notesSz cx="7099300" cy="10234613"/>
  <p:custDataLst>
    <p:tags r:id="rId20"/>
  </p:custDataLst>
  <p:defaultTextStyle>
    <a:defPPr>
      <a:defRPr lang="zh-CN"/>
    </a:defPPr>
    <a:lvl1pPr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1pPr>
    <a:lvl2pPr marL="4572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2pPr>
    <a:lvl3pPr marL="9144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3pPr>
    <a:lvl4pPr marL="13716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4pPr>
    <a:lvl5pPr marL="18288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663" userDrawn="1">
          <p15:clr>
            <a:srgbClr val="A4A3A4"/>
          </p15:clr>
        </p15:guide>
        <p15:guide id="2" orient="horz" pos="1412" userDrawn="1">
          <p15:clr>
            <a:srgbClr val="A4A3A4"/>
          </p15:clr>
        </p15:guide>
        <p15:guide id="3" pos="241" userDrawn="1">
          <p15:clr>
            <a:srgbClr val="A4A3A4"/>
          </p15:clr>
        </p15:guide>
        <p15:guide id="4" pos="7408" userDrawn="1">
          <p15:clr>
            <a:srgbClr val="A4A3A4"/>
          </p15:clr>
        </p15:guide>
        <p15:guide id="5" pos="3871" userDrawn="1">
          <p15:clr>
            <a:srgbClr val="A4A3A4"/>
          </p15:clr>
        </p15:guide>
        <p15:guide id="6" orient="horz" pos="700" userDrawn="1">
          <p15:clr>
            <a:srgbClr val="A4A3A4"/>
          </p15:clr>
        </p15:guide>
        <p15:guide id="7" orient="horz" pos="4119" userDrawn="1">
          <p15:clr>
            <a:srgbClr val="A4A3A4"/>
          </p15:clr>
        </p15:guide>
        <p15:guide id="8" pos="415" userDrawn="1">
          <p15:clr>
            <a:srgbClr val="A4A3A4"/>
          </p15:clr>
        </p15:guide>
        <p15:guide id="9" pos="7335" userDrawn="1">
          <p15:clr>
            <a:srgbClr val="A4A3A4"/>
          </p15:clr>
        </p15:guide>
        <p15:guide id="10" orient="horz" pos="462" userDrawn="1">
          <p15:clr>
            <a:srgbClr val="A4A3A4"/>
          </p15:clr>
        </p15:guide>
        <p15:guide id="11" pos="103" userDrawn="1">
          <p15:clr>
            <a:srgbClr val="A4A3A4"/>
          </p15:clr>
        </p15:guide>
        <p15:guide id="12" pos="96" userDrawn="1">
          <p15:clr>
            <a:srgbClr val="A4A3A4"/>
          </p15:clr>
        </p15:guide>
        <p15:guide id="13" orient="horz" pos="2" userDrawn="1">
          <p15:clr>
            <a:srgbClr val="A4A3A4"/>
          </p15:clr>
        </p15:guide>
        <p15:guide id="14" pos="1076" userDrawn="1">
          <p15:clr>
            <a:srgbClr val="A4A3A4"/>
          </p15:clr>
        </p15:guide>
        <p15:guide id="15" pos="1951" userDrawn="1">
          <p15:clr>
            <a:srgbClr val="A4A3A4"/>
          </p15:clr>
        </p15:guide>
        <p15:guide id="16" pos="2772" userDrawn="1">
          <p15:clr>
            <a:srgbClr val="A4A3A4"/>
          </p15:clr>
        </p15:guide>
        <p15:guide id="17" pos="3619" userDrawn="1">
          <p15:clr>
            <a:srgbClr val="A4A3A4"/>
          </p15:clr>
        </p15:guide>
        <p15:guide id="18" pos="4493" userDrawn="1">
          <p15:clr>
            <a:srgbClr val="A4A3A4"/>
          </p15:clr>
        </p15:guide>
        <p15:guide id="19" pos="5313" userDrawn="1">
          <p15:clr>
            <a:srgbClr val="A4A3A4"/>
          </p15:clr>
        </p15:guide>
        <p15:guide id="20" pos="6175" userDrawn="1">
          <p15:clr>
            <a:srgbClr val="A4A3A4"/>
          </p15:clr>
        </p15:guide>
        <p15:guide id="21" orient="horz" pos="581" userDrawn="1">
          <p15:clr>
            <a:srgbClr val="A4A3A4"/>
          </p15:clr>
        </p15:guide>
        <p15:guide id="22" orient="horz" pos="3230" userDrawn="1">
          <p15:clr>
            <a:srgbClr val="A4A3A4"/>
          </p15:clr>
        </p15:guide>
        <p15:guide id="23" orient="horz" pos="1230" userDrawn="1">
          <p15:clr>
            <a:srgbClr val="A4A3A4"/>
          </p15:clr>
        </p15:guide>
        <p15:guide id="24" orient="horz" userDrawn="1">
          <p15:clr>
            <a:srgbClr val="A4A3A4"/>
          </p15:clr>
        </p15:guide>
        <p15:guide id="25" orient="horz" pos="1450" userDrawn="1">
          <p15:clr>
            <a:srgbClr val="A4A3A4"/>
          </p15:clr>
        </p15:guide>
        <p15:guide id="26" pos="375" userDrawn="1">
          <p15:clr>
            <a:srgbClr val="A4A3A4"/>
          </p15:clr>
        </p15:guide>
        <p15:guide id="27" orient="horz" pos="3095" userDrawn="1">
          <p15:clr>
            <a:srgbClr val="A4A3A4"/>
          </p15:clr>
        </p15:guide>
        <p15:guide id="28" orient="horz" pos="2372" userDrawn="1">
          <p15:clr>
            <a:srgbClr val="A4A3A4"/>
          </p15:clr>
        </p15:guide>
        <p15:guide id="29" orient="horz" pos="4159" userDrawn="1">
          <p15:clr>
            <a:srgbClr val="A4A3A4"/>
          </p15:clr>
        </p15:guide>
        <p15:guide id="30" pos="417" userDrawn="1">
          <p15:clr>
            <a:srgbClr val="A4A3A4"/>
          </p15:clr>
        </p15:guide>
        <p15:guide id="31" pos="2207" userDrawn="1">
          <p15:clr>
            <a:srgbClr val="A4A3A4"/>
          </p15:clr>
        </p15:guide>
        <p15:guide id="32" pos="7636" userDrawn="1">
          <p15:clr>
            <a:srgbClr val="A4A3A4"/>
          </p15:clr>
        </p15:guide>
        <p15:guide id="33" orient="horz" pos="632" userDrawn="1">
          <p15:clr>
            <a:srgbClr val="A4A3A4"/>
          </p15:clr>
        </p15:guide>
        <p15:guide id="34" orient="horz" pos="1461" userDrawn="1">
          <p15:clr>
            <a:srgbClr val="A4A3A4"/>
          </p15:clr>
        </p15:guide>
        <p15:guide id="35" orient="horz" pos="2262" userDrawn="1">
          <p15:clr>
            <a:srgbClr val="A4A3A4"/>
          </p15:clr>
        </p15:guide>
        <p15:guide id="36" orient="horz" pos="3072" userDrawn="1">
          <p15:clr>
            <a:srgbClr val="A4A3A4"/>
          </p15:clr>
        </p15:guide>
        <p15:guide id="37" pos="1020" userDrawn="1">
          <p15:clr>
            <a:srgbClr val="A4A3A4"/>
          </p15:clr>
        </p15:guide>
        <p15:guide id="38" pos="7440" userDrawn="1">
          <p15:clr>
            <a:srgbClr val="A4A3A4"/>
          </p15:clr>
        </p15:guide>
        <p15:guide id="39" pos="6719" userDrawn="1">
          <p15:clr>
            <a:srgbClr val="A4A3A4"/>
          </p15:clr>
        </p15:guide>
        <p15:guide id="40" orient="horz" pos="621" userDrawn="1">
          <p15:clr>
            <a:srgbClr val="A4A3A4"/>
          </p15:clr>
        </p15:guide>
        <p15:guide id="41" orient="horz" pos="38" userDrawn="1">
          <p15:clr>
            <a:srgbClr val="A4A3A4"/>
          </p15:clr>
        </p15:guide>
        <p15:guide id="42" orient="horz" pos="4319" userDrawn="1">
          <p15:clr>
            <a:srgbClr val="A4A3A4"/>
          </p15:clr>
        </p15:guide>
        <p15:guide id="43" orient="horz" pos="39" userDrawn="1">
          <p15:clr>
            <a:srgbClr val="A4A3A4"/>
          </p15:clr>
        </p15:guide>
        <p15:guide id="44" pos="4489" userDrawn="1">
          <p15:clr>
            <a:srgbClr val="A4A3A4"/>
          </p15:clr>
        </p15:guide>
        <p15:guide id="45" pos="6207" userDrawn="1">
          <p15:clr>
            <a:srgbClr val="A4A3A4"/>
          </p15:clr>
        </p15:guide>
        <p15:guide id="46" orient="horz" pos="1" userDrawn="1">
          <p15:clr>
            <a:srgbClr val="A4A3A4"/>
          </p15:clr>
        </p15:guide>
        <p15:guide id="47" orient="horz" pos="4067" userDrawn="1">
          <p15:clr>
            <a:srgbClr val="A4A3A4"/>
          </p15:clr>
        </p15:guide>
        <p15:guide id="48" orient="horz" pos="601" userDrawn="1">
          <p15:clr>
            <a:srgbClr val="A4A3A4"/>
          </p15:clr>
        </p15:guide>
        <p15:guide id="49" pos="199" userDrawn="1">
          <p15:clr>
            <a:srgbClr val="A4A3A4"/>
          </p15:clr>
        </p15:guide>
        <p15:guide id="50" pos="7452" userDrawn="1">
          <p15:clr>
            <a:srgbClr val="A4A3A4"/>
          </p15:clr>
        </p15:guide>
        <p15:guide id="51" pos="430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office316" initials="o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B050"/>
    <a:srgbClr val="C3E8CC"/>
    <a:srgbClr val="7A81FF"/>
    <a:srgbClr val="FF00DF"/>
    <a:srgbClr val="FF00FF"/>
    <a:srgbClr val="269FA0"/>
    <a:srgbClr val="FFC000"/>
    <a:srgbClr val="333399"/>
    <a:srgbClr val="0000CC"/>
    <a:srgbClr val="9507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000"/>
    <p:restoredTop sz="82258"/>
  </p:normalViewPr>
  <p:slideViewPr>
    <p:cSldViewPr snapToGrid="0">
      <p:cViewPr varScale="1">
        <p:scale>
          <a:sx n="82" d="100"/>
          <a:sy n="82" d="100"/>
        </p:scale>
        <p:origin x="248" y="168"/>
      </p:cViewPr>
      <p:guideLst>
        <p:guide orient="horz" pos="663"/>
        <p:guide orient="horz" pos="1412"/>
        <p:guide pos="241"/>
        <p:guide pos="7408"/>
        <p:guide pos="3871"/>
        <p:guide orient="horz" pos="700"/>
        <p:guide orient="horz" pos="4119"/>
        <p:guide pos="415"/>
        <p:guide pos="7335"/>
        <p:guide orient="horz" pos="462"/>
        <p:guide pos="103"/>
        <p:guide pos="96"/>
        <p:guide orient="horz" pos="2"/>
        <p:guide pos="1076"/>
        <p:guide pos="1951"/>
        <p:guide pos="2772"/>
        <p:guide pos="3619"/>
        <p:guide pos="4493"/>
        <p:guide pos="5313"/>
        <p:guide pos="6175"/>
        <p:guide orient="horz" pos="581"/>
        <p:guide orient="horz" pos="3230"/>
        <p:guide orient="horz" pos="1230"/>
        <p:guide orient="horz"/>
        <p:guide orient="horz" pos="1450"/>
        <p:guide pos="375"/>
        <p:guide orient="horz" pos="3095"/>
        <p:guide orient="horz" pos="2372"/>
        <p:guide orient="horz" pos="4159"/>
        <p:guide pos="417"/>
        <p:guide pos="2207"/>
        <p:guide pos="7636"/>
        <p:guide orient="horz" pos="632"/>
        <p:guide orient="horz" pos="1461"/>
        <p:guide orient="horz" pos="2262"/>
        <p:guide orient="horz" pos="3072"/>
        <p:guide pos="1020"/>
        <p:guide pos="7440"/>
        <p:guide pos="6719"/>
        <p:guide orient="horz" pos="621"/>
        <p:guide orient="horz" pos="38"/>
        <p:guide orient="horz" pos="4319"/>
        <p:guide orient="horz" pos="39"/>
        <p:guide pos="4489"/>
        <p:guide pos="6207"/>
        <p:guide orient="horz" pos="1"/>
        <p:guide orient="horz" pos="4067"/>
        <p:guide orient="horz" pos="601"/>
        <p:guide pos="199"/>
        <p:guide pos="7452"/>
        <p:guide pos="4303"/>
      </p:guideLst>
    </p:cSldViewPr>
  </p:slideViewPr>
  <p:notesTextViewPr>
    <p:cViewPr>
      <p:scale>
        <a:sx n="170" d="100"/>
        <a:sy n="170" d="100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4"/>
        <p:guide pos="223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26" Type="http://schemas.microsoft.com/office/2016/11/relationships/changesInfo" Target="changesInfos/changesInfo1.xml"/><Relationship Id="rId3" Type="http://schemas.openxmlformats.org/officeDocument/2006/relationships/slide" Target="slides/slide1.xml"/><Relationship Id="rId21" Type="http://schemas.openxmlformats.org/officeDocument/2006/relationships/commentAuthors" Target="commentAuthor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n Luo" userId="82312ee5779919a4" providerId="LiveId" clId="{4B16E866-FFF1-585A-8670-68209B92BFC1}"/>
    <pc:docChg chg="modSld">
      <pc:chgData name="Xin Luo" userId="82312ee5779919a4" providerId="LiveId" clId="{4B16E866-FFF1-585A-8670-68209B92BFC1}" dt="2026-08-27T06:27:11.553" v="1" actId="20577"/>
      <pc:docMkLst>
        <pc:docMk/>
      </pc:docMkLst>
      <pc:sldChg chg="modSp mod">
        <pc:chgData name="Xin Luo" userId="82312ee5779919a4" providerId="LiveId" clId="{4B16E866-FFF1-585A-8670-68209B92BFC1}" dt="2026-08-27T06:27:11.553" v="1" actId="20577"/>
        <pc:sldMkLst>
          <pc:docMk/>
          <pc:sldMk cId="4207004688" sldId="2741"/>
        </pc:sldMkLst>
        <pc:spChg chg="mod">
          <ac:chgData name="Xin Luo" userId="82312ee5779919a4" providerId="LiveId" clId="{4B16E866-FFF1-585A-8670-68209B92BFC1}" dt="2026-08-27T06:27:11.553" v="1" actId="20577"/>
          <ac:spMkLst>
            <pc:docMk/>
            <pc:sldMk cId="4207004688" sldId="2741"/>
            <ac:spMk id="4" creationId="{DBE2EB52-1153-547D-4DDB-F105FCA1059C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313" y="0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313" y="9723438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defRPr sz="1100"/>
            </a:lvl1pPr>
          </a:lstStyle>
          <a:p>
            <a:pPr>
              <a:defRPr/>
            </a:pPr>
            <a:fld id="{6D45C849-0B45-C74F-ACD3-3797B4D2944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289993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42875" y="768350"/>
            <a:ext cx="6818313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</a:defRPr>
            </a:lvl1pPr>
          </a:lstStyle>
          <a:p>
            <a:pPr>
              <a:defRPr/>
            </a:pPr>
            <a:fld id="{BAF496D9-25EC-FE4B-A1BF-34C514AB282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9059369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宋体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42875" y="768350"/>
            <a:ext cx="6818313" cy="3836988"/>
          </a:xfrm>
          <a:ln/>
        </p:spPr>
      </p:sp>
      <p:sp>
        <p:nvSpPr>
          <p:cNvPr id="819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zh-CN" sz="1200" kern="1200" dirty="0">
              <a:solidFill>
                <a:schemeClr val="tx1"/>
              </a:solidFill>
              <a:effectLst/>
              <a:latin typeface="Arial" charset="0"/>
              <a:ea typeface="宋体" pitchFamily="2" charset="-122"/>
              <a:cs typeface="宋体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1867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7ECF62-1638-4DD4-9C28-B7A1E023F854}" type="slidenum">
              <a:rPr lang="zh-CN" altLang="en-US" smtClean="0">
                <a:solidFill>
                  <a:prstClr val="black"/>
                </a:solidFill>
              </a:rPr>
              <a:pPr/>
              <a:t>2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5521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71108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252340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74159-43B8-8674-3907-AFB0879D3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DC85CB8-DCFC-A96A-2104-7F05A82BF9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2CA3565-4521-9A25-25CC-25988A0167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098254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EE037-DDBA-D92B-A577-B8EEB52F2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38148C5-AB1E-23CA-AE52-16B75F2B7F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2B876E3-AF75-238A-7609-8433B5B186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../</a:t>
            </a:r>
            <a:r>
              <a:rPr lang="zh-CN" altLang="en-US" dirty="0"/>
              <a:t>表示上一级目录，</a:t>
            </a:r>
            <a:r>
              <a:rPr lang="en-US" altLang="zh-CN" dirty="0"/>
              <a:t>…/</a:t>
            </a:r>
            <a:r>
              <a:rPr lang="zh-CN" altLang="en-US" dirty="0"/>
              <a:t>表示上上一级目录</a:t>
            </a:r>
          </a:p>
        </p:txBody>
      </p:sp>
    </p:spTree>
    <p:extLst>
      <p:ext uri="{BB962C8B-B14F-4D97-AF65-F5344CB8AC3E}">
        <p14:creationId xmlns:p14="http://schemas.microsoft.com/office/powerpoint/2010/main" val="41040540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42D9D-4180-072D-8407-E5183A584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581714B-54F0-BD0F-3E21-720CCFB95C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C2FA787-E19B-3B6B-C6A6-14FB9B8660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603852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668DC-A93E-C123-F1B4-EA9B52807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5DC0560-65CA-94B3-BECF-7452B27BA9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7C16E95-61B9-FEB1-3CC6-4799BFE76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789186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91710-3AF1-E0CB-A294-3FC439F79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2C53236-1A24-5BD7-DD41-1BA364D17F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E7164A0-EF72-33DC-EC3F-E866036063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489930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55554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276A2-E4C3-A35C-5863-42FAFF5FD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7250EBE-6F47-4BA6-937E-D705CEE518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093A367-2994-241E-BA08-B28B9D75F9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编程过程中一定会遇到</a:t>
            </a:r>
            <a:r>
              <a:rPr lang="en-US" altLang="zh-CN" dirty="0"/>
              <a:t>bug</a:t>
            </a:r>
            <a:r>
              <a:rPr lang="zh-CN" altLang="en-US" dirty="0"/>
              <a:t>，处理</a:t>
            </a:r>
            <a:r>
              <a:rPr lang="en-US" altLang="zh-CN" dirty="0"/>
              <a:t>bug</a:t>
            </a:r>
            <a:r>
              <a:rPr lang="zh-CN" altLang="en-US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6961544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2E123-147C-6B1E-C927-5959FD60F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022E3C3-3C0D-883A-C7C4-C14C80A616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81A0C42-90BC-F065-484A-3B09DB3666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429274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91154-264C-1A2B-6A01-3AA7CD9C1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9EEF081-0BF2-1FAD-FA78-9BBCA0E4FE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1C26B4A-A5F4-74EF-4BB4-689DD26858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89454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A3836-6EA3-E270-E8AA-F7EFBA244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D86609B-329D-794B-CF04-8B8789281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B1ACEBB-D03D-2DC4-C62E-90A70068B0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033427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33262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>
            <a:spLocks noChangeArrowheads="1"/>
          </p:cNvSpPr>
          <p:nvPr userDrawn="1"/>
        </p:nvSpPr>
        <p:spPr bwMode="auto">
          <a:xfrm>
            <a:off x="0" y="2276475"/>
            <a:ext cx="12192000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5" name="矩形 4"/>
          <p:cNvSpPr>
            <a:spLocks noChangeArrowheads="1"/>
          </p:cNvSpPr>
          <p:nvPr userDrawn="1"/>
        </p:nvSpPr>
        <p:spPr bwMode="auto">
          <a:xfrm>
            <a:off x="0" y="2203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 userDrawn="1"/>
        </p:nvSpPr>
        <p:spPr bwMode="auto">
          <a:xfrm>
            <a:off x="0" y="4870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32860" name="Rectangle 92"/>
          <p:cNvSpPr>
            <a:spLocks noGrp="1" noChangeArrowheads="1"/>
          </p:cNvSpPr>
          <p:nvPr>
            <p:ph type="ctrTitle"/>
          </p:nvPr>
        </p:nvSpPr>
        <p:spPr>
          <a:xfrm>
            <a:off x="2438400" y="1828800"/>
            <a:ext cx="9245600" cy="236220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2861" name="Rectangle 93"/>
          <p:cNvSpPr>
            <a:spLocks noGrp="1" noChangeArrowheads="1"/>
          </p:cNvSpPr>
          <p:nvPr>
            <p:ph type="subTitle" idx="1"/>
          </p:nvPr>
        </p:nvSpPr>
        <p:spPr>
          <a:xfrm>
            <a:off x="2438400" y="4572000"/>
            <a:ext cx="9245600" cy="12954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2436137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292966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653096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83453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114205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737418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87389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83168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2014974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8887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192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192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1798699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0" y="-26988"/>
            <a:ext cx="12192000" cy="6192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823186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914400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4297495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900904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73" name="Picture 1" descr="D:\5万更新包奖PPT\张嘉\PPT用图\2.整饰相关\整饰 周老师改\5 31整饰-1副本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58001"/>
          </a:xfrm>
          <a:prstGeom prst="rect">
            <a:avLst/>
          </a:prstGeom>
          <a:noFill/>
        </p:spPr>
      </p:pic>
      <p:sp>
        <p:nvSpPr>
          <p:cNvPr id="2" name="大标题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71546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36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3477105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gradFill rotWithShape="1">
          <a:gsLst>
            <a:gs pos="0">
              <a:schemeClr val="bg1">
                <a:tint val="80000"/>
                <a:satMod val="300000"/>
              </a:schemeClr>
            </a:gs>
            <a:gs pos="100000">
              <a:schemeClr val="bg1">
                <a:lumMod val="9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865972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13086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309685" y="6467405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>
            <a:off x="0" y="6395396"/>
            <a:ext cx="12192000" cy="0"/>
          </a:xfrm>
          <a:custGeom>
            <a:avLst/>
            <a:gdLst>
              <a:gd name="connsiteX0" fmla="*/ 0 w 9144000"/>
              <a:gd name="connsiteY0" fmla="*/ 0 h 0"/>
              <a:gd name="connsiteX1" fmla="*/ 9144000 w 914400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144000">
                <a:moveTo>
                  <a:pt x="0" y="0"/>
                </a:moveTo>
                <a:lnTo>
                  <a:pt x="9144000" y="0"/>
                </a:lnTo>
              </a:path>
            </a:pathLst>
          </a:cu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>
              <a:solidFill>
                <a:prstClr val="white"/>
              </a:solidFill>
            </a:endParaRP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56853612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609398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629FCA-9BCC-4D94-BCF1-50AA18210C8D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9554218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480EE588-B514-4B83-883F-1A90AE4C4A85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249880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3945235"/>
            <a:ext cx="10363200" cy="461665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0523AAF6-DDDF-4D98-B1C8-197F7B964DB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4115387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33918" y="1087439"/>
            <a:ext cx="5369983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07100" y="1087439"/>
            <a:ext cx="5369984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DAC03A7A-4C91-400B-8A5E-521C0E46A7D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6905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39344"/>
            <a:ext cx="5386917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639344"/>
            <a:ext cx="5389033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CE4B736F-8802-4601-81EF-2D08228E192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2782090"/>
      </p:ext>
    </p:extLst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94C19E30-39C3-491E-99F3-94FA9B6A4A6B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1323634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5CB6EDE-C31E-48F8-B56E-C83A2C11E3A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0110239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266534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AB753CBF-8E7A-41BE-9CDE-C113C4033482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5091782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68326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D5458A-7C4D-4972-829E-0613074E0F8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6758884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917676" y="1087439"/>
            <a:ext cx="3459409" cy="233294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B72497E-EDC7-4CBF-BBB7-C88B46A92B8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8231793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676218" y="115889"/>
            <a:ext cx="2891367" cy="32416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530674" y="115889"/>
            <a:ext cx="2942344" cy="32416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86B5A12F-F1D3-4E67-A43C-D26EBF5447F7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756141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4380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9" name="同侧圆角矩形 8"/>
          <p:cNvSpPr/>
          <p:nvPr userDrawn="1"/>
        </p:nvSpPr>
        <p:spPr>
          <a:xfrm rot="5400000">
            <a:off x="6030021" y="-5257469"/>
            <a:ext cx="72000" cy="12132043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10" name="同侧圆角矩形 9"/>
          <p:cNvSpPr/>
          <p:nvPr userDrawn="1"/>
        </p:nvSpPr>
        <p:spPr>
          <a:xfrm rot="5400000" flipH="1">
            <a:off x="11385532" y="38088"/>
            <a:ext cx="72000" cy="1540935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4774" r:id="rId1"/>
    <p:sldLayoutId id="2147484775" r:id="rId2"/>
    <p:sldLayoutId id="2147484776" r:id="rId3"/>
    <p:sldLayoutId id="2147484777" r:id="rId4"/>
    <p:sldLayoutId id="2147484778" r:id="rId5"/>
    <p:sldLayoutId id="2147484779" r:id="rId6"/>
    <p:sldLayoutId id="2147484780" r:id="rId7"/>
    <p:sldLayoutId id="2147484781" r:id="rId8"/>
    <p:sldLayoutId id="2147484782" r:id="rId9"/>
    <p:sldLayoutId id="2147484783" r:id="rId10"/>
    <p:sldLayoutId id="2147484784" r:id="rId11"/>
    <p:sldLayoutId id="2147484785" r:id="rId12"/>
    <p:sldLayoutId id="2147484786" r:id="rId13"/>
    <p:sldLayoutId id="2147484787" r:id="rId14"/>
    <p:sldLayoutId id="2147484788" r:id="rId15"/>
    <p:sldLayoutId id="2147484789" r:id="rId16"/>
    <p:sldLayoutId id="2147484790" r:id="rId17"/>
    <p:sldLayoutId id="2147484954" r:id="rId18"/>
  </p:sldLayoutIdLst>
  <p:transition>
    <p:fade/>
  </p:transition>
  <p:hf hdr="0" ftr="0" dt="0"/>
  <p:txStyles>
    <p:titleStyle>
      <a:lvl1pPr marL="0" indent="88900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+mj-lt"/>
          <a:ea typeface="+mj-ea"/>
          <a:cs typeface="微软雅黑" charset="0"/>
        </a:defRPr>
      </a:lvl1pPr>
      <a:lvl2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2pPr>
      <a:lvl3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3pPr>
      <a:lvl4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4pPr>
      <a:lvl5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80000"/>
        <a:buChar char="•"/>
        <a:defRPr kumimoji="1" sz="2800">
          <a:solidFill>
            <a:schemeClr val="bg2"/>
          </a:solidFill>
          <a:latin typeface="+mn-lt"/>
          <a:ea typeface="+mn-ea"/>
          <a:cs typeface="微软雅黑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75000"/>
        <a:buChar char="–"/>
        <a:defRPr kumimoji="1" sz="2400">
          <a:solidFill>
            <a:schemeClr val="bg2"/>
          </a:solidFill>
          <a:latin typeface="+mn-lt"/>
          <a:ea typeface="+mn-ea"/>
          <a:cs typeface="微软雅黑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Char char="•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Char char="»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12" descr="bg3-LINE"/>
          <p:cNvPicPr>
            <a:picLocks noChangeAspect="1" noChangeArrowheads="1"/>
          </p:cNvPicPr>
          <p:nvPr userDrawn="1"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1" y="1"/>
            <a:ext cx="12189884" cy="6856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43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0" y="115889"/>
            <a:ext cx="11567584" cy="649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标题文本样式：黑体</a:t>
            </a:r>
            <a:r>
              <a:rPr lang="en-US" altLang="zh-CN"/>
              <a:t>/34</a:t>
            </a:r>
            <a:r>
              <a:rPr lang="zh-CN" altLang="en-US"/>
              <a:t>号  </a:t>
            </a:r>
            <a:r>
              <a:rPr lang="en-US" altLang="zh-CN"/>
              <a:t>Arial/34pt</a:t>
            </a:r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3918" y="1087439"/>
            <a:ext cx="10943167" cy="233294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>
            <a:spAutoFit/>
          </a:bodyPr>
          <a:lstStyle/>
          <a:p>
            <a:pPr lvl="0"/>
            <a:r>
              <a:rPr lang="zh-CN" altLang="en-US"/>
              <a:t>第一级内容文本样式：黑体</a:t>
            </a:r>
            <a:r>
              <a:rPr lang="en-US" altLang="zh-CN"/>
              <a:t>/28</a:t>
            </a:r>
            <a:r>
              <a:rPr lang="zh-CN" altLang="en-US"/>
              <a:t>号  </a:t>
            </a:r>
            <a:r>
              <a:rPr lang="en-US" altLang="zh-CN"/>
              <a:t>Arial/28pt</a:t>
            </a:r>
          </a:p>
          <a:p>
            <a:pPr lvl="1"/>
            <a:r>
              <a:rPr lang="zh-CN" altLang="en-US"/>
              <a:t>第二级内容文本样式：黑体</a:t>
            </a:r>
            <a:r>
              <a:rPr lang="en-US" altLang="zh-CN"/>
              <a:t>/24</a:t>
            </a:r>
            <a:r>
              <a:rPr lang="zh-CN" altLang="en-US"/>
              <a:t>号  </a:t>
            </a:r>
            <a:r>
              <a:rPr lang="en-US" altLang="zh-CN"/>
              <a:t>Arial/24pt</a:t>
            </a:r>
          </a:p>
          <a:p>
            <a:pPr lvl="2"/>
            <a:r>
              <a:rPr lang="zh-CN" altLang="en-US"/>
              <a:t>第三级内容文本样式：黑体</a:t>
            </a:r>
            <a:r>
              <a:rPr lang="en-US" altLang="zh-CN"/>
              <a:t>/20</a:t>
            </a:r>
            <a:r>
              <a:rPr lang="zh-CN" altLang="en-US"/>
              <a:t>号  </a:t>
            </a:r>
            <a:r>
              <a:rPr lang="en-US" altLang="zh-CN"/>
              <a:t>Arial/20pt</a:t>
            </a:r>
          </a:p>
          <a:p>
            <a:pPr lvl="3"/>
            <a:r>
              <a:rPr lang="zh-CN" altLang="en-US"/>
              <a:t>第四级内容文本样式：黑体</a:t>
            </a:r>
            <a:r>
              <a:rPr lang="en-US" altLang="zh-CN"/>
              <a:t>/18</a:t>
            </a:r>
            <a:r>
              <a:rPr lang="zh-CN" altLang="en-US"/>
              <a:t>号  </a:t>
            </a:r>
            <a:r>
              <a:rPr lang="en-US" altLang="zh-CN"/>
              <a:t>Arial/18pt</a:t>
            </a:r>
          </a:p>
          <a:p>
            <a:pPr lvl="4"/>
            <a:r>
              <a:rPr lang="zh-CN" altLang="en-US"/>
              <a:t>第五级内容文本样式：黑体</a:t>
            </a:r>
            <a:r>
              <a:rPr lang="en-US" altLang="zh-CN"/>
              <a:t>/16</a:t>
            </a:r>
            <a:r>
              <a:rPr lang="zh-CN" altLang="en-US"/>
              <a:t>号  </a:t>
            </a:r>
            <a:r>
              <a:rPr lang="en-US" altLang="zh-CN"/>
              <a:t>Arial/16pt</a:t>
            </a:r>
          </a:p>
        </p:txBody>
      </p:sp>
      <p:sp>
        <p:nvSpPr>
          <p:cNvPr id="306181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03267" y="6499226"/>
            <a:ext cx="2844800" cy="212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0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r>
              <a:rPr lang="en-US" altLang="zh-CN"/>
              <a:t> </a:t>
            </a:r>
            <a:fld id="{0FF7CBF9-F9A5-4695-8B7F-69B64C2D809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6206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87" r:id="rId1"/>
    <p:sldLayoutId id="2147484988" r:id="rId2"/>
    <p:sldLayoutId id="2147484989" r:id="rId3"/>
    <p:sldLayoutId id="2147484990" r:id="rId4"/>
    <p:sldLayoutId id="2147484991" r:id="rId5"/>
    <p:sldLayoutId id="2147484992" r:id="rId6"/>
    <p:sldLayoutId id="2147484993" r:id="rId7"/>
    <p:sldLayoutId id="2147484994" r:id="rId8"/>
    <p:sldLayoutId id="2147484995" r:id="rId9"/>
    <p:sldLayoutId id="2147484996" r:id="rId10"/>
    <p:sldLayoutId id="2147484997" r:id="rId11"/>
  </p:sldLayoutIdLst>
  <p:transition/>
  <p:hf hdr="0" ftr="0" dt="0"/>
  <p:txStyles>
    <p:titleStyle>
      <a:lvl1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+mj-lt"/>
          <a:ea typeface="+mj-ea"/>
          <a:cs typeface="+mj-cs"/>
        </a:defRPr>
      </a:lvl1pPr>
      <a:lvl2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2pPr>
      <a:lvl3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3pPr>
      <a:lvl4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4pPr>
      <a:lvl5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5pPr>
      <a:lvl6pPr marL="8191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6pPr>
      <a:lvl7pPr marL="12763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7pPr>
      <a:lvl8pPr marL="17335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8pPr>
      <a:lvl9pPr marL="21907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9pPr>
    </p:titleStyle>
    <p:bodyStyle>
      <a:lvl1pPr marL="180975" indent="-180975" algn="l" rtl="0" eaLnBrk="0" fontAlgn="ctr" hangingPunct="0">
        <a:lnSpc>
          <a:spcPct val="120000"/>
        </a:lnSpc>
        <a:spcBef>
          <a:spcPct val="50000"/>
        </a:spcBef>
        <a:spcAft>
          <a:spcPct val="0"/>
        </a:spcAft>
        <a:buClr>
          <a:srgbClr val="00246C"/>
        </a:buClr>
        <a:buSzPct val="80000"/>
        <a:buFont typeface="Wingdings" panose="05000000000000000000" pitchFamily="2" charset="2"/>
        <a:buChar char="n"/>
        <a:defRPr sz="2800" b="1">
          <a:solidFill>
            <a:srgbClr val="00246C"/>
          </a:solidFill>
          <a:latin typeface="+mn-lt"/>
          <a:ea typeface="+mn-ea"/>
          <a:cs typeface="+mn-cs"/>
        </a:defRPr>
      </a:lvl1pPr>
      <a:lvl2pPr marL="541655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00CC"/>
        </a:buClr>
        <a:buSzPct val="80000"/>
        <a:buFont typeface="Wingdings" panose="05000000000000000000" pitchFamily="2" charset="2"/>
        <a:buChar char="n"/>
        <a:defRPr sz="2400" b="1">
          <a:solidFill>
            <a:srgbClr val="0000CC"/>
          </a:solidFill>
          <a:latin typeface="+mn-lt"/>
          <a:ea typeface="+mn-ea"/>
        </a:defRPr>
      </a:lvl2pPr>
      <a:lvl3pPr marL="895350" indent="-17462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3333FF"/>
        </a:buClr>
        <a:buSzPct val="80000"/>
        <a:buFont typeface="Wingdings" panose="05000000000000000000" pitchFamily="2" charset="2"/>
        <a:buChar char="n"/>
        <a:defRPr sz="2000">
          <a:solidFill>
            <a:srgbClr val="3333FF"/>
          </a:solidFill>
          <a:latin typeface="+mn-lt"/>
          <a:ea typeface="+mn-ea"/>
        </a:defRPr>
      </a:lvl3pPr>
      <a:lvl4pPr marL="1256030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6699FF"/>
        </a:buClr>
        <a:buSzPct val="80000"/>
        <a:buFont typeface="Wingdings" panose="05000000000000000000" pitchFamily="2" charset="2"/>
        <a:buChar char="n"/>
        <a:defRPr sz="2000">
          <a:solidFill>
            <a:srgbClr val="6699FF"/>
          </a:solidFill>
          <a:latin typeface="+mn-lt"/>
          <a:ea typeface="+mn-ea"/>
        </a:defRPr>
      </a:lvl4pPr>
      <a:lvl5pPr marL="1619250" indent="-184150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5pPr>
      <a:lvl6pPr marL="20764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6pPr>
      <a:lvl7pPr marL="25336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7pPr>
      <a:lvl8pPr marL="29908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8pPr>
      <a:lvl9pPr marL="34480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ChangeArrowheads="1"/>
          </p:cNvSpPr>
          <p:nvPr/>
        </p:nvSpPr>
        <p:spPr bwMode="auto">
          <a:xfrm>
            <a:off x="1305338" y="1685332"/>
            <a:ext cx="9799983" cy="1917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>
              <a:defRPr/>
            </a:pPr>
            <a:r>
              <a:rPr lang="zh-CN" altLang="en-US" sz="5400" b="1" dirty="0">
                <a:solidFill>
                  <a:srgbClr val="FF0000"/>
                </a:solidFill>
                <a:latin typeface="微软雅黑"/>
                <a:ea typeface="微软雅黑"/>
              </a:rPr>
              <a:t>第五章 文件操作与异常处理</a:t>
            </a:r>
            <a:endParaRPr lang="zh-CN" altLang="zh-CN" sz="5400" b="1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25" name="Rectangle 8"/>
          <p:cNvSpPr>
            <a:spLocks noChangeArrowheads="1"/>
          </p:cNvSpPr>
          <p:nvPr/>
        </p:nvSpPr>
        <p:spPr bwMode="auto">
          <a:xfrm>
            <a:off x="1677909" y="3931738"/>
            <a:ext cx="8809022" cy="143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b="1" dirty="0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罗 新</a:t>
            </a:r>
            <a:endParaRPr lang="en-US" altLang="zh-CN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b="1" dirty="0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云南大学 地球科学学院</a:t>
            </a:r>
            <a:endParaRPr lang="zh-CN" altLang="en-US" sz="28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1800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</p:txBody>
      </p:sp>
      <p:sp>
        <p:nvSpPr>
          <p:cNvPr id="54" name="矩形 53"/>
          <p:cNvSpPr/>
          <p:nvPr/>
        </p:nvSpPr>
        <p:spPr>
          <a:xfrm flipV="1">
            <a:off x="2316000" y="3614405"/>
            <a:ext cx="7560000" cy="45719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lumMod val="0"/>
                  <a:lumOff val="100000"/>
                  <a:alpha val="0"/>
                </a:schemeClr>
              </a:gs>
              <a:gs pos="50000">
                <a:schemeClr val="accent1"/>
              </a:gs>
              <a:gs pos="100000">
                <a:schemeClr val="accent1">
                  <a:tint val="23500"/>
                  <a:satMod val="160000"/>
                  <a:lumMod val="0"/>
                  <a:lumOff val="100000"/>
                  <a:alpha val="0"/>
                </a:schemeClr>
              </a:gs>
            </a:gsLst>
            <a:lin ang="10800000" scaled="1"/>
            <a:tileRect/>
          </a:gradFill>
        </p:spPr>
        <p:txBody>
          <a:bodyPr wrap="square" lIns="0" rtlCol="0" anchor="ctr">
            <a:noAutofit/>
          </a:bodyPr>
          <a:lstStyle/>
          <a:p>
            <a:pPr algn="l">
              <a:defRPr/>
            </a:pPr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515BE6-09AD-694B-8839-0C2DC98FAD34}"/>
              </a:ext>
            </a:extLst>
          </p:cNvPr>
          <p:cNvSpPr/>
          <p:nvPr/>
        </p:nvSpPr>
        <p:spPr>
          <a:xfrm>
            <a:off x="1831819" y="5474698"/>
            <a:ext cx="8627953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prstClr val="black"/>
                </a:solidFill>
                <a:latin typeface="微软雅黑"/>
                <a:ea typeface="微软雅黑"/>
              </a:rPr>
              <a:t>邮箱</a:t>
            </a:r>
            <a:r>
              <a:rPr lang="en-CN" sz="1800">
                <a:solidFill>
                  <a:prstClr val="black"/>
                </a:solidFill>
                <a:latin typeface="微软雅黑"/>
                <a:ea typeface="微软雅黑"/>
              </a:rPr>
              <a:t>: xinluo_xin@ynu.edu.cn</a:t>
            </a:r>
          </a:p>
          <a:p>
            <a:pPr>
              <a:defRPr/>
            </a:pPr>
            <a:r>
              <a:rPr lang="en-CN" sz="1800">
                <a:solidFill>
                  <a:prstClr val="black"/>
                </a:solidFill>
                <a:latin typeface="微软雅黑"/>
                <a:ea typeface="微软雅黑"/>
              </a:rPr>
              <a:t>地址</a:t>
            </a:r>
            <a:r>
              <a:rPr lang="zh-CN" altLang="en-US" sz="1800">
                <a:solidFill>
                  <a:prstClr val="black"/>
                </a:solidFill>
                <a:latin typeface="微软雅黑"/>
                <a:ea typeface="微软雅黑"/>
              </a:rPr>
              <a:t>：地球科学学院</a:t>
            </a:r>
            <a:r>
              <a:rPr lang="en-US" altLang="zh-CN" sz="1800">
                <a:solidFill>
                  <a:prstClr val="black"/>
                </a:solidFill>
                <a:latin typeface="微软雅黑"/>
                <a:ea typeface="微软雅黑"/>
              </a:rPr>
              <a:t>1327</a:t>
            </a:r>
            <a:r>
              <a:rPr lang="zh-CN" altLang="en-US" sz="1800">
                <a:solidFill>
                  <a:prstClr val="black"/>
                </a:solidFill>
                <a:latin typeface="微软雅黑"/>
                <a:ea typeface="微软雅黑"/>
              </a:rPr>
              <a:t>办公室</a:t>
            </a:r>
            <a:endParaRPr lang="en-CN" sz="180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A20417-E7CA-C285-EB98-9BD26873E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694" y="243145"/>
            <a:ext cx="2866773" cy="10126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9EB157-7CF0-C636-5797-94C0A73AF8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262" y="6259528"/>
            <a:ext cx="2996979" cy="6229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75549C-74EF-2C8F-6432-2C52B803FB1B}"/>
              </a:ext>
            </a:extLst>
          </p:cNvPr>
          <p:cNvSpPr txBox="1"/>
          <p:nvPr/>
        </p:nvSpPr>
        <p:spPr>
          <a:xfrm>
            <a:off x="6512863" y="243144"/>
            <a:ext cx="4177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云南大学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《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 </a:t>
            </a:r>
            <a:r>
              <a:rPr lang="zh-CN" altLang="en-US" sz="1800" b="1" dirty="0">
                <a:solidFill>
                  <a:schemeClr val="bg2"/>
                </a:solidFill>
                <a:latin typeface="+mn-ea"/>
                <a:ea typeface="+mn-ea"/>
              </a:rPr>
              <a:t>地学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编程基础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》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课程第</a:t>
            </a:r>
            <a:r>
              <a:rPr lang="zh-CN" altLang="en-US" sz="1800" b="1" dirty="0">
                <a:solidFill>
                  <a:schemeClr val="bg2"/>
                </a:solidFill>
                <a:latin typeface="+mn-ea"/>
                <a:ea typeface="+mn-ea"/>
              </a:rPr>
              <a:t>五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章</a:t>
            </a:r>
          </a:p>
        </p:txBody>
      </p:sp>
    </p:spTree>
    <p:extLst>
      <p:ext uri="{BB962C8B-B14F-4D97-AF65-F5344CB8AC3E}">
        <p14:creationId xmlns:p14="http://schemas.microsoft.com/office/powerpoint/2010/main" val="165860717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835696" cy="6858000"/>
          </a:xfrm>
          <a:prstGeom prst="rect">
            <a:avLst/>
          </a:prstGeom>
          <a:solidFill>
            <a:srgbClr val="00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/>
              </a:solidFill>
              <a:latin typeface="Calibri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2ED16A1-79B8-7DB1-1CC1-250B051BAD58}"/>
              </a:ext>
            </a:extLst>
          </p:cNvPr>
          <p:cNvGrpSpPr/>
          <p:nvPr/>
        </p:nvGrpSpPr>
        <p:grpSpPr>
          <a:xfrm>
            <a:off x="1908663" y="3818531"/>
            <a:ext cx="3365702" cy="717997"/>
            <a:chOff x="2121801" y="3511390"/>
            <a:chExt cx="3005771" cy="576000"/>
          </a:xfrm>
        </p:grpSpPr>
        <p:sp>
          <p:nvSpPr>
            <p:cNvPr id="13" name="椭圆 12"/>
            <p:cNvSpPr/>
            <p:nvPr/>
          </p:nvSpPr>
          <p:spPr>
            <a:xfrm>
              <a:off x="2121801" y="3511390"/>
              <a:ext cx="655111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二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2938447" y="3535749"/>
              <a:ext cx="2189125" cy="518507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CN" sz="36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异常</a:t>
              </a:r>
              <a:r>
                <a:rPr lang="zh-CN" altLang="en-US" sz="36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处理</a:t>
              </a:r>
              <a:endParaRPr lang="en-US" altLang="zh-CN" sz="3600" b="1" dirty="0">
                <a:solidFill>
                  <a:schemeClr val="accent1"/>
                </a:solidFill>
                <a:highlight>
                  <a:srgbClr val="FFFFFF"/>
                </a:highlight>
                <a:latin typeface="Arial"/>
                <a:ea typeface="微软雅黑"/>
              </a:endParaRP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8696373" y="260648"/>
            <a:ext cx="16081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5400" b="1">
                <a:solidFill>
                  <a:schemeClr val="accent1"/>
                </a:solidFill>
                <a:latin typeface="Arial"/>
                <a:ea typeface="微软雅黑"/>
              </a:rPr>
              <a:t>目录</a:t>
            </a:r>
            <a:endParaRPr lang="en-US" altLang="zh-CN" sz="5400" b="1">
              <a:solidFill>
                <a:schemeClr val="accent1"/>
              </a:solidFill>
              <a:latin typeface="Arial"/>
              <a:ea typeface="微软雅黑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FCAA61D-767A-24EA-9072-7425684288BB}"/>
              </a:ext>
            </a:extLst>
          </p:cNvPr>
          <p:cNvGrpSpPr/>
          <p:nvPr/>
        </p:nvGrpSpPr>
        <p:grpSpPr>
          <a:xfrm>
            <a:off x="1908663" y="2532264"/>
            <a:ext cx="3962051" cy="772176"/>
            <a:chOff x="2121802" y="2115450"/>
            <a:chExt cx="3111055" cy="576000"/>
          </a:xfrm>
        </p:grpSpPr>
        <p:sp>
          <p:nvSpPr>
            <p:cNvPr id="4" name="椭圆 9">
              <a:extLst>
                <a:ext uri="{FF2B5EF4-FFF2-40B4-BE49-F238E27FC236}">
                  <a16:creationId xmlns:a16="http://schemas.microsoft.com/office/drawing/2014/main" id="{E22E439B-4B3F-A527-61D0-3ED55D24E856}"/>
                </a:ext>
              </a:extLst>
            </p:cNvPr>
            <p:cNvSpPr/>
            <p:nvPr/>
          </p:nvSpPr>
          <p:spPr>
            <a:xfrm>
              <a:off x="2121802" y="2115450"/>
              <a:ext cx="576000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一</a:t>
              </a:r>
            </a:p>
          </p:txBody>
        </p:sp>
        <p:sp>
          <p:nvSpPr>
            <p:cNvPr id="5" name="矩形 11">
              <a:extLst>
                <a:ext uri="{FF2B5EF4-FFF2-40B4-BE49-F238E27FC236}">
                  <a16:creationId xmlns:a16="http://schemas.microsoft.com/office/drawing/2014/main" id="{494DAA55-5621-28DB-D255-E0EBB6C6477B}"/>
                </a:ext>
              </a:extLst>
            </p:cNvPr>
            <p:cNvSpPr/>
            <p:nvPr/>
          </p:nvSpPr>
          <p:spPr>
            <a:xfrm>
              <a:off x="2839830" y="2150557"/>
              <a:ext cx="2393027" cy="482127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文件操作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612036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2" y="3868892"/>
            <a:ext cx="11670743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一、文件操作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标题 2">
            <a:extLst>
              <a:ext uri="{FF2B5EF4-FFF2-40B4-BE49-F238E27FC236}">
                <a16:creationId xmlns:a16="http://schemas.microsoft.com/office/drawing/2014/main" id="{B7F2176A-350B-B49E-5F85-B93436247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6712856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第五章、文件操作与异常处理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1590120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文件操作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483703" y="931591"/>
            <a:ext cx="11222067" cy="5402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文件操作的意义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数据持久化，便于长期存储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;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数据交换与共享，通过数据读写实现数据传递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;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大规模数据处理，文件操作可实现对多个文件的处理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…</a:t>
            </a:r>
          </a:p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文件类型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文本文件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(.txt)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、代码文件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(.</a:t>
            </a:r>
            <a:r>
              <a:rPr lang="en-US" altLang="zh-CN" sz="2800" dirty="0" err="1">
                <a:solidFill>
                  <a:srgbClr val="333333"/>
                </a:solidFill>
                <a:latin typeface="+mn-ea"/>
                <a:ea typeface="+mn-ea"/>
              </a:rPr>
              <a:t>py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, .</a:t>
            </a:r>
            <a:r>
              <a:rPr lang="en-US" altLang="zh-CN" sz="2800" dirty="0" err="1">
                <a:solidFill>
                  <a:srgbClr val="333333"/>
                </a:solidFill>
                <a:latin typeface="+mn-ea"/>
                <a:ea typeface="+mn-ea"/>
              </a:rPr>
              <a:t>ipynb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)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、二进制文件（如图片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/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视频）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53350483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D695C-0757-96B0-A8EB-EA21560A4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FD63664E-807B-06F9-351D-4E6991EA5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文件操作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0A1DF47-906F-D29B-F8A0-275A90B8A3F2}"/>
              </a:ext>
            </a:extLst>
          </p:cNvPr>
          <p:cNvSpPr txBox="1"/>
          <p:nvPr/>
        </p:nvSpPr>
        <p:spPr>
          <a:xfrm>
            <a:off x="87086" y="931591"/>
            <a:ext cx="99547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文件目录系统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56A849F-823F-FFEE-E783-FD264AA68D7B}"/>
              </a:ext>
            </a:extLst>
          </p:cNvPr>
          <p:cNvGrpSpPr/>
          <p:nvPr/>
        </p:nvGrpSpPr>
        <p:grpSpPr>
          <a:xfrm>
            <a:off x="1196485" y="2204783"/>
            <a:ext cx="3429995" cy="4549040"/>
            <a:chOff x="212586" y="1647267"/>
            <a:chExt cx="4159644" cy="5099194"/>
          </a:xfrm>
        </p:grpSpPr>
        <p:pic>
          <p:nvPicPr>
            <p:cNvPr id="5" name="Picture 4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051BA1E6-4974-D35E-346E-C2444F2237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99199" y="4758010"/>
              <a:ext cx="825500" cy="11684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9983B2E-FE27-C797-A7B3-DC6D5279D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82197" y="1647267"/>
              <a:ext cx="876300" cy="762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97E06C7-EFFD-6706-3960-1AE8DDC60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08546" y="2620407"/>
              <a:ext cx="876300" cy="7620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980DA0A9-B38C-4BFF-B86A-EEB8FAECE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12283" y="2620407"/>
              <a:ext cx="876300" cy="762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D834FB19-6AB0-6C0B-7A5F-F7C19BE780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0736" y="3593548"/>
              <a:ext cx="876300" cy="7620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C89E3FF-C02E-9747-517A-071FB3FC667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41499" y="3615635"/>
              <a:ext cx="876300" cy="7620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9C370897-078E-BEAF-3EC9-DA6F88F6B56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28867" y="3593547"/>
              <a:ext cx="876300" cy="76200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AE296B8-69A5-2C6D-0BC5-C15F37B70C1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2586" y="4604920"/>
              <a:ext cx="876300" cy="76200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436ED95F-485E-E585-84E3-30D8EE10603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35983" y="4604920"/>
              <a:ext cx="876300" cy="762000"/>
            </a:xfrm>
            <a:prstGeom prst="rect">
              <a:avLst/>
            </a:prstGeom>
          </p:spPr>
        </p:pic>
        <p:pic>
          <p:nvPicPr>
            <p:cNvPr id="15" name="Picture 14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E209DD80-4787-8C40-D13A-7E38218BA5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46730" y="4816061"/>
              <a:ext cx="825500" cy="1168400"/>
            </a:xfrm>
            <a:prstGeom prst="rect">
              <a:avLst/>
            </a:prstGeom>
          </p:spPr>
        </p:pic>
        <p:pic>
          <p:nvPicPr>
            <p:cNvPr id="16" name="Picture 15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8C0CEDB0-DB47-112B-5867-95381CC8C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196" y="5578061"/>
              <a:ext cx="825500" cy="1168400"/>
            </a:xfrm>
            <a:prstGeom prst="rect">
              <a:avLst/>
            </a:prstGeom>
          </p:spPr>
        </p:pic>
        <p:pic>
          <p:nvPicPr>
            <p:cNvPr id="17" name="Picture 16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CA2A9E9F-D75A-9BF1-0641-B65DFE8E3A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60549" y="5578061"/>
              <a:ext cx="825500" cy="11684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63338EE-5897-8EC4-9F4A-C307FD6FCCD9}"/>
                </a:ext>
              </a:extLst>
            </p:cNvPr>
            <p:cNvSpPr txBox="1"/>
            <p:nvPr/>
          </p:nvSpPr>
          <p:spPr>
            <a:xfrm>
              <a:off x="1943790" y="1775200"/>
              <a:ext cx="344478" cy="5864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800" b="1" dirty="0">
                  <a:solidFill>
                    <a:schemeClr val="bg2"/>
                  </a:solidFill>
                </a:rPr>
                <a:t>/</a:t>
              </a:r>
              <a:endParaRPr lang="en-CN" sz="2800" b="1" dirty="0">
                <a:solidFill>
                  <a:schemeClr val="bg2"/>
                </a:solidFill>
              </a:endParaRP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FFCDCEB-BC12-1B99-80BA-621AAFF0B7E3}"/>
                </a:ext>
              </a:extLst>
            </p:cNvPr>
            <p:cNvCxnSpPr>
              <a:stCxn id="7" idx="2"/>
              <a:endCxn id="8" idx="0"/>
            </p:cNvCxnSpPr>
            <p:nvPr/>
          </p:nvCxnSpPr>
          <p:spPr bwMode="auto">
            <a:xfrm flipH="1">
              <a:off x="1446696" y="2409267"/>
              <a:ext cx="673651" cy="21114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2D7E7A7-4579-B75A-B30D-67025940E108}"/>
                </a:ext>
              </a:extLst>
            </p:cNvPr>
            <p:cNvCxnSpPr>
              <a:cxnSpLocks/>
              <a:stCxn id="7" idx="2"/>
              <a:endCxn id="9" idx="0"/>
            </p:cNvCxnSpPr>
            <p:nvPr/>
          </p:nvCxnSpPr>
          <p:spPr bwMode="auto">
            <a:xfrm>
              <a:off x="2120347" y="2409267"/>
              <a:ext cx="530086" cy="21114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3D20C38-D02C-2A71-2C3F-AD3F4D12D1EC}"/>
                </a:ext>
              </a:extLst>
            </p:cNvPr>
            <p:cNvCxnSpPr>
              <a:cxnSpLocks/>
              <a:stCxn id="8" idx="2"/>
              <a:endCxn id="10" idx="0"/>
            </p:cNvCxnSpPr>
            <p:nvPr/>
          </p:nvCxnSpPr>
          <p:spPr bwMode="auto">
            <a:xfrm flipH="1">
              <a:off x="1088886" y="3382407"/>
              <a:ext cx="357810" cy="211141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E2BF44D-FA5F-1472-900D-9C71A238ED8D}"/>
                </a:ext>
              </a:extLst>
            </p:cNvPr>
            <p:cNvCxnSpPr>
              <a:cxnSpLocks/>
              <a:stCxn id="8" idx="2"/>
              <a:endCxn id="11" idx="0"/>
            </p:cNvCxnSpPr>
            <p:nvPr/>
          </p:nvCxnSpPr>
          <p:spPr bwMode="auto">
            <a:xfrm>
              <a:off x="1446696" y="3382407"/>
              <a:ext cx="832953" cy="233228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6D844C7-1B00-9067-D95F-7D3F7AD64BCB}"/>
                </a:ext>
              </a:extLst>
            </p:cNvPr>
            <p:cNvCxnSpPr>
              <a:cxnSpLocks/>
              <a:stCxn id="9" idx="2"/>
              <a:endCxn id="12" idx="0"/>
            </p:cNvCxnSpPr>
            <p:nvPr/>
          </p:nvCxnSpPr>
          <p:spPr bwMode="auto">
            <a:xfrm>
              <a:off x="2650433" y="3382407"/>
              <a:ext cx="716584" cy="21114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AC67B00-1859-AC92-01E7-9E052A99FB90}"/>
                </a:ext>
              </a:extLst>
            </p:cNvPr>
            <p:cNvCxnSpPr>
              <a:cxnSpLocks/>
              <a:stCxn id="10" idx="2"/>
              <a:endCxn id="13" idx="0"/>
            </p:cNvCxnSpPr>
            <p:nvPr/>
          </p:nvCxnSpPr>
          <p:spPr bwMode="auto">
            <a:xfrm flipH="1">
              <a:off x="650736" y="4355548"/>
              <a:ext cx="438150" cy="249372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6FBA5127-AA82-CE53-9894-BB0CC286F55D}"/>
                </a:ext>
              </a:extLst>
            </p:cNvPr>
            <p:cNvCxnSpPr>
              <a:cxnSpLocks/>
              <a:stCxn id="10" idx="2"/>
              <a:endCxn id="14" idx="0"/>
            </p:cNvCxnSpPr>
            <p:nvPr/>
          </p:nvCxnSpPr>
          <p:spPr bwMode="auto">
            <a:xfrm>
              <a:off x="1088886" y="4355548"/>
              <a:ext cx="685247" cy="249372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A986AA7-C6E0-7ADB-33CB-DBC4AA1B30AF}"/>
                </a:ext>
              </a:extLst>
            </p:cNvPr>
            <p:cNvCxnSpPr>
              <a:cxnSpLocks/>
              <a:stCxn id="14" idx="2"/>
              <a:endCxn id="16" idx="0"/>
            </p:cNvCxnSpPr>
            <p:nvPr/>
          </p:nvCxnSpPr>
          <p:spPr bwMode="auto">
            <a:xfrm flipH="1">
              <a:off x="1033946" y="5366920"/>
              <a:ext cx="740187" cy="211141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7AEEF62-C8B9-0FF9-AF3E-181E12F68835}"/>
                </a:ext>
              </a:extLst>
            </p:cNvPr>
            <p:cNvCxnSpPr>
              <a:cxnSpLocks/>
              <a:stCxn id="14" idx="2"/>
              <a:endCxn id="17" idx="0"/>
            </p:cNvCxnSpPr>
            <p:nvPr/>
          </p:nvCxnSpPr>
          <p:spPr bwMode="auto">
            <a:xfrm>
              <a:off x="1774133" y="5366920"/>
              <a:ext cx="499166" cy="211141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2B391E8D-804B-1B9F-ED77-65A076AD2A20}"/>
                </a:ext>
              </a:extLst>
            </p:cNvPr>
            <p:cNvCxnSpPr>
              <a:cxnSpLocks/>
              <a:stCxn id="11" idx="2"/>
              <a:endCxn id="5" idx="0"/>
            </p:cNvCxnSpPr>
            <p:nvPr/>
          </p:nvCxnSpPr>
          <p:spPr bwMode="auto">
            <a:xfrm>
              <a:off x="2279649" y="4377635"/>
              <a:ext cx="732300" cy="380375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178D5FF5-DA93-8B6F-DF3F-8F611CB5453A}"/>
                </a:ext>
              </a:extLst>
            </p:cNvPr>
            <p:cNvCxnSpPr>
              <a:cxnSpLocks/>
              <a:stCxn id="12" idx="2"/>
              <a:endCxn id="15" idx="0"/>
            </p:cNvCxnSpPr>
            <p:nvPr/>
          </p:nvCxnSpPr>
          <p:spPr bwMode="auto">
            <a:xfrm>
              <a:off x="3367017" y="4355547"/>
              <a:ext cx="592463" cy="460514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9C31154-B49C-E731-09EF-4D68452D9DEE}"/>
              </a:ext>
            </a:extLst>
          </p:cNvPr>
          <p:cNvSpPr txBox="1"/>
          <p:nvPr/>
        </p:nvSpPr>
        <p:spPr>
          <a:xfrm>
            <a:off x="254001" y="1485587"/>
            <a:ext cx="6054532" cy="581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CN" b="1" dirty="0">
                <a:solidFill>
                  <a:schemeClr val="bg2"/>
                </a:solidFill>
                <a:latin typeface="+mj-ea"/>
                <a:ea typeface="+mj-ea"/>
              </a:rPr>
              <a:t>类Unix系统</a:t>
            </a:r>
            <a:r>
              <a:rPr lang="zh-CN" altLang="en-US" b="1" dirty="0">
                <a:solidFill>
                  <a:schemeClr val="bg2"/>
                </a:solidFill>
                <a:latin typeface="+mj-ea"/>
                <a:ea typeface="+mj-ea"/>
              </a:rPr>
              <a:t>（</a:t>
            </a:r>
            <a:r>
              <a:rPr lang="en-US" altLang="zh-CN" b="1" dirty="0" err="1">
                <a:solidFill>
                  <a:schemeClr val="bg2"/>
                </a:solidFill>
                <a:latin typeface="+mj-ea"/>
                <a:ea typeface="+mj-ea"/>
              </a:rPr>
              <a:t>MacOs</a:t>
            </a:r>
            <a:r>
              <a:rPr lang="zh-CN" altLang="en-US" b="1" dirty="0">
                <a:solidFill>
                  <a:schemeClr val="bg2"/>
                </a:solidFill>
                <a:latin typeface="+mj-ea"/>
                <a:ea typeface="+mj-ea"/>
              </a:rPr>
              <a:t>、</a:t>
            </a:r>
            <a:r>
              <a:rPr lang="en-US" altLang="zh-CN" b="1" dirty="0">
                <a:solidFill>
                  <a:schemeClr val="bg2"/>
                </a:solidFill>
                <a:latin typeface="+mj-ea"/>
                <a:ea typeface="+mj-ea"/>
              </a:rPr>
              <a:t>Linux</a:t>
            </a:r>
            <a:r>
              <a:rPr lang="zh-CN" altLang="en-US" b="1" dirty="0">
                <a:solidFill>
                  <a:schemeClr val="bg2"/>
                </a:solidFill>
                <a:latin typeface="+mj-ea"/>
                <a:ea typeface="+mj-ea"/>
              </a:rPr>
              <a:t>）</a:t>
            </a:r>
            <a:endParaRPr lang="en-CN" b="1" dirty="0">
              <a:solidFill>
                <a:schemeClr val="bg2"/>
              </a:solidFill>
              <a:latin typeface="+mj-ea"/>
              <a:ea typeface="+mj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6021E4B-D1D4-2868-18B4-7BD90AD3A204}"/>
              </a:ext>
            </a:extLst>
          </p:cNvPr>
          <p:cNvSpPr txBox="1"/>
          <p:nvPr/>
        </p:nvSpPr>
        <p:spPr>
          <a:xfrm>
            <a:off x="3130896" y="2290752"/>
            <a:ext cx="1787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CN" b="1" dirty="0">
                <a:solidFill>
                  <a:schemeClr val="accent2"/>
                </a:solidFill>
                <a:latin typeface="+mj-ea"/>
                <a:ea typeface="+mj-ea"/>
              </a:rPr>
              <a:t>根目录</a:t>
            </a:r>
          </a:p>
        </p:txBody>
      </p: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72B88D22-F3F4-967F-330D-9EDAFF85E510}"/>
              </a:ext>
            </a:extLst>
          </p:cNvPr>
          <p:cNvGrpSpPr/>
          <p:nvPr/>
        </p:nvGrpSpPr>
        <p:grpSpPr>
          <a:xfrm>
            <a:off x="5958115" y="2229050"/>
            <a:ext cx="2251478" cy="4048379"/>
            <a:chOff x="4335402" y="2161241"/>
            <a:chExt cx="1993953" cy="3952769"/>
          </a:xfrm>
        </p:grpSpPr>
        <p:pic>
          <p:nvPicPr>
            <p:cNvPr id="55" name="Picture 54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BB997E18-24B3-758A-5700-B387C24022C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045080" y="2161241"/>
              <a:ext cx="722587" cy="611124"/>
            </a:xfrm>
            <a:prstGeom prst="rect">
              <a:avLst/>
            </a:prstGeom>
          </p:spPr>
        </p:pic>
        <p:pic>
          <p:nvPicPr>
            <p:cNvPr id="56" name="Picture 55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1B2D5077-CD62-EAAD-BD86-23AB75D359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509580" y="3171862"/>
              <a:ext cx="722587" cy="611124"/>
            </a:xfrm>
            <a:prstGeom prst="rect">
              <a:avLst/>
            </a:prstGeom>
          </p:spPr>
        </p:pic>
        <p:pic>
          <p:nvPicPr>
            <p:cNvPr id="57" name="Picture 56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7101EEAA-1CE0-3C41-2C61-71ACE5C12F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06768" y="3214967"/>
              <a:ext cx="722587" cy="611124"/>
            </a:xfrm>
            <a:prstGeom prst="rect">
              <a:avLst/>
            </a:prstGeom>
          </p:spPr>
        </p:pic>
        <p:pic>
          <p:nvPicPr>
            <p:cNvPr id="58" name="Picture 57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AA8F4825-E959-5129-9AD1-25325DAB4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35402" y="4132682"/>
              <a:ext cx="722587" cy="611124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E1C226CE-80D8-78C7-2073-7A33D5892210}"/>
                </a:ext>
              </a:extLst>
            </p:cNvPr>
            <p:cNvSpPr txBox="1"/>
            <p:nvPr/>
          </p:nvSpPr>
          <p:spPr>
            <a:xfrm>
              <a:off x="5108855" y="2237827"/>
              <a:ext cx="5950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solidFill>
                    <a:schemeClr val="bg2"/>
                  </a:solidFill>
                </a:rPr>
                <a:t>C:\</a:t>
              </a:r>
              <a:endParaRPr lang="en-CN" b="1" dirty="0">
                <a:solidFill>
                  <a:schemeClr val="bg2"/>
                </a:solidFill>
              </a:endParaRPr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0A50476C-C1AE-D40E-3A9B-0A0AF8594309}"/>
                </a:ext>
              </a:extLst>
            </p:cNvPr>
            <p:cNvCxnSpPr>
              <a:cxnSpLocks/>
              <a:stCxn id="55" idx="2"/>
              <a:endCxn id="56" idx="0"/>
            </p:cNvCxnSpPr>
            <p:nvPr/>
          </p:nvCxnSpPr>
          <p:spPr bwMode="auto">
            <a:xfrm flipH="1">
              <a:off x="4870874" y="2772365"/>
              <a:ext cx="535500" cy="399497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0E4403EE-A771-5487-73C6-6FCBC09A258D}"/>
                </a:ext>
              </a:extLst>
            </p:cNvPr>
            <p:cNvCxnSpPr>
              <a:cxnSpLocks/>
              <a:stCxn id="55" idx="2"/>
              <a:endCxn id="57" idx="0"/>
            </p:cNvCxnSpPr>
            <p:nvPr/>
          </p:nvCxnSpPr>
          <p:spPr bwMode="auto">
            <a:xfrm>
              <a:off x="5406374" y="2772365"/>
              <a:ext cx="561688" cy="442602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45C37DA6-F730-0FA3-3FF1-07A0C75590CB}"/>
                </a:ext>
              </a:extLst>
            </p:cNvPr>
            <p:cNvCxnSpPr>
              <a:cxnSpLocks/>
              <a:stCxn id="56" idx="2"/>
              <a:endCxn id="58" idx="0"/>
            </p:cNvCxnSpPr>
            <p:nvPr/>
          </p:nvCxnSpPr>
          <p:spPr bwMode="auto">
            <a:xfrm flipH="1">
              <a:off x="4696696" y="3782986"/>
              <a:ext cx="174178" cy="349696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91" name="Picture 90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E90585BB-0337-61D6-1B44-3D394F312E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23192" y="5071669"/>
              <a:ext cx="680698" cy="1042341"/>
            </a:xfrm>
            <a:prstGeom prst="rect">
              <a:avLst/>
            </a:prstGeom>
          </p:spPr>
        </p:pic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18E54C77-C9C4-FD8F-5A2B-069E8792B277}"/>
                </a:ext>
              </a:extLst>
            </p:cNvPr>
            <p:cNvCxnSpPr>
              <a:cxnSpLocks/>
              <a:stCxn id="58" idx="2"/>
              <a:endCxn id="91" idx="0"/>
            </p:cNvCxnSpPr>
            <p:nvPr/>
          </p:nvCxnSpPr>
          <p:spPr bwMode="auto">
            <a:xfrm>
              <a:off x="4696696" y="4743806"/>
              <a:ext cx="666845" cy="327863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03" name="Picture 102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04244DE4-5825-82DC-4669-3AAF0AABACC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361383" y="4142810"/>
              <a:ext cx="722587" cy="611124"/>
            </a:xfrm>
            <a:prstGeom prst="rect">
              <a:avLst/>
            </a:prstGeom>
          </p:spPr>
        </p:pic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26F7D408-9A7D-272A-BAAF-BCA9CA4A0713}"/>
                </a:ext>
              </a:extLst>
            </p:cNvPr>
            <p:cNvCxnSpPr>
              <a:cxnSpLocks/>
              <a:stCxn id="57" idx="2"/>
              <a:endCxn id="103" idx="0"/>
            </p:cNvCxnSpPr>
            <p:nvPr/>
          </p:nvCxnSpPr>
          <p:spPr bwMode="auto">
            <a:xfrm flipH="1">
              <a:off x="5722677" y="3826091"/>
              <a:ext cx="245385" cy="316719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106B3752-5BD6-832B-D7D4-5A952A30C1D6}"/>
              </a:ext>
            </a:extLst>
          </p:cNvPr>
          <p:cNvGrpSpPr/>
          <p:nvPr/>
        </p:nvGrpSpPr>
        <p:grpSpPr>
          <a:xfrm>
            <a:off x="8755095" y="2204783"/>
            <a:ext cx="2448819" cy="4072646"/>
            <a:chOff x="6396855" y="2161241"/>
            <a:chExt cx="2376702" cy="3952770"/>
          </a:xfrm>
        </p:grpSpPr>
        <p:pic>
          <p:nvPicPr>
            <p:cNvPr id="59" name="Picture 58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B8F3E465-CF6B-4996-2F57-0FFA657EC76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920242" y="2161241"/>
              <a:ext cx="722587" cy="611124"/>
            </a:xfrm>
            <a:prstGeom prst="rect">
              <a:avLst/>
            </a:prstGeom>
          </p:spPr>
        </p:pic>
        <p:pic>
          <p:nvPicPr>
            <p:cNvPr id="60" name="Picture 59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8AE6EC16-F5D3-CCB6-8AA0-0AB37B1680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47762" y="3213085"/>
              <a:ext cx="722587" cy="611124"/>
            </a:xfrm>
            <a:prstGeom prst="rect">
              <a:avLst/>
            </a:prstGeom>
          </p:spPr>
        </p:pic>
        <p:pic>
          <p:nvPicPr>
            <p:cNvPr id="61" name="Picture 60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C897A4E9-9A2B-08F2-CBFD-09882D5BD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752949" y="3171862"/>
              <a:ext cx="722587" cy="611124"/>
            </a:xfrm>
            <a:prstGeom prst="rect">
              <a:avLst/>
            </a:prstGeom>
          </p:spPr>
        </p:pic>
        <p:pic>
          <p:nvPicPr>
            <p:cNvPr id="62" name="Picture 61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6170951B-0023-066F-72D1-133F236E69A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96855" y="4146966"/>
              <a:ext cx="722587" cy="611124"/>
            </a:xfrm>
            <a:prstGeom prst="rect">
              <a:avLst/>
            </a:prstGeom>
          </p:spPr>
        </p:pic>
        <p:pic>
          <p:nvPicPr>
            <p:cNvPr id="63" name="Picture 62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D4F3AC35-C34A-4A05-D6E0-60C54B3CF4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050970" y="4132682"/>
              <a:ext cx="722587" cy="611124"/>
            </a:xfrm>
            <a:prstGeom prst="rect">
              <a:avLst/>
            </a:prstGeom>
          </p:spPr>
        </p:pic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A120880-C5DA-5064-3DBE-4754782A4F1E}"/>
                </a:ext>
              </a:extLst>
            </p:cNvPr>
            <p:cNvSpPr txBox="1"/>
            <p:nvPr/>
          </p:nvSpPr>
          <p:spPr>
            <a:xfrm>
              <a:off x="6997355" y="2235970"/>
              <a:ext cx="5950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solidFill>
                    <a:schemeClr val="bg2"/>
                  </a:solidFill>
                </a:rPr>
                <a:t>D:\</a:t>
              </a:r>
              <a:endParaRPr lang="en-CN" b="1" dirty="0">
                <a:solidFill>
                  <a:schemeClr val="bg2"/>
                </a:solidFill>
              </a:endParaRPr>
            </a:p>
          </p:txBody>
        </p: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0A50476C-C1AE-D40E-3A9B-0A0AF8594309}"/>
                </a:ext>
              </a:extLst>
            </p:cNvPr>
            <p:cNvCxnSpPr>
              <a:cxnSpLocks/>
              <a:stCxn id="65" idx="2"/>
              <a:endCxn id="60" idx="0"/>
            </p:cNvCxnSpPr>
            <p:nvPr/>
          </p:nvCxnSpPr>
          <p:spPr bwMode="auto">
            <a:xfrm flipH="1">
              <a:off x="7109056" y="2697635"/>
              <a:ext cx="185817" cy="51545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B669FE79-9523-89D5-0833-304357903C01}"/>
                </a:ext>
              </a:extLst>
            </p:cNvPr>
            <p:cNvCxnSpPr>
              <a:cxnSpLocks/>
              <a:stCxn id="60" idx="2"/>
              <a:endCxn id="62" idx="0"/>
            </p:cNvCxnSpPr>
            <p:nvPr/>
          </p:nvCxnSpPr>
          <p:spPr bwMode="auto">
            <a:xfrm flipH="1">
              <a:off x="6758149" y="3824209"/>
              <a:ext cx="350907" cy="322757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EF1B00C9-C4A0-4191-0974-867A7F00F66F}"/>
                </a:ext>
              </a:extLst>
            </p:cNvPr>
            <p:cNvCxnSpPr>
              <a:cxnSpLocks/>
              <a:stCxn id="65" idx="2"/>
              <a:endCxn id="61" idx="0"/>
            </p:cNvCxnSpPr>
            <p:nvPr/>
          </p:nvCxnSpPr>
          <p:spPr bwMode="auto">
            <a:xfrm>
              <a:off x="7294873" y="2697635"/>
              <a:ext cx="819370" cy="474227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D7250E6C-E8BF-6FC6-47E7-ECED36439E4D}"/>
                </a:ext>
              </a:extLst>
            </p:cNvPr>
            <p:cNvCxnSpPr>
              <a:cxnSpLocks/>
              <a:stCxn id="61" idx="2"/>
              <a:endCxn id="63" idx="0"/>
            </p:cNvCxnSpPr>
            <p:nvPr/>
          </p:nvCxnSpPr>
          <p:spPr bwMode="auto">
            <a:xfrm>
              <a:off x="8114243" y="3782986"/>
              <a:ext cx="298021" cy="349696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92" name="Picture 91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825332BF-E7EE-B8BA-FACD-267761AAF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79893" y="5071670"/>
              <a:ext cx="680698" cy="1042341"/>
            </a:xfrm>
            <a:prstGeom prst="rect">
              <a:avLst/>
            </a:prstGeom>
          </p:spPr>
        </p:pic>
        <p:pic>
          <p:nvPicPr>
            <p:cNvPr id="93" name="Picture 92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378DBAA7-46D1-2B9F-FF7F-7017EFF0B5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35443" y="5071670"/>
              <a:ext cx="680698" cy="1042341"/>
            </a:xfrm>
            <a:prstGeom prst="rect">
              <a:avLst/>
            </a:prstGeom>
          </p:spPr>
        </p:pic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52DF2905-0267-461A-E0D1-7FD3D11CA2C1}"/>
                </a:ext>
              </a:extLst>
            </p:cNvPr>
            <p:cNvCxnSpPr>
              <a:cxnSpLocks/>
              <a:stCxn id="62" idx="2"/>
              <a:endCxn id="92" idx="0"/>
            </p:cNvCxnSpPr>
            <p:nvPr/>
          </p:nvCxnSpPr>
          <p:spPr bwMode="auto">
            <a:xfrm>
              <a:off x="6758149" y="4758090"/>
              <a:ext cx="162093" cy="31358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E2761E8B-62BA-1DD6-B0AD-16CBDF4DA6F0}"/>
                </a:ext>
              </a:extLst>
            </p:cNvPr>
            <p:cNvCxnSpPr>
              <a:cxnSpLocks/>
              <a:stCxn id="63" idx="2"/>
              <a:endCxn id="93" idx="0"/>
            </p:cNvCxnSpPr>
            <p:nvPr/>
          </p:nvCxnSpPr>
          <p:spPr bwMode="auto">
            <a:xfrm flipH="1">
              <a:off x="8075792" y="4743806"/>
              <a:ext cx="336472" cy="327864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07" name="Picture 106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AC27EDE3-E3B3-7C04-4CDA-421586195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260591" y="4142377"/>
              <a:ext cx="722587" cy="611124"/>
            </a:xfrm>
            <a:prstGeom prst="rect">
              <a:avLst/>
            </a:prstGeom>
          </p:spPr>
        </p:pic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CDDF9FD0-544B-ACF2-9B8E-EA937E6E03C8}"/>
                </a:ext>
              </a:extLst>
            </p:cNvPr>
            <p:cNvCxnSpPr>
              <a:cxnSpLocks/>
              <a:stCxn id="61" idx="2"/>
              <a:endCxn id="107" idx="0"/>
            </p:cNvCxnSpPr>
            <p:nvPr/>
          </p:nvCxnSpPr>
          <p:spPr bwMode="auto">
            <a:xfrm flipH="1">
              <a:off x="7621885" y="3782986"/>
              <a:ext cx="492358" cy="359391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B4E3783D-4D30-FBE7-43A0-8929A6B79F85}"/>
              </a:ext>
            </a:extLst>
          </p:cNvPr>
          <p:cNvSpPr txBox="1"/>
          <p:nvPr/>
        </p:nvSpPr>
        <p:spPr>
          <a:xfrm>
            <a:off x="6151237" y="1507312"/>
            <a:ext cx="4784531" cy="581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CN" b="1" dirty="0">
                <a:solidFill>
                  <a:schemeClr val="bg2"/>
                </a:solidFill>
                <a:latin typeface="+mj-ea"/>
                <a:ea typeface="+mj-ea"/>
              </a:rPr>
              <a:t>Windows系统</a:t>
            </a:r>
          </a:p>
        </p:txBody>
      </p:sp>
    </p:spTree>
    <p:extLst>
      <p:ext uri="{BB962C8B-B14F-4D97-AF65-F5344CB8AC3E}">
        <p14:creationId xmlns:p14="http://schemas.microsoft.com/office/powerpoint/2010/main" val="3112690912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6BBB-13DA-DA8F-6F34-6C5423DE1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FF1CEACC-31E3-EF2C-02AA-7EA3C1F67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一、</a:t>
            </a:r>
            <a:r>
              <a:rPr lang="zh-CN" altLang="en-US" sz="4000" dirty="0">
                <a:latin typeface="微软雅黑" pitchFamily="34" charset="-122"/>
                <a:ea typeface="微软雅黑" pitchFamily="34" charset="-122"/>
              </a:rPr>
              <a:t>文件操作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61EF75-A530-84EA-9CB8-8151E9B4A5CB}"/>
              </a:ext>
            </a:extLst>
          </p:cNvPr>
          <p:cNvSpPr txBox="1"/>
          <p:nvPr/>
        </p:nvSpPr>
        <p:spPr>
          <a:xfrm>
            <a:off x="399142" y="1062493"/>
            <a:ext cx="95099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文件目录系统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AE4053A-687D-0B8D-431C-E741D9F77130}"/>
              </a:ext>
            </a:extLst>
          </p:cNvPr>
          <p:cNvSpPr txBox="1"/>
          <p:nvPr/>
        </p:nvSpPr>
        <p:spPr>
          <a:xfrm>
            <a:off x="375034" y="1718326"/>
            <a:ext cx="7837921" cy="5063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CN" sz="3200" b="1" dirty="0">
                <a:solidFill>
                  <a:schemeClr val="bg2"/>
                </a:solidFill>
                <a:latin typeface="+mj-ea"/>
                <a:ea typeface="+mj-ea"/>
              </a:rPr>
              <a:t>定位文件方法</a:t>
            </a:r>
          </a:p>
          <a:p>
            <a:pPr algn="l">
              <a:lnSpc>
                <a:spcPct val="150000"/>
              </a:lnSpc>
            </a:pPr>
            <a:r>
              <a:rPr lang="en-US" altLang="zh-CN" sz="3200" dirty="0">
                <a:solidFill>
                  <a:schemeClr val="bg2"/>
                </a:solidFill>
                <a:latin typeface="+mj-ea"/>
                <a:ea typeface="+mj-ea"/>
              </a:rPr>
              <a:t>1. </a:t>
            </a:r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绝对路径：以根目录为基准的路径</a:t>
            </a:r>
            <a:r>
              <a:rPr lang="en-US" altLang="zh-CN" sz="3600" dirty="0">
                <a:solidFill>
                  <a:schemeClr val="bg2"/>
                </a:solidFill>
                <a:latin typeface="+mj-ea"/>
                <a:ea typeface="+mj-ea"/>
              </a:rPr>
              <a:t>(</a:t>
            </a:r>
            <a:r>
              <a:rPr lang="en-US" altLang="zh-CN" sz="2800" b="1" dirty="0">
                <a:solidFill>
                  <a:schemeClr val="accent2"/>
                </a:solidFill>
                <a:latin typeface="+mj-ea"/>
                <a:ea typeface="+mj-ea"/>
              </a:rPr>
              <a:t>C:\</a:t>
            </a:r>
            <a:r>
              <a:rPr lang="zh-CN" altLang="en-US" sz="2800" b="1" dirty="0">
                <a:solidFill>
                  <a:schemeClr val="accent2"/>
                </a:solidFill>
                <a:latin typeface="+mj-ea"/>
                <a:ea typeface="+mj-ea"/>
              </a:rPr>
              <a:t>编程基础</a:t>
            </a:r>
            <a:r>
              <a:rPr lang="en-US" altLang="zh-CN" sz="2800" b="1" dirty="0">
                <a:solidFill>
                  <a:schemeClr val="accent2"/>
                </a:solidFill>
                <a:latin typeface="+mj-ea"/>
                <a:ea typeface="+mj-ea"/>
              </a:rPr>
              <a:t>\Data\</a:t>
            </a:r>
            <a:r>
              <a:rPr lang="en-US" altLang="zh-CN" sz="2800" b="1" dirty="0" err="1">
                <a:solidFill>
                  <a:schemeClr val="accent2"/>
                </a:solidFill>
                <a:latin typeface="+mj-ea"/>
                <a:ea typeface="+mj-ea"/>
              </a:rPr>
              <a:t>file.txt</a:t>
            </a:r>
            <a:r>
              <a:rPr lang="en-US" altLang="zh-CN" sz="3600" dirty="0">
                <a:solidFill>
                  <a:schemeClr val="bg2"/>
                </a:solidFill>
                <a:latin typeface="+mj-ea"/>
                <a:ea typeface="+mj-ea"/>
              </a:rPr>
              <a:t>)</a:t>
            </a:r>
          </a:p>
          <a:p>
            <a:pPr algn="l">
              <a:lnSpc>
                <a:spcPct val="150000"/>
              </a:lnSpc>
            </a:pPr>
            <a:r>
              <a:rPr lang="en-US" altLang="zh-CN" sz="3200" dirty="0">
                <a:solidFill>
                  <a:schemeClr val="bg2"/>
                </a:solidFill>
                <a:latin typeface="+mj-ea"/>
                <a:ea typeface="+mj-ea"/>
              </a:rPr>
              <a:t>2.</a:t>
            </a:r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 </a:t>
            </a:r>
            <a:r>
              <a:rPr lang="en-CN" sz="3200" dirty="0">
                <a:solidFill>
                  <a:schemeClr val="bg2"/>
                </a:solidFill>
                <a:latin typeface="+mj-ea"/>
                <a:ea typeface="+mj-ea"/>
              </a:rPr>
              <a:t>相对路径: 以参考位置为基准的路径</a:t>
            </a:r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（以“编程基础”文件夹为参考：</a:t>
            </a:r>
            <a:r>
              <a:rPr lang="en-US" altLang="zh-CN" sz="2800" b="1" dirty="0">
                <a:solidFill>
                  <a:schemeClr val="accent2"/>
                </a:solidFill>
                <a:latin typeface="+mj-ea"/>
                <a:ea typeface="+mj-ea"/>
              </a:rPr>
              <a:t>Data/</a:t>
            </a:r>
            <a:r>
              <a:rPr lang="en-US" altLang="zh-CN" sz="2800" b="1" dirty="0" err="1">
                <a:solidFill>
                  <a:schemeClr val="accent2"/>
                </a:solidFill>
                <a:latin typeface="+mj-ea"/>
                <a:ea typeface="+mj-ea"/>
              </a:rPr>
              <a:t>file.txt</a:t>
            </a:r>
            <a:r>
              <a:rPr lang="en-US" altLang="zh-CN" sz="2800" b="1" dirty="0">
                <a:solidFill>
                  <a:schemeClr val="accent2"/>
                </a:solidFill>
                <a:latin typeface="+mj-ea"/>
                <a:ea typeface="+mj-ea"/>
              </a:rPr>
              <a:t> </a:t>
            </a:r>
            <a:r>
              <a:rPr lang="zh-CN" altLang="en-US" sz="2800" b="1" dirty="0">
                <a:solidFill>
                  <a:schemeClr val="accent2"/>
                </a:solidFill>
                <a:latin typeface="+mj-ea"/>
                <a:ea typeface="+mj-ea"/>
              </a:rPr>
              <a:t>或 </a:t>
            </a:r>
            <a:r>
              <a:rPr lang="en-US" altLang="zh-CN" sz="2800" b="1" dirty="0">
                <a:solidFill>
                  <a:schemeClr val="accent2"/>
                </a:solidFill>
                <a:latin typeface="+mj-ea"/>
                <a:ea typeface="+mj-ea"/>
              </a:rPr>
              <a:t>./Data/file.txt </a:t>
            </a:r>
            <a:r>
              <a:rPr lang="zh-CN" altLang="en-US" sz="2800" dirty="0">
                <a:solidFill>
                  <a:schemeClr val="accent2"/>
                </a:solidFill>
                <a:latin typeface="+mj-ea"/>
                <a:ea typeface="+mj-ea"/>
              </a:rPr>
              <a:t>）</a:t>
            </a:r>
            <a:endParaRPr lang="en-CN" sz="2800" dirty="0">
              <a:solidFill>
                <a:schemeClr val="accent2"/>
              </a:solidFill>
              <a:latin typeface="+mj-ea"/>
              <a:ea typeface="+mj-ea"/>
            </a:endParaRP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8CE02535-3906-8FD1-F888-DA83CF647882}"/>
              </a:ext>
            </a:extLst>
          </p:cNvPr>
          <p:cNvGrpSpPr/>
          <p:nvPr/>
        </p:nvGrpSpPr>
        <p:grpSpPr>
          <a:xfrm>
            <a:off x="8238805" y="1161040"/>
            <a:ext cx="3526971" cy="5522789"/>
            <a:chOff x="7399323" y="1647268"/>
            <a:chExt cx="3138048" cy="512231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CA79477-53AB-DC3A-AAE2-3731D4BB1BD6}"/>
                </a:ext>
              </a:extLst>
            </p:cNvPr>
            <p:cNvGrpSpPr/>
            <p:nvPr/>
          </p:nvGrpSpPr>
          <p:grpSpPr>
            <a:xfrm>
              <a:off x="7399323" y="1647268"/>
              <a:ext cx="3138048" cy="5122319"/>
              <a:chOff x="4335402" y="2161241"/>
              <a:chExt cx="1993953" cy="3952769"/>
            </a:xfrm>
          </p:grpSpPr>
          <p:pic>
            <p:nvPicPr>
              <p:cNvPr id="6" name="Picture 5" descr="A yellow folder with a white page&#10;&#10;AI-generated content may be incorrect.">
                <a:extLst>
                  <a:ext uri="{FF2B5EF4-FFF2-40B4-BE49-F238E27FC236}">
                    <a16:creationId xmlns:a16="http://schemas.microsoft.com/office/drawing/2014/main" id="{4BC03E18-5E6C-7584-DB65-F972276368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045080" y="2161241"/>
                <a:ext cx="722587" cy="611124"/>
              </a:xfrm>
              <a:prstGeom prst="rect">
                <a:avLst/>
              </a:prstGeom>
            </p:spPr>
          </p:pic>
          <p:pic>
            <p:nvPicPr>
              <p:cNvPr id="19" name="Picture 18" descr="A yellow folder with a white page&#10;&#10;AI-generated content may be incorrect.">
                <a:extLst>
                  <a:ext uri="{FF2B5EF4-FFF2-40B4-BE49-F238E27FC236}">
                    <a16:creationId xmlns:a16="http://schemas.microsoft.com/office/drawing/2014/main" id="{7399CDB5-EDB8-1A29-B223-6554A01216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09580" y="3171862"/>
                <a:ext cx="722587" cy="611124"/>
              </a:xfrm>
              <a:prstGeom prst="rect">
                <a:avLst/>
              </a:prstGeom>
            </p:spPr>
          </p:pic>
          <p:pic>
            <p:nvPicPr>
              <p:cNvPr id="22" name="Picture 21" descr="A yellow folder with a white page&#10;&#10;AI-generated content may be incorrect.">
                <a:extLst>
                  <a:ext uri="{FF2B5EF4-FFF2-40B4-BE49-F238E27FC236}">
                    <a16:creationId xmlns:a16="http://schemas.microsoft.com/office/drawing/2014/main" id="{8A05EC4C-5D16-8F81-5E44-642576E688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606768" y="3214967"/>
                <a:ext cx="722587" cy="611124"/>
              </a:xfrm>
              <a:prstGeom prst="rect">
                <a:avLst/>
              </a:prstGeom>
            </p:spPr>
          </p:pic>
          <p:pic>
            <p:nvPicPr>
              <p:cNvPr id="23" name="Picture 22" descr="A yellow folder with a white page&#10;&#10;AI-generated content may be incorrect.">
                <a:extLst>
                  <a:ext uri="{FF2B5EF4-FFF2-40B4-BE49-F238E27FC236}">
                    <a16:creationId xmlns:a16="http://schemas.microsoft.com/office/drawing/2014/main" id="{16E08C31-F105-CDFD-3A1E-3BC62B1ADD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5402" y="4132682"/>
                <a:ext cx="722587" cy="611124"/>
              </a:xfrm>
              <a:prstGeom prst="rect">
                <a:avLst/>
              </a:prstGeom>
            </p:spPr>
          </p:pic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03850D0-5687-36F6-1825-E661A453F6AA}"/>
                  </a:ext>
                </a:extLst>
              </p:cNvPr>
              <p:cNvSpPr txBox="1"/>
              <p:nvPr/>
            </p:nvSpPr>
            <p:spPr>
              <a:xfrm>
                <a:off x="5108855" y="2263027"/>
                <a:ext cx="658812" cy="330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</a:rPr>
                  <a:t>C:\</a:t>
                </a:r>
                <a:endParaRPr lang="en-CN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D17690B-A9F9-DB88-B536-A6E2FCC73C02}"/>
                  </a:ext>
                </a:extLst>
              </p:cNvPr>
              <p:cNvCxnSpPr>
                <a:cxnSpLocks/>
                <a:stCxn id="6" idx="2"/>
                <a:endCxn id="19" idx="0"/>
              </p:cNvCxnSpPr>
              <p:nvPr/>
            </p:nvCxnSpPr>
            <p:spPr bwMode="auto">
              <a:xfrm flipH="1">
                <a:off x="4870874" y="2772365"/>
                <a:ext cx="535500" cy="399497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C936A1DE-1794-9F4D-3FD3-A2E6E583E98D}"/>
                  </a:ext>
                </a:extLst>
              </p:cNvPr>
              <p:cNvCxnSpPr>
                <a:cxnSpLocks/>
                <a:stCxn id="6" idx="2"/>
                <a:endCxn id="22" idx="0"/>
              </p:cNvCxnSpPr>
              <p:nvPr/>
            </p:nvCxnSpPr>
            <p:spPr bwMode="auto">
              <a:xfrm>
                <a:off x="5406374" y="2772365"/>
                <a:ext cx="561688" cy="442602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3B2734F3-08BA-D4FA-58B2-CA8B778211EB}"/>
                  </a:ext>
                </a:extLst>
              </p:cNvPr>
              <p:cNvCxnSpPr>
                <a:cxnSpLocks/>
                <a:stCxn id="19" idx="2"/>
                <a:endCxn id="23" idx="0"/>
              </p:cNvCxnSpPr>
              <p:nvPr/>
            </p:nvCxnSpPr>
            <p:spPr bwMode="auto">
              <a:xfrm flipH="1">
                <a:off x="4696696" y="3782986"/>
                <a:ext cx="174178" cy="349696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pic>
            <p:nvPicPr>
              <p:cNvPr id="31" name="Picture 30" descr="A white paper with black text&#10;&#10;AI-generated content may be incorrect.">
                <a:extLst>
                  <a:ext uri="{FF2B5EF4-FFF2-40B4-BE49-F238E27FC236}">
                    <a16:creationId xmlns:a16="http://schemas.microsoft.com/office/drawing/2014/main" id="{BDF7AA1B-C519-31E1-0CAB-FE5EF0A529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023192" y="5071669"/>
                <a:ext cx="680698" cy="1042341"/>
              </a:xfrm>
              <a:prstGeom prst="rect">
                <a:avLst/>
              </a:prstGeom>
            </p:spPr>
          </p:pic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817FB9AF-8C0E-83E4-8555-CF35A31E4E0E}"/>
                  </a:ext>
                </a:extLst>
              </p:cNvPr>
              <p:cNvCxnSpPr>
                <a:cxnSpLocks/>
                <a:stCxn id="23" idx="2"/>
                <a:endCxn id="31" idx="0"/>
              </p:cNvCxnSpPr>
              <p:nvPr/>
            </p:nvCxnSpPr>
            <p:spPr bwMode="auto">
              <a:xfrm>
                <a:off x="4696696" y="4743806"/>
                <a:ext cx="666845" cy="327863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pic>
            <p:nvPicPr>
              <p:cNvPr id="34" name="Picture 33" descr="A yellow folder with a white page&#10;&#10;AI-generated content may be incorrect.">
                <a:extLst>
                  <a:ext uri="{FF2B5EF4-FFF2-40B4-BE49-F238E27FC236}">
                    <a16:creationId xmlns:a16="http://schemas.microsoft.com/office/drawing/2014/main" id="{888A1879-5A58-C8E1-0E53-CDA9CA6BC8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61383" y="4142810"/>
                <a:ext cx="722587" cy="611124"/>
              </a:xfrm>
              <a:prstGeom prst="rect">
                <a:avLst/>
              </a:prstGeom>
            </p:spPr>
          </p:pic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B7E1F34E-9CAA-929D-7F45-0FAF2FF55E23}"/>
                  </a:ext>
                </a:extLst>
              </p:cNvPr>
              <p:cNvCxnSpPr>
                <a:cxnSpLocks/>
                <a:stCxn id="22" idx="2"/>
                <a:endCxn id="34" idx="0"/>
              </p:cNvCxnSpPr>
              <p:nvPr/>
            </p:nvCxnSpPr>
            <p:spPr bwMode="auto">
              <a:xfrm flipH="1">
                <a:off x="5722677" y="3826091"/>
                <a:ext cx="245385" cy="316719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20FE7D5-F6EB-515F-94B9-E1D23549364C}"/>
                </a:ext>
              </a:extLst>
            </p:cNvPr>
            <p:cNvSpPr txBox="1"/>
            <p:nvPr/>
          </p:nvSpPr>
          <p:spPr>
            <a:xfrm>
              <a:off x="7633803" y="3202242"/>
              <a:ext cx="1257062" cy="3710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  <a:latin typeface="+mn-ea"/>
                  <a:ea typeface="+mn-ea"/>
                </a:rPr>
                <a:t>编程基础</a:t>
              </a:r>
              <a:endParaRPr lang="en-CN" sz="2000" b="1" dirty="0">
                <a:solidFill>
                  <a:schemeClr val="bg1"/>
                </a:solidFill>
                <a:latin typeface="+mn-ea"/>
                <a:ea typeface="+mn-ea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E311725-FDF2-B205-3972-CBF1BEB94F14}"/>
                </a:ext>
              </a:extLst>
            </p:cNvPr>
            <p:cNvSpPr txBox="1"/>
            <p:nvPr/>
          </p:nvSpPr>
          <p:spPr>
            <a:xfrm>
              <a:off x="7440582" y="4404500"/>
              <a:ext cx="1095937" cy="3710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Data</a:t>
              </a:r>
              <a:endParaRPr lang="en-CN" sz="2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38122730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058C-A47B-1106-11E3-5DE8EB32B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A55081E-12AF-A15F-6E20-3A3E91A68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文件操作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5FBB75-C873-9630-9F82-9B9B22559887}"/>
              </a:ext>
            </a:extLst>
          </p:cNvPr>
          <p:cNvSpPr txBox="1"/>
          <p:nvPr/>
        </p:nvSpPr>
        <p:spPr>
          <a:xfrm>
            <a:off x="217714" y="931591"/>
            <a:ext cx="98240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文件打开模式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64AFA17-6E5E-2F58-E73B-77CBACAD0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6292107"/>
              </p:ext>
            </p:extLst>
          </p:nvPr>
        </p:nvGraphicFramePr>
        <p:xfrm>
          <a:off x="4585111" y="1717151"/>
          <a:ext cx="5814376" cy="1828800"/>
        </p:xfrm>
        <a:graphic>
          <a:graphicData uri="http://schemas.openxmlformats.org/drawingml/2006/table">
            <a:tbl>
              <a:tblPr/>
              <a:tblGrid>
                <a:gridCol w="1692006">
                  <a:extLst>
                    <a:ext uri="{9D8B030D-6E8A-4147-A177-3AD203B41FA5}">
                      <a16:colId xmlns:a16="http://schemas.microsoft.com/office/drawing/2014/main" val="1226408210"/>
                    </a:ext>
                  </a:extLst>
                </a:gridCol>
                <a:gridCol w="4122370">
                  <a:extLst>
                    <a:ext uri="{9D8B030D-6E8A-4147-A177-3AD203B41FA5}">
                      <a16:colId xmlns:a16="http://schemas.microsoft.com/office/drawing/2014/main" val="3028672628"/>
                    </a:ext>
                  </a:extLst>
                </a:gridCol>
              </a:tblGrid>
              <a:tr h="38783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模式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描述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7692963"/>
                  </a:ext>
                </a:extLst>
              </a:tr>
              <a:tr h="387839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只读（默认）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6803602"/>
                  </a:ext>
                </a:extLst>
              </a:tr>
              <a:tr h="387839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w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写入（覆盖）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796635"/>
                  </a:ext>
                </a:extLst>
              </a:tr>
              <a:tr h="387839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a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追加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8428852"/>
                  </a:ext>
                </a:extLst>
              </a:tr>
            </a:tbl>
          </a:graphicData>
        </a:graphic>
      </p:graphicFrame>
      <p:grpSp>
        <p:nvGrpSpPr>
          <p:cNvPr id="13" name="Group 12">
            <a:extLst>
              <a:ext uri="{FF2B5EF4-FFF2-40B4-BE49-F238E27FC236}">
                <a16:creationId xmlns:a16="http://schemas.microsoft.com/office/drawing/2014/main" id="{8AC1881E-388E-2642-A072-0ABAD616593A}"/>
              </a:ext>
            </a:extLst>
          </p:cNvPr>
          <p:cNvGrpSpPr/>
          <p:nvPr/>
        </p:nvGrpSpPr>
        <p:grpSpPr>
          <a:xfrm>
            <a:off x="1098020" y="3788348"/>
            <a:ext cx="2366959" cy="1234479"/>
            <a:chOff x="218209" y="4202002"/>
            <a:chExt cx="2315336" cy="1092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0340C47-2142-6687-B0B5-73A79DE3ED4E}"/>
                </a:ext>
              </a:extLst>
            </p:cNvPr>
            <p:cNvSpPr/>
            <p:nvPr/>
          </p:nvSpPr>
          <p:spPr>
            <a:xfrm>
              <a:off x="218209" y="4202002"/>
              <a:ext cx="2315336" cy="10922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DA4D21F-3AA4-7EB2-A603-06B4FFB69445}"/>
                </a:ext>
              </a:extLst>
            </p:cNvPr>
            <p:cNvSpPr txBox="1"/>
            <p:nvPr/>
          </p:nvSpPr>
          <p:spPr>
            <a:xfrm>
              <a:off x="328362" y="4517268"/>
              <a:ext cx="2095030" cy="4084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dirty="0">
                  <a:solidFill>
                    <a:schemeClr val="bg2"/>
                  </a:solidFill>
                  <a:latin typeface="+mn-ea"/>
                  <a:ea typeface="+mn-ea"/>
                </a:rPr>
                <a:t>传统打开方式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A71FC3A-2DB6-8E7C-6B3D-2E41112FBF88}"/>
              </a:ext>
            </a:extLst>
          </p:cNvPr>
          <p:cNvGrpSpPr/>
          <p:nvPr/>
        </p:nvGrpSpPr>
        <p:grpSpPr>
          <a:xfrm>
            <a:off x="1098020" y="5214484"/>
            <a:ext cx="2366960" cy="1177061"/>
            <a:chOff x="314672" y="5560687"/>
            <a:chExt cx="2315336" cy="10414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31BE0F3-6D7E-0FF7-42A0-6956455EC0DD}"/>
                </a:ext>
              </a:extLst>
            </p:cNvPr>
            <p:cNvSpPr/>
            <p:nvPr/>
          </p:nvSpPr>
          <p:spPr>
            <a:xfrm>
              <a:off x="314672" y="5560687"/>
              <a:ext cx="2315336" cy="1041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4B43794-58A3-091B-8B1E-163D9FE90AA5}"/>
                </a:ext>
              </a:extLst>
            </p:cNvPr>
            <p:cNvSpPr txBox="1"/>
            <p:nvPr/>
          </p:nvSpPr>
          <p:spPr>
            <a:xfrm>
              <a:off x="332766" y="5731231"/>
              <a:ext cx="2297241" cy="735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2"/>
                  </a:solidFill>
                  <a:latin typeface="+mn-ea"/>
                  <a:ea typeface="+mn-ea"/>
                </a:rPr>
                <a:t>w</a:t>
              </a:r>
              <a:r>
                <a:rPr lang="en-CN" dirty="0">
                  <a:solidFill>
                    <a:schemeClr val="bg2"/>
                  </a:solidFill>
                  <a:latin typeface="+mn-ea"/>
                  <a:ea typeface="+mn-ea"/>
                </a:rPr>
                <a:t>ith</a:t>
              </a:r>
              <a:r>
                <a:rPr lang="en-US" dirty="0">
                  <a:solidFill>
                    <a:schemeClr val="bg2"/>
                  </a:solidFill>
                  <a:latin typeface="+mn-ea"/>
                  <a:ea typeface="+mn-ea"/>
                </a:rPr>
                <a:t>…as…</a:t>
              </a:r>
              <a:r>
                <a:rPr lang="zh-CN" altLang="en-US" dirty="0">
                  <a:solidFill>
                    <a:schemeClr val="bg2"/>
                  </a:solidFill>
                  <a:latin typeface="+mn-ea"/>
                  <a:ea typeface="+mn-ea"/>
                </a:rPr>
                <a:t>方式</a:t>
              </a:r>
              <a:r>
                <a:rPr lang="en-US" altLang="zh-CN" dirty="0">
                  <a:solidFill>
                    <a:schemeClr val="bg2"/>
                  </a:solidFill>
                  <a:latin typeface="+mn-ea"/>
                  <a:ea typeface="+mn-ea"/>
                </a:rPr>
                <a:t>(</a:t>
              </a:r>
              <a:r>
                <a:rPr lang="zh-CN" altLang="en-US" dirty="0">
                  <a:solidFill>
                    <a:schemeClr val="bg2"/>
                  </a:solidFill>
                  <a:latin typeface="+mn-ea"/>
                  <a:ea typeface="+mn-ea"/>
                </a:rPr>
                <a:t>上下文管理</a:t>
              </a:r>
              <a:r>
                <a:rPr lang="en-US" altLang="zh-CN" dirty="0">
                  <a:solidFill>
                    <a:schemeClr val="bg2"/>
                  </a:solidFill>
                  <a:latin typeface="+mn-ea"/>
                  <a:ea typeface="+mn-ea"/>
                </a:rPr>
                <a:t>)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B68AE6F-FE82-B526-1BC3-E305A77D933B}"/>
              </a:ext>
            </a:extLst>
          </p:cNvPr>
          <p:cNvSpPr txBox="1"/>
          <p:nvPr/>
        </p:nvSpPr>
        <p:spPr>
          <a:xfrm>
            <a:off x="638629" y="1937642"/>
            <a:ext cx="3229427" cy="116955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solidFill>
                  <a:schemeClr val="accent2"/>
                </a:solidFill>
                <a:latin typeface="+mn-ea"/>
                <a:ea typeface="+mn-ea"/>
              </a:rPr>
              <a:t>主要方法</a:t>
            </a: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：</a:t>
            </a:r>
            <a:endParaRPr lang="en-US" altLang="zh-CN" sz="28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o</a:t>
            </a:r>
            <a:r>
              <a:rPr lang="en-CN" sz="2800" dirty="0">
                <a:solidFill>
                  <a:schemeClr val="bg2"/>
                </a:solidFill>
                <a:latin typeface="+mn-ea"/>
                <a:ea typeface="+mn-ea"/>
              </a:rPr>
              <a:t>pen()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 </a:t>
            </a:r>
            <a:r>
              <a:rPr lang="en-CN" sz="2800" dirty="0">
                <a:solidFill>
                  <a:schemeClr val="bg2"/>
                </a:solidFill>
                <a:latin typeface="+mn-ea"/>
                <a:ea typeface="+mn-ea"/>
              </a:rPr>
              <a:t>.read()</a:t>
            </a:r>
          </a:p>
        </p:txBody>
      </p:sp>
      <p:pic>
        <p:nvPicPr>
          <p:cNvPr id="17" name="Picture 16" descr="A black background with different colored text&#10;&#10;AI-generated content may be incorrect.">
            <a:extLst>
              <a:ext uri="{FF2B5EF4-FFF2-40B4-BE49-F238E27FC236}">
                <a16:creationId xmlns:a16="http://schemas.microsoft.com/office/drawing/2014/main" id="{ECD981E9-B635-6A40-F31E-DEA2A165E1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5111" y="3788348"/>
            <a:ext cx="3103344" cy="1234479"/>
          </a:xfrm>
          <a:prstGeom prst="rect">
            <a:avLst/>
          </a:prstGeom>
        </p:spPr>
      </p:pic>
      <p:pic>
        <p:nvPicPr>
          <p:cNvPr id="19" name="Picture 18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E590BFFA-69DB-8D65-99C1-B12BC8F5E7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8574" y="5212309"/>
            <a:ext cx="5747449" cy="1179236"/>
          </a:xfrm>
          <a:prstGeom prst="rect">
            <a:avLst/>
          </a:prstGeom>
        </p:spPr>
      </p:pic>
      <p:sp>
        <p:nvSpPr>
          <p:cNvPr id="6" name="箭头: 右 5">
            <a:extLst>
              <a:ext uri="{FF2B5EF4-FFF2-40B4-BE49-F238E27FC236}">
                <a16:creationId xmlns:a16="http://schemas.microsoft.com/office/drawing/2014/main" id="{4F7F2A55-E2DA-90CB-9C8A-DE0FC1D6F1CD}"/>
              </a:ext>
            </a:extLst>
          </p:cNvPr>
          <p:cNvSpPr/>
          <p:nvPr/>
        </p:nvSpPr>
        <p:spPr>
          <a:xfrm>
            <a:off x="3587131" y="4113199"/>
            <a:ext cx="885371" cy="584775"/>
          </a:xfrm>
          <a:prstGeom prst="rightArrow">
            <a:avLst/>
          </a:prstGeom>
          <a:noFill/>
          <a:ln w="38100">
            <a:solidFill>
              <a:srgbClr val="00B050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箭头: 右 7">
            <a:extLst>
              <a:ext uri="{FF2B5EF4-FFF2-40B4-BE49-F238E27FC236}">
                <a16:creationId xmlns:a16="http://schemas.microsoft.com/office/drawing/2014/main" id="{5FF337BE-E3FF-4102-51E7-9AE5E37C2AD1}"/>
              </a:ext>
            </a:extLst>
          </p:cNvPr>
          <p:cNvSpPr/>
          <p:nvPr/>
        </p:nvSpPr>
        <p:spPr>
          <a:xfrm>
            <a:off x="3599091" y="5530354"/>
            <a:ext cx="885371" cy="584775"/>
          </a:xfrm>
          <a:prstGeom prst="rightArrow">
            <a:avLst/>
          </a:prstGeom>
          <a:noFill/>
          <a:ln w="38100">
            <a:solidFill>
              <a:srgbClr val="00B050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39811127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F955C-BC25-CE58-5F8F-59B947EF5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07F9CF8-16C7-CF38-C1A7-BB455506F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6712856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文件操作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751102-9952-796E-F7D3-86E60C84C66C}"/>
              </a:ext>
            </a:extLst>
          </p:cNvPr>
          <p:cNvSpPr txBox="1"/>
          <p:nvPr/>
        </p:nvSpPr>
        <p:spPr>
          <a:xfrm>
            <a:off x="166914" y="931591"/>
            <a:ext cx="9874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文件操作模块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26200F-C47E-DEE8-29A1-7E171038F816}"/>
              </a:ext>
            </a:extLst>
          </p:cNvPr>
          <p:cNvSpPr txBox="1"/>
          <p:nvPr/>
        </p:nvSpPr>
        <p:spPr>
          <a:xfrm>
            <a:off x="539123" y="1647268"/>
            <a:ext cx="11014247" cy="26015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终端命令：</a:t>
            </a:r>
            <a:r>
              <a:rPr lang="en-US" altLang="zh-CN" sz="3200" b="1" dirty="0" err="1">
                <a:solidFill>
                  <a:srgbClr val="FF0000"/>
                </a:solidFill>
                <a:latin typeface="+mn-ea"/>
                <a:ea typeface="+mn-ea"/>
              </a:rPr>
              <a:t>pwd</a:t>
            </a:r>
            <a:r>
              <a:rPr lang="en-US" altLang="zh-CN" sz="3200" b="1" dirty="0">
                <a:solidFill>
                  <a:srgbClr val="FF0000"/>
                </a:solidFill>
                <a:latin typeface="+mn-ea"/>
                <a:ea typeface="+mn-ea"/>
              </a:rPr>
              <a:t>, ls</a:t>
            </a:r>
            <a:r>
              <a:rPr lang="zh-CN" altLang="en-US" sz="3200" b="1" dirty="0">
                <a:solidFill>
                  <a:srgbClr val="FF0000"/>
                </a:solidFill>
                <a:latin typeface="+mn-ea"/>
                <a:ea typeface="+mn-ea"/>
              </a:rPr>
              <a:t>，</a:t>
            </a:r>
            <a:r>
              <a:rPr lang="en-US" altLang="zh-CN" sz="3200" b="1" dirty="0">
                <a:solidFill>
                  <a:srgbClr val="FF0000"/>
                </a:solidFill>
                <a:latin typeface="+mn-ea"/>
                <a:ea typeface="+mn-ea"/>
              </a:rPr>
              <a:t>cd, cd.. new-item/touch, rm</a:t>
            </a:r>
            <a:endParaRPr lang="en-US" sz="3200" b="1" dirty="0">
              <a:solidFill>
                <a:srgbClr val="FF0000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sz="3200" b="1" dirty="0">
                <a:solidFill>
                  <a:schemeClr val="bg2"/>
                </a:solidFill>
                <a:latin typeface="+mn-ea"/>
                <a:ea typeface="+mn-ea"/>
              </a:rPr>
              <a:t>Python o</a:t>
            </a:r>
            <a:r>
              <a:rPr lang="en-CN" sz="3200" b="1" dirty="0">
                <a:solidFill>
                  <a:schemeClr val="bg2"/>
                </a:solidFill>
                <a:latin typeface="+mn-ea"/>
                <a:ea typeface="+mn-ea"/>
              </a:rPr>
              <a:t>s模块</a:t>
            </a: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2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(1) 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查看文件夹文件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; (2) </a:t>
            </a:r>
            <a:r>
              <a:rPr lang="en-US" sz="2800" dirty="0" err="1">
                <a:solidFill>
                  <a:schemeClr val="bg2"/>
                </a:solidFill>
                <a:latin typeface="+mn-ea"/>
                <a:ea typeface="+mn-ea"/>
              </a:rPr>
              <a:t>重命名文件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；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(3) </a:t>
            </a:r>
            <a:r>
              <a:rPr lang="en-US" sz="2800" dirty="0" err="1">
                <a:solidFill>
                  <a:schemeClr val="bg2"/>
                </a:solidFill>
                <a:latin typeface="+mn-ea"/>
                <a:ea typeface="+mn-ea"/>
              </a:rPr>
              <a:t>移动文件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;  (4) </a:t>
            </a:r>
            <a:r>
              <a:rPr lang="en-US" sz="2800" dirty="0" err="1">
                <a:solidFill>
                  <a:schemeClr val="bg2"/>
                </a:solidFill>
                <a:latin typeface="+mn-ea"/>
                <a:ea typeface="+mn-ea"/>
              </a:rPr>
              <a:t>删除文件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…</a:t>
            </a:r>
            <a:endParaRPr lang="en-CN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6" name="Picture 5" descr="A black background with text and symbols&#10;&#10;AI-generated content may be incorrect.">
            <a:extLst>
              <a:ext uri="{FF2B5EF4-FFF2-40B4-BE49-F238E27FC236}">
                <a16:creationId xmlns:a16="http://schemas.microsoft.com/office/drawing/2014/main" id="{41FD0EA2-D850-FC17-5118-938E3DC972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65" y="4453273"/>
            <a:ext cx="11284359" cy="1671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228949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FC21C-7CE1-5142-CDD8-EF4FB7F09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41941A2-8ECA-8715-6B38-5AA63CBCF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文件操作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CE1514-12E1-16F0-6AE9-9E1C2CC52DE0}"/>
              </a:ext>
            </a:extLst>
          </p:cNvPr>
          <p:cNvSpPr txBox="1"/>
          <p:nvPr/>
        </p:nvSpPr>
        <p:spPr>
          <a:xfrm>
            <a:off x="283029" y="931591"/>
            <a:ext cx="97587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文件操作模块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B96A3F-48BA-7F06-C58C-56F60D3CDE76}"/>
              </a:ext>
            </a:extLst>
          </p:cNvPr>
          <p:cNvSpPr txBox="1"/>
          <p:nvPr/>
        </p:nvSpPr>
        <p:spPr>
          <a:xfrm>
            <a:off x="428173" y="1633593"/>
            <a:ext cx="1135743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800" b="1" dirty="0">
                <a:solidFill>
                  <a:schemeClr val="bg2"/>
                </a:solidFill>
                <a:latin typeface="+mn-ea"/>
                <a:ea typeface="+mn-ea"/>
              </a:rPr>
              <a:t>glob</a:t>
            </a:r>
            <a:r>
              <a:rPr lang="en-CN" sz="2800" b="1" dirty="0">
                <a:solidFill>
                  <a:schemeClr val="bg2"/>
                </a:solidFill>
                <a:latin typeface="+mn-ea"/>
                <a:ea typeface="+mn-ea"/>
              </a:rPr>
              <a:t>模块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：文件路径匹配模块</a:t>
            </a:r>
            <a:endParaRPr lang="en-CN" sz="28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/>
            <a:r>
              <a:rPr lang="en-CN" sz="2800" dirty="0">
                <a:solidFill>
                  <a:schemeClr val="bg2"/>
                </a:solidFill>
                <a:latin typeface="+mn-ea"/>
                <a:ea typeface="+mn-ea"/>
              </a:rPr>
              <a:t>通配符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：*（任意字符）、？（单个字符）、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[]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（字符范围）</a:t>
            </a:r>
            <a:endParaRPr lang="en-CN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AA18919-A5D0-7094-77A0-3956BAD953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1750308"/>
              </p:ext>
            </p:extLst>
          </p:nvPr>
        </p:nvGraphicFramePr>
        <p:xfrm>
          <a:off x="428173" y="3009968"/>
          <a:ext cx="11357431" cy="3448890"/>
        </p:xfrm>
        <a:graphic>
          <a:graphicData uri="http://schemas.openxmlformats.org/drawingml/2006/table">
            <a:tbl>
              <a:tblPr/>
              <a:tblGrid>
                <a:gridCol w="1407885">
                  <a:extLst>
                    <a:ext uri="{9D8B030D-6E8A-4147-A177-3AD203B41FA5}">
                      <a16:colId xmlns:a16="http://schemas.microsoft.com/office/drawing/2014/main" val="2348796459"/>
                    </a:ext>
                  </a:extLst>
                </a:gridCol>
                <a:gridCol w="4058855">
                  <a:extLst>
                    <a:ext uri="{9D8B030D-6E8A-4147-A177-3AD203B41FA5}">
                      <a16:colId xmlns:a16="http://schemas.microsoft.com/office/drawing/2014/main" val="3547002522"/>
                    </a:ext>
                  </a:extLst>
                </a:gridCol>
                <a:gridCol w="5890691">
                  <a:extLst>
                    <a:ext uri="{9D8B030D-6E8A-4147-A177-3AD203B41FA5}">
                      <a16:colId xmlns:a16="http://schemas.microsoft.com/office/drawing/2014/main" val="2363603393"/>
                    </a:ext>
                  </a:extLst>
                </a:gridCol>
              </a:tblGrid>
              <a:tr h="70848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000" b="1" dirty="0">
                          <a:solidFill>
                            <a:schemeClr val="bg2"/>
                          </a:solidFill>
                          <a:effectLst/>
                        </a:rPr>
                        <a:t>通配符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000" b="1">
                          <a:solidFill>
                            <a:schemeClr val="bg2"/>
                          </a:solidFill>
                          <a:effectLst/>
                        </a:rPr>
                        <a:t>作用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000" b="1">
                          <a:solidFill>
                            <a:schemeClr val="bg2"/>
                          </a:solidFill>
                          <a:effectLst/>
                        </a:rPr>
                        <a:t>示例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008564"/>
                  </a:ext>
                </a:extLst>
              </a:tr>
              <a:tr h="741383">
                <a:tc>
                  <a:txBody>
                    <a:bodyPr/>
                    <a:lstStyle/>
                    <a:p>
                      <a:pPr algn="ctr"/>
                      <a:r>
                        <a:rPr lang="en-CN" sz="3000" b="1" dirty="0">
                          <a:solidFill>
                            <a:schemeClr val="accent2"/>
                          </a:solidFill>
                          <a:effectLst/>
                        </a:rPr>
                        <a:t>*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000" dirty="0">
                          <a:solidFill>
                            <a:schemeClr val="bg2"/>
                          </a:solidFill>
                          <a:effectLst/>
                        </a:rPr>
                        <a:t>匹配任意长度字符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>
                          <a:solidFill>
                            <a:schemeClr val="bg2"/>
                          </a:solidFill>
                          <a:effectLst/>
                        </a:rPr>
                        <a:t>*.csv → </a:t>
                      </a:r>
                      <a:r>
                        <a:rPr lang="zh-CN" altLang="en-US" sz="3000">
                          <a:solidFill>
                            <a:schemeClr val="bg2"/>
                          </a:solidFill>
                          <a:effectLst/>
                        </a:rPr>
                        <a:t>所有</a:t>
                      </a:r>
                      <a:r>
                        <a:rPr lang="en-US" sz="3000">
                          <a:solidFill>
                            <a:schemeClr val="bg2"/>
                          </a:solidFill>
                          <a:effectLst/>
                        </a:rPr>
                        <a:t>CSV</a:t>
                      </a:r>
                      <a:r>
                        <a:rPr lang="zh-CN" altLang="en-US" sz="3000">
                          <a:solidFill>
                            <a:schemeClr val="bg2"/>
                          </a:solidFill>
                          <a:effectLst/>
                        </a:rPr>
                        <a:t>文件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9071234"/>
                  </a:ext>
                </a:extLst>
              </a:tr>
              <a:tr h="999513">
                <a:tc>
                  <a:txBody>
                    <a:bodyPr/>
                    <a:lstStyle/>
                    <a:p>
                      <a:pPr algn="ctr"/>
                      <a:r>
                        <a:rPr lang="en-CN" sz="3000" b="1" dirty="0">
                          <a:solidFill>
                            <a:schemeClr val="accent2"/>
                          </a:solidFill>
                          <a:effectLst/>
                        </a:rPr>
                        <a:t>?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000" dirty="0">
                          <a:solidFill>
                            <a:schemeClr val="bg2"/>
                          </a:solidFill>
                          <a:effectLst/>
                        </a:rPr>
                        <a:t>匹配单个字符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dirty="0">
                          <a:solidFill>
                            <a:schemeClr val="bg2"/>
                          </a:solidFill>
                          <a:effectLst/>
                        </a:rPr>
                        <a:t>image_??.</a:t>
                      </a:r>
                      <a:r>
                        <a:rPr lang="en-US" sz="3000" dirty="0" err="1">
                          <a:solidFill>
                            <a:schemeClr val="bg2"/>
                          </a:solidFill>
                          <a:effectLst/>
                        </a:rPr>
                        <a:t>png</a:t>
                      </a:r>
                      <a:r>
                        <a:rPr lang="en-US" sz="3000" dirty="0">
                          <a:solidFill>
                            <a:schemeClr val="bg2"/>
                          </a:solidFill>
                          <a:effectLst/>
                        </a:rPr>
                        <a:t> → image_01.png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75611"/>
                  </a:ext>
                </a:extLst>
              </a:tr>
              <a:tr h="999513">
                <a:tc>
                  <a:txBody>
                    <a:bodyPr/>
                    <a:lstStyle/>
                    <a:p>
                      <a:pPr algn="ctr"/>
                      <a:r>
                        <a:rPr lang="en-CN" sz="3000" b="1" dirty="0">
                          <a:solidFill>
                            <a:schemeClr val="accent2"/>
                          </a:solidFill>
                          <a:effectLst/>
                        </a:rPr>
                        <a:t>[]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000">
                          <a:solidFill>
                            <a:schemeClr val="bg2"/>
                          </a:solidFill>
                          <a:effectLst/>
                        </a:rPr>
                        <a:t>匹配指定范围的字符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dirty="0">
                          <a:solidFill>
                            <a:schemeClr val="bg2"/>
                          </a:solidFill>
                          <a:effectLst/>
                        </a:rPr>
                        <a:t>data_[0-9].txt → data_1.txt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98652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1198221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sz="2800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2" y="3868892"/>
            <a:ext cx="11670743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二、异常处理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标题 2">
            <a:extLst>
              <a:ext uri="{FF2B5EF4-FFF2-40B4-BE49-F238E27FC236}">
                <a16:creationId xmlns:a16="http://schemas.microsoft.com/office/drawing/2014/main" id="{80BA3DF0-0BD3-732F-9CF4-904F309F9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6712856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第五章、文件操作与异常处理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81122590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0811F-DD77-3EC3-62B1-4EA177B0B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C15F932-3F9D-D068-71F5-9521FB312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526"/>
            <a:ext cx="10537373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异常处理</a:t>
            </a:r>
            <a:endParaRPr lang="zh-CN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EB7E53-054F-6B83-1649-F9D39F7A0CA9}"/>
              </a:ext>
            </a:extLst>
          </p:cNvPr>
          <p:cNvSpPr txBox="1"/>
          <p:nvPr/>
        </p:nvSpPr>
        <p:spPr>
          <a:xfrm>
            <a:off x="257246" y="1101654"/>
            <a:ext cx="9013371" cy="4725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zh-CN" sz="3600" b="1" dirty="0">
                <a:solidFill>
                  <a:schemeClr val="accent2"/>
                </a:solidFill>
                <a:latin typeface="+mn-ea"/>
                <a:ea typeface="+mn-ea"/>
              </a:rPr>
              <a:t>Bug</a:t>
            </a:r>
            <a:r>
              <a:rPr lang="zh-CN" altLang="en-US" sz="3600" b="1" dirty="0">
                <a:solidFill>
                  <a:schemeClr val="accent2"/>
                </a:solidFill>
                <a:latin typeface="+mn-ea"/>
                <a:ea typeface="+mn-ea"/>
              </a:rPr>
              <a:t>：程序出现的故障</a:t>
            </a:r>
            <a:endParaRPr lang="en-US" altLang="zh-CN" sz="36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pPr marL="457200" indent="-4572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800" b="1" dirty="0">
                <a:solidFill>
                  <a:schemeClr val="bg2"/>
                </a:solidFill>
                <a:latin typeface="+mn-ea"/>
                <a:ea typeface="+mn-ea"/>
              </a:rPr>
              <a:t>1878</a:t>
            </a: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年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 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- 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托马斯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·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爱迪生首次在技术文献中使用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"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bug"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指代技术故障</a:t>
            </a:r>
          </a:p>
          <a:p>
            <a:pPr marL="457200" indent="-4572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800" b="1" dirty="0">
                <a:solidFill>
                  <a:schemeClr val="bg2"/>
                </a:solidFill>
                <a:latin typeface="+mn-ea"/>
                <a:ea typeface="+mn-ea"/>
              </a:rPr>
              <a:t>1947</a:t>
            </a: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年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 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- 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一位叫赫雷丝</a:t>
            </a:r>
            <a:r>
              <a:rPr lang="en-CN" sz="2800" dirty="0">
                <a:solidFill>
                  <a:schemeClr val="bg2"/>
                </a:solidFill>
              </a:rPr>
              <a:t>・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赫柏的计算机操作员发现一只飞蛾导致机器故障。</a:t>
            </a:r>
            <a:endParaRPr lang="en-US" sz="2800" dirty="0">
              <a:solidFill>
                <a:schemeClr val="bg2"/>
              </a:solidFill>
              <a:latin typeface="+mn-ea"/>
              <a:ea typeface="+mn-ea"/>
            </a:endParaRPr>
          </a:p>
          <a:p>
            <a:pPr marL="457200" indent="-4572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2"/>
                </a:solidFill>
                <a:latin typeface="+mn-ea"/>
                <a:ea typeface="+mn-ea"/>
              </a:rPr>
              <a:t>1950</a:t>
            </a: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年代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 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- “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Debugging”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成为编程标准术语。</a:t>
            </a: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C30E134D-F1BE-7642-056A-B4AF3FD2A91E}"/>
              </a:ext>
            </a:extLst>
          </p:cNvPr>
          <p:cNvGrpSpPr/>
          <p:nvPr/>
        </p:nvGrpSpPr>
        <p:grpSpPr>
          <a:xfrm>
            <a:off x="9448801" y="1101654"/>
            <a:ext cx="2525485" cy="5487896"/>
            <a:chOff x="8904896" y="1507989"/>
            <a:chExt cx="2099950" cy="488820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E26A4AA-376F-EC56-B745-6A8A4653919D}"/>
                </a:ext>
              </a:extLst>
            </p:cNvPr>
            <p:cNvGrpSpPr/>
            <p:nvPr/>
          </p:nvGrpSpPr>
          <p:grpSpPr>
            <a:xfrm>
              <a:off x="8904896" y="1507989"/>
              <a:ext cx="1494590" cy="2545661"/>
              <a:chOff x="6976310" y="1957387"/>
              <a:chExt cx="1278691" cy="2282861"/>
            </a:xfrm>
          </p:grpSpPr>
          <p:pic>
            <p:nvPicPr>
              <p:cNvPr id="7" name="Picture 6" descr="A close up of a moth&#10;&#10;AI-generated content may be incorrect.">
                <a:extLst>
                  <a:ext uri="{FF2B5EF4-FFF2-40B4-BE49-F238E27FC236}">
                    <a16:creationId xmlns:a16="http://schemas.microsoft.com/office/drawing/2014/main" id="{2B5BD91C-E1FD-857D-5D3E-3A86A9CE84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76310" y="1957387"/>
                <a:ext cx="1278690" cy="1868856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93366B1-70CE-B1D6-0BF7-1D7953FA5FE1}"/>
                  </a:ext>
                </a:extLst>
              </p:cNvPr>
              <p:cNvSpPr txBox="1"/>
              <p:nvPr/>
            </p:nvSpPr>
            <p:spPr>
              <a:xfrm>
                <a:off x="6976311" y="3826243"/>
                <a:ext cx="1278690" cy="4140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N" dirty="0">
                    <a:solidFill>
                      <a:schemeClr val="bg2"/>
                    </a:solidFill>
                    <a:latin typeface="+mn-ea"/>
                    <a:ea typeface="+mn-ea"/>
                  </a:rPr>
                  <a:t>bug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7FB21EB-0365-F3A9-6120-E29D0282212C}"/>
                </a:ext>
              </a:extLst>
            </p:cNvPr>
            <p:cNvGrpSpPr/>
            <p:nvPr/>
          </p:nvGrpSpPr>
          <p:grpSpPr>
            <a:xfrm>
              <a:off x="8904896" y="4340088"/>
              <a:ext cx="1494590" cy="2056102"/>
              <a:chOff x="6798510" y="4632763"/>
              <a:chExt cx="1278690" cy="1762911"/>
            </a:xfrm>
          </p:grpSpPr>
          <p:pic>
            <p:nvPicPr>
              <p:cNvPr id="15" name="Picture 14" descr="A yellow triangle sign with a exclamation mark&#10;&#10;AI-generated content may be incorrect.">
                <a:extLst>
                  <a:ext uri="{FF2B5EF4-FFF2-40B4-BE49-F238E27FC236}">
                    <a16:creationId xmlns:a16="http://schemas.microsoft.com/office/drawing/2014/main" id="{0D0A852A-4DFE-A276-D829-3256A47935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798510" y="4632763"/>
                <a:ext cx="1278690" cy="1331969"/>
              </a:xfrm>
              <a:prstGeom prst="rect">
                <a:avLst/>
              </a:prstGeom>
            </p:spPr>
          </p:pic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B1DCB3-5792-FEF1-11B9-3F7CBC07CB50}"/>
                  </a:ext>
                </a:extLst>
              </p:cNvPr>
              <p:cNvSpPr txBox="1"/>
              <p:nvPr/>
            </p:nvSpPr>
            <p:spPr>
              <a:xfrm>
                <a:off x="6798510" y="5999840"/>
                <a:ext cx="1278689" cy="3958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N" dirty="0">
                    <a:solidFill>
                      <a:schemeClr val="bg2"/>
                    </a:solidFill>
                    <a:latin typeface="+mn-ea"/>
                    <a:ea typeface="+mn-ea"/>
                  </a:rPr>
                  <a:t>程序错误</a:t>
                </a:r>
              </a:p>
            </p:txBody>
          </p:sp>
        </p:grpSp>
        <p:sp>
          <p:nvSpPr>
            <p:cNvPr id="18" name="Right Arrow 17">
              <a:extLst>
                <a:ext uri="{FF2B5EF4-FFF2-40B4-BE49-F238E27FC236}">
                  <a16:creationId xmlns:a16="http://schemas.microsoft.com/office/drawing/2014/main" id="{F9525BFB-571A-23E8-144E-DA888D169137}"/>
                </a:ext>
              </a:extLst>
            </p:cNvPr>
            <p:cNvSpPr/>
            <p:nvPr/>
          </p:nvSpPr>
          <p:spPr>
            <a:xfrm rot="5400000">
              <a:off x="10310484" y="3794627"/>
              <a:ext cx="931524" cy="457200"/>
            </a:xfrm>
            <a:prstGeom prst="rightArrow">
              <a:avLst/>
            </a:prstGeom>
            <a:solidFill>
              <a:srgbClr val="7030A0"/>
            </a:solidFill>
            <a:ln w="19050">
              <a:noFill/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18233991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33FA2-3595-40F7-8618-0CEB29FC1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BC8F399-026C-42DD-AD91-66AF48126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1" y="8526"/>
            <a:ext cx="9013371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异常处理</a:t>
            </a:r>
            <a:endParaRPr lang="zh-CN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605C64-116B-C41C-CFB7-A6EF466A2FCC}"/>
              </a:ext>
            </a:extLst>
          </p:cNvPr>
          <p:cNvSpPr txBox="1"/>
          <p:nvPr/>
        </p:nvSpPr>
        <p:spPr>
          <a:xfrm>
            <a:off x="429680" y="1034525"/>
            <a:ext cx="5106007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4000" b="1" dirty="0">
                <a:solidFill>
                  <a:schemeClr val="accent2"/>
                </a:solidFill>
                <a:latin typeface="+mn-ea"/>
                <a:ea typeface="+mn-ea"/>
              </a:rPr>
              <a:t>assert: </a:t>
            </a:r>
            <a:r>
              <a:rPr lang="zh-CN" altLang="en-US" sz="4000" b="1" dirty="0">
                <a:solidFill>
                  <a:schemeClr val="accent2"/>
                </a:solidFill>
                <a:latin typeface="+mn-ea"/>
                <a:ea typeface="+mn-ea"/>
              </a:rPr>
              <a:t>断言</a:t>
            </a:r>
            <a:endParaRPr lang="en-US" altLang="zh-CN" sz="40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作用：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1.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 验证程序内部假设；</a:t>
            </a:r>
          </a:p>
          <a:p>
            <a:pPr algn="l"/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2.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 快速定位程序故障。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AB3EA3C-A976-D1C0-7F30-EAAFAFA198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177721"/>
              </p:ext>
            </p:extLst>
          </p:nvPr>
        </p:nvGraphicFramePr>
        <p:xfrm>
          <a:off x="5602362" y="883031"/>
          <a:ext cx="6542013" cy="5940683"/>
        </p:xfrm>
        <a:graphic>
          <a:graphicData uri="http://schemas.openxmlformats.org/drawingml/2006/table">
            <a:tbl>
              <a:tblPr/>
              <a:tblGrid>
                <a:gridCol w="1798977">
                  <a:extLst>
                    <a:ext uri="{9D8B030D-6E8A-4147-A177-3AD203B41FA5}">
                      <a16:colId xmlns:a16="http://schemas.microsoft.com/office/drawing/2014/main" val="358579845"/>
                    </a:ext>
                  </a:extLst>
                </a:gridCol>
                <a:gridCol w="4743036">
                  <a:extLst>
                    <a:ext uri="{9D8B030D-6E8A-4147-A177-3AD203B41FA5}">
                      <a16:colId xmlns:a16="http://schemas.microsoft.com/office/drawing/2014/main" val="1282577104"/>
                    </a:ext>
                  </a:extLst>
                </a:gridCol>
              </a:tblGrid>
              <a:tr h="65094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</a:rPr>
                        <a:t>场景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</a:rPr>
                        <a:t>示例代码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268646"/>
                  </a:ext>
                </a:extLst>
              </a:tr>
              <a:tr h="79400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参数验证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assert n &gt; 0, "n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必须为正整数</a:t>
                      </a:r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</a:rPr>
                        <a:t>"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4897451"/>
                  </a:ext>
                </a:extLst>
              </a:tr>
              <a:tr h="109440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类型检查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assert </a:t>
                      </a: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isinstance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(x, int), "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需整数类型</a:t>
                      </a:r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</a:rPr>
                        <a:t>"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037252"/>
                  </a:ext>
                </a:extLst>
              </a:tr>
              <a:tr h="109440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状态检查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assert not </a:t>
                      </a: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self.locked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, "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资源已锁定</a:t>
                      </a:r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</a:rPr>
                        <a:t>"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0287260"/>
                  </a:ext>
                </a:extLst>
              </a:tr>
              <a:tr h="109440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返回值验证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assert result != None, "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函数返回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None"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4613380"/>
                  </a:ext>
                </a:extLst>
              </a:tr>
              <a:tr h="109440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常量不变性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assert MAX_SIZE == 100, "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常量值被修改</a:t>
                      </a:r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</a:rPr>
                        <a:t>"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3690780"/>
                  </a:ext>
                </a:extLst>
              </a:tr>
            </a:tbl>
          </a:graphicData>
        </a:graphic>
      </p:graphicFrame>
      <p:pic>
        <p:nvPicPr>
          <p:cNvPr id="6" name="Picture 5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72EC4676-8BA1-E33F-4562-4BDA0F096D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530" y="4192239"/>
            <a:ext cx="5106007" cy="2380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0503800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98A9A-90BC-ED63-05B0-D0CE7D192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83367B9-1163-8208-CB54-E499D94B3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457" y="8526"/>
            <a:ext cx="11879943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异常处理</a:t>
            </a:r>
            <a:endParaRPr lang="zh-CN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5DB676-A1C6-A827-852E-C386150145FF}"/>
              </a:ext>
            </a:extLst>
          </p:cNvPr>
          <p:cNvSpPr txBox="1"/>
          <p:nvPr/>
        </p:nvSpPr>
        <p:spPr>
          <a:xfrm>
            <a:off x="276224" y="935571"/>
            <a:ext cx="11708494" cy="46835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200" b="1" dirty="0" err="1">
                <a:solidFill>
                  <a:schemeClr val="bg2"/>
                </a:solidFill>
                <a:latin typeface="+mn-ea"/>
                <a:ea typeface="+mn-ea"/>
              </a:rPr>
              <a:t>异常定义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：程序运行时的错误事件（如文件不存在）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异常处理作用</a:t>
            </a: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  <a:sym typeface="Wingdings" panose="05000000000000000000" pitchFamily="2" charset="2"/>
              </a:rPr>
              <a:t>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防止程序崩溃，增强代码可读性等。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程序错误类型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：（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1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）代码语法错误；（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2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）程序运行错误。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异常类层次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sz="3200" dirty="0" err="1">
                <a:solidFill>
                  <a:schemeClr val="bg2"/>
                </a:solidFill>
                <a:latin typeface="+mn-ea"/>
                <a:ea typeface="+mn-ea"/>
              </a:rPr>
              <a:t>BaseException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 → Exception → 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子类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基础语法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 </a:t>
            </a: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try-except</a:t>
            </a:r>
            <a:endParaRPr lang="en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ED177B11-1156-F1A6-0381-12F461D5152A}"/>
              </a:ext>
            </a:extLst>
          </p:cNvPr>
          <p:cNvGrpSpPr/>
          <p:nvPr/>
        </p:nvGrpSpPr>
        <p:grpSpPr>
          <a:xfrm>
            <a:off x="5048250" y="4888556"/>
            <a:ext cx="6936468" cy="1881089"/>
            <a:chOff x="3909601" y="4658167"/>
            <a:chExt cx="5768078" cy="1532176"/>
          </a:xfrm>
        </p:grpSpPr>
        <p:pic>
          <p:nvPicPr>
            <p:cNvPr id="6" name="Picture 5" descr="A black background with white text and green text&#10;&#10;AI-generated content may be incorrect.">
              <a:extLst>
                <a:ext uri="{FF2B5EF4-FFF2-40B4-BE49-F238E27FC236}">
                  <a16:creationId xmlns:a16="http://schemas.microsoft.com/office/drawing/2014/main" id="{C872820F-E35C-53C7-4222-9656D5EC7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54535" y="4658167"/>
              <a:ext cx="3823144" cy="1532176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DDF56E2-F06D-FCC1-4ABB-7D3884DFE383}"/>
                </a:ext>
              </a:extLst>
            </p:cNvPr>
            <p:cNvSpPr txBox="1"/>
            <p:nvPr/>
          </p:nvSpPr>
          <p:spPr>
            <a:xfrm>
              <a:off x="3909601" y="5010618"/>
              <a:ext cx="1952855" cy="82727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1" dirty="0">
                  <a:solidFill>
                    <a:schemeClr val="bg2"/>
                  </a:solidFill>
                  <a:latin typeface="+mj-ea"/>
                  <a:ea typeface="+mj-ea"/>
                </a:rPr>
                <a:t>示例</a:t>
              </a:r>
              <a:r>
                <a:rPr lang="zh-CN" altLang="en-US" dirty="0">
                  <a:solidFill>
                    <a:schemeClr val="bg2"/>
                  </a:solidFill>
                  <a:latin typeface="+mj-ea"/>
                  <a:ea typeface="+mj-ea"/>
                </a:rPr>
                <a:t>：</a:t>
              </a:r>
              <a:endParaRPr lang="en-US" altLang="zh-CN" dirty="0">
                <a:solidFill>
                  <a:schemeClr val="bg2"/>
                </a:solidFill>
                <a:latin typeface="+mj-ea"/>
                <a:ea typeface="+mj-ea"/>
              </a:endParaRPr>
            </a:p>
            <a:p>
              <a:r>
                <a:rPr lang="zh-CN" altLang="en-US" dirty="0">
                  <a:solidFill>
                    <a:schemeClr val="bg2"/>
                  </a:solidFill>
                  <a:latin typeface="+mj-ea"/>
                  <a:ea typeface="+mj-ea"/>
                </a:rPr>
                <a:t>处理除零错误</a:t>
              </a:r>
              <a:endParaRPr lang="en-CN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26093860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15AD1-85D8-C712-ED28-170E4B16F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97E45AB-8F03-569C-7FED-F5181C6CE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异常处理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D62CF8-315D-013C-349A-B5F0D417B2D7}"/>
              </a:ext>
            </a:extLst>
          </p:cNvPr>
          <p:cNvSpPr txBox="1"/>
          <p:nvPr/>
        </p:nvSpPr>
        <p:spPr>
          <a:xfrm>
            <a:off x="406400" y="988152"/>
            <a:ext cx="95599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常见异常类型与捕获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pic>
        <p:nvPicPr>
          <p:cNvPr id="11" name="Picture 10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0FDAFE3F-8703-4CB2-46A8-A4BBA9CF0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9256" y="1572927"/>
            <a:ext cx="5045118" cy="1855676"/>
          </a:xfrm>
          <a:prstGeom prst="rect">
            <a:avLst/>
          </a:prstGeom>
        </p:spPr>
      </p:pic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CFA68BD-4092-46B8-5D5F-4A7585046E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9357428"/>
              </p:ext>
            </p:extLst>
          </p:nvPr>
        </p:nvGraphicFramePr>
        <p:xfrm>
          <a:off x="531752" y="1572927"/>
          <a:ext cx="5045117" cy="5035616"/>
        </p:xfrm>
        <a:graphic>
          <a:graphicData uri="http://schemas.openxmlformats.org/drawingml/2006/table">
            <a:tbl>
              <a:tblPr/>
              <a:tblGrid>
                <a:gridCol w="2803480">
                  <a:extLst>
                    <a:ext uri="{9D8B030D-6E8A-4147-A177-3AD203B41FA5}">
                      <a16:colId xmlns:a16="http://schemas.microsoft.com/office/drawing/2014/main" val="3326156905"/>
                    </a:ext>
                  </a:extLst>
                </a:gridCol>
                <a:gridCol w="2241637">
                  <a:extLst>
                    <a:ext uri="{9D8B030D-6E8A-4147-A177-3AD203B41FA5}">
                      <a16:colId xmlns:a16="http://schemas.microsoft.com/office/drawing/2014/main" val="1453689696"/>
                    </a:ext>
                  </a:extLst>
                </a:gridCol>
              </a:tblGrid>
              <a:tr h="53296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异常类型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触发场景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248870"/>
                  </a:ext>
                </a:extLst>
              </a:tr>
              <a:tr h="72585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ZeroDivisionError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除数为零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6025025"/>
                  </a:ext>
                </a:extLst>
              </a:tr>
              <a:tr h="80117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FileNotFoundError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文件不存在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8886745"/>
                  </a:ext>
                </a:extLst>
              </a:tr>
              <a:tr h="1053655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ValueError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无效参数（如</a:t>
                      </a:r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int("abc")）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3100748"/>
                  </a:ext>
                </a:extLst>
              </a:tr>
              <a:tr h="72585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IndexError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列表索引越界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8763154"/>
                  </a:ext>
                </a:extLst>
              </a:tr>
              <a:tr h="72585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KeyError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字典键不存在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1945805"/>
                  </a:ext>
                </a:extLst>
              </a:tr>
              <a:tr h="47026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TypeError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类型不匹配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5646805"/>
                  </a:ext>
                </a:extLst>
              </a:tr>
            </a:tbl>
          </a:graphicData>
        </a:graphic>
      </p:graphicFrame>
      <p:pic>
        <p:nvPicPr>
          <p:cNvPr id="4" name="Picture 3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C273D732-F19B-14C8-9145-F3B0E6EC1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9256" y="4024131"/>
            <a:ext cx="5045118" cy="262766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D14B4C-57D8-A716-7017-2C654A77F1F6}"/>
              </a:ext>
            </a:extLst>
          </p:cNvPr>
          <p:cNvSpPr txBox="1"/>
          <p:nvPr/>
        </p:nvSpPr>
        <p:spPr>
          <a:xfrm>
            <a:off x="6469256" y="3599405"/>
            <a:ext cx="442049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1" dirty="0">
                <a:solidFill>
                  <a:schemeClr val="bg2"/>
                </a:solidFill>
                <a:latin typeface="+mj-ea"/>
                <a:ea typeface="+mj-ea"/>
              </a:rPr>
              <a:t>处理多个异常</a:t>
            </a:r>
            <a:endParaRPr lang="en-CN" sz="2000" b="1" dirty="0">
              <a:solidFill>
                <a:schemeClr val="bg2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124329379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第</a:t>
            </a:r>
            <a:r>
              <a:rPr lang="en-US" altLang="zh-CN" sz="4000" dirty="0">
                <a:latin typeface="+mn-ea"/>
              </a:rPr>
              <a:t>5</a:t>
            </a:r>
            <a:r>
              <a:rPr lang="zh-CN" altLang="en-US" sz="4000" dirty="0">
                <a:latin typeface="+mn-ea"/>
              </a:rPr>
              <a:t>章、文件操作与异常处理</a:t>
            </a:r>
            <a:endParaRPr lang="zh-CN" altLang="en-US" sz="4000" dirty="0"/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DBE2EB52-1153-547D-4DDB-F105FCA1059C}"/>
              </a:ext>
            </a:extLst>
          </p:cNvPr>
          <p:cNvSpPr txBox="1"/>
          <p:nvPr/>
        </p:nvSpPr>
        <p:spPr>
          <a:xfrm>
            <a:off x="495868" y="832995"/>
            <a:ext cx="10041505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第五章实验</a:t>
            </a: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-</a:t>
            </a:r>
            <a:r>
              <a:rPr lang="zh-CN" altLang="en-US" sz="3600" b="1">
                <a:solidFill>
                  <a:srgbClr val="333333"/>
                </a:solidFill>
                <a:latin typeface="+mn-ea"/>
                <a:ea typeface="+mn-ea"/>
              </a:rPr>
              <a:t>文件操作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6" name="TextBox 12">
            <a:extLst>
              <a:ext uri="{FF2B5EF4-FFF2-40B4-BE49-F238E27FC236}">
                <a16:creationId xmlns:a16="http://schemas.microsoft.com/office/drawing/2014/main" id="{68615743-0F76-1E7B-8513-381292D6BC62}"/>
              </a:ext>
            </a:extLst>
          </p:cNvPr>
          <p:cNvSpPr txBox="1"/>
          <p:nvPr/>
        </p:nvSpPr>
        <p:spPr>
          <a:xfrm>
            <a:off x="410817" y="1523997"/>
            <a:ext cx="11363740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zh-C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实验目标：</a:t>
            </a:r>
            <a:endParaRPr lang="en-US" altLang="zh-CN" sz="32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掌握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编程中文件操作以及程序运行路径设置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实验内容及要求：</a:t>
            </a:r>
            <a:endParaRPr lang="en-US" altLang="zh-CN" sz="32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）分别利用命令行工具和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 </a:t>
            </a:r>
            <a:r>
              <a:rPr lang="en-US" altLang="zh-CN" sz="2800" dirty="0" err="1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os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模块进行文件查询，路径切换，以及文件创建，在计算机指定目录下创建若干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.txt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和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.</a:t>
            </a:r>
            <a:r>
              <a:rPr lang="en-US" altLang="zh-CN" sz="2800" dirty="0" err="1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ipynb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文件。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）配置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.</a:t>
            </a:r>
            <a:r>
              <a:rPr lang="en-US" altLang="zh-CN" sz="2800" dirty="0" err="1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ipynb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文件运行路径（</a:t>
            </a:r>
            <a:r>
              <a:rPr lang="en-US" altLang="zh-CN" sz="2800" dirty="0" err="1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vscode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设置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/</a:t>
            </a:r>
            <a:r>
              <a:rPr lang="en-US" altLang="zh-CN" sz="2800" dirty="0" err="1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os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模块设置），分别采用相对路径和绝对路径读入计算机中同一个文件。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3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）实验结果截图发至课程群中。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7004688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189c55888ab0cbd7322514a7fc9bd945c0e60"/>
</p:tagLst>
</file>

<file path=ppt/theme/theme1.xml><?xml version="1.0" encoding="utf-8"?>
<a:theme xmlns:a="http://schemas.openxmlformats.org/drawingml/2006/main" name="2_Global">
  <a:themeElements>
    <a:clrScheme name="自定义 33">
      <a:dk1>
        <a:sysClr val="windowText" lastClr="000000"/>
      </a:dk1>
      <a:lt1>
        <a:sysClr val="window" lastClr="FFFFFF"/>
      </a:lt1>
      <a:dk2>
        <a:srgbClr val="0000CC"/>
      </a:dk2>
      <a:lt2>
        <a:srgbClr val="EEECE1"/>
      </a:lt2>
      <a:accent1>
        <a:srgbClr val="0000CC"/>
      </a:accent1>
      <a:accent2>
        <a:srgbClr val="C00000"/>
      </a:accent2>
      <a:accent3>
        <a:srgbClr val="FF0000"/>
      </a:accent3>
      <a:accent4>
        <a:srgbClr val="FFFF00"/>
      </a:accent4>
      <a:accent5>
        <a:srgbClr val="0000CC"/>
      </a:accent5>
      <a:accent6>
        <a:srgbClr val="CAEAFA"/>
      </a:accent6>
      <a:hlink>
        <a:srgbClr val="0000FF"/>
      </a:hlink>
      <a:folHlink>
        <a:srgbClr val="800080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>
            <a:lumMod val="85000"/>
            <a:lumOff val="15000"/>
          </a:schemeClr>
        </a:solidFill>
      </a:spPr>
      <a:bodyPr wrap="square" lIns="0" rtlCol="0" anchor="ctr">
        <a:noAutofit/>
      </a:bodyPr>
      <a:lstStyle>
        <a:defPPr algn="l">
          <a:defRPr b="1" dirty="0" smtClean="0">
            <a:solidFill>
              <a:srgbClr val="FF0000"/>
            </a:solidFill>
            <a:latin typeface="微软雅黑" pitchFamily="34" charset="-122"/>
            <a:ea typeface="微软雅黑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Global 1">
        <a:dk1>
          <a:srgbClr val="000000"/>
        </a:dk1>
        <a:lt1>
          <a:srgbClr val="FFFFCC"/>
        </a:lt1>
        <a:dk2>
          <a:srgbClr val="4D4D4D"/>
        </a:dk2>
        <a:lt2>
          <a:srgbClr val="FFCC00"/>
        </a:lt2>
        <a:accent1>
          <a:srgbClr val="FF9900"/>
        </a:accent1>
        <a:accent2>
          <a:srgbClr val="CC9900"/>
        </a:accent2>
        <a:accent3>
          <a:srgbClr val="B2B2B2"/>
        </a:accent3>
        <a:accent4>
          <a:srgbClr val="DADAAE"/>
        </a:accent4>
        <a:accent5>
          <a:srgbClr val="FFCAAA"/>
        </a:accent5>
        <a:accent6>
          <a:srgbClr val="B98A00"/>
        </a:accent6>
        <a:hlink>
          <a:srgbClr val="898743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2">
        <a:dk1>
          <a:srgbClr val="000000"/>
        </a:dk1>
        <a:lt1>
          <a:srgbClr val="FFFFFF"/>
        </a:lt1>
        <a:dk2>
          <a:srgbClr val="CC6600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E5D093"/>
        </a:hlink>
        <a:folHlink>
          <a:srgbClr val="CCB3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3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8F8F8"/>
        </a:accent1>
        <a:accent2>
          <a:srgbClr val="969696"/>
        </a:accent2>
        <a:accent3>
          <a:srgbClr val="FFFFFF"/>
        </a:accent3>
        <a:accent4>
          <a:srgbClr val="000000"/>
        </a:accent4>
        <a:accent5>
          <a:srgbClr val="FBFBFB"/>
        </a:accent5>
        <a:accent6>
          <a:srgbClr val="878787"/>
        </a:accent6>
        <a:hlink>
          <a:srgbClr val="DDDDDD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4">
        <a:dk1>
          <a:srgbClr val="000000"/>
        </a:dk1>
        <a:lt1>
          <a:srgbClr val="FFFFFF"/>
        </a:lt1>
        <a:dk2>
          <a:srgbClr val="000066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FDF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5">
        <a:dk1>
          <a:srgbClr val="000000"/>
        </a:dk1>
        <a:lt1>
          <a:srgbClr val="E9E6D9"/>
        </a:lt1>
        <a:dk2>
          <a:srgbClr val="666633"/>
        </a:dk2>
        <a:lt2>
          <a:srgbClr val="CEC7AA"/>
        </a:lt2>
        <a:accent1>
          <a:srgbClr val="FFFFCC"/>
        </a:accent1>
        <a:accent2>
          <a:srgbClr val="B5E0E3"/>
        </a:accent2>
        <a:accent3>
          <a:srgbClr val="F2F0E9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6AB82"/>
        </a:hlink>
        <a:folHlink>
          <a:srgbClr val="A0925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6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93ACC3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7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FFCC"/>
        </a:accent1>
        <a:accent2>
          <a:srgbClr val="FFCC99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E7B98A"/>
        </a:accent6>
        <a:hlink>
          <a:srgbClr val="FF9999"/>
        </a:hlink>
        <a:folHlink>
          <a:srgbClr val="E0636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8">
        <a:dk1>
          <a:srgbClr val="000000"/>
        </a:dk1>
        <a:lt1>
          <a:srgbClr val="EAEAEA"/>
        </a:lt1>
        <a:dk2>
          <a:srgbClr val="17118B"/>
        </a:dk2>
        <a:lt2>
          <a:srgbClr val="FFFFCC"/>
        </a:lt2>
        <a:accent1>
          <a:srgbClr val="B2B2B2"/>
        </a:accent1>
        <a:accent2>
          <a:srgbClr val="54ABB2"/>
        </a:accent2>
        <a:accent3>
          <a:srgbClr val="ABAAC4"/>
        </a:accent3>
        <a:accent4>
          <a:srgbClr val="C8C8C8"/>
        </a:accent4>
        <a:accent5>
          <a:srgbClr val="D5D5D5"/>
        </a:accent5>
        <a:accent6>
          <a:srgbClr val="4B9BA1"/>
        </a:accent6>
        <a:hlink>
          <a:srgbClr val="4F49A3"/>
        </a:hlink>
        <a:folHlink>
          <a:srgbClr val="2E257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9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7897B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0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1">
        <a:dk1>
          <a:srgbClr val="1B3753"/>
        </a:dk1>
        <a:lt1>
          <a:srgbClr val="FFFFFF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DADA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12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D0EB6B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Copyright (c) 2007-2010 NordriDesign™ _light">
  <a:themeElements>
    <a:clrScheme name="1_Copyright (c) 2007-2010 NordriDesign™ _light 1">
      <a:dk1>
        <a:srgbClr val="000000"/>
      </a:dk1>
      <a:lt1>
        <a:srgbClr val="FFFFFF"/>
      </a:lt1>
      <a:dk2>
        <a:srgbClr val="FFFFFF"/>
      </a:dk2>
      <a:lt2>
        <a:srgbClr val="B2B2B2"/>
      </a:lt2>
      <a:accent1>
        <a:srgbClr val="43A1FF"/>
      </a:accent1>
      <a:accent2>
        <a:srgbClr val="00246C"/>
      </a:accent2>
      <a:accent3>
        <a:srgbClr val="FFFFFF"/>
      </a:accent3>
      <a:accent4>
        <a:srgbClr val="000000"/>
      </a:accent4>
      <a:accent5>
        <a:srgbClr val="B0CDFF"/>
      </a:accent5>
      <a:accent6>
        <a:srgbClr val="002061"/>
      </a:accent6>
      <a:hlink>
        <a:srgbClr val="FEA23C"/>
      </a:hlink>
      <a:folHlink>
        <a:srgbClr val="FFFF5B"/>
      </a:folHlink>
    </a:clrScheme>
    <a:fontScheme name="1_Copyright (c) 2007-2010 NordriDesign™ _light">
      <a:majorFont>
        <a:latin typeface="Arial"/>
        <a:ea typeface="黑体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lnDef>
  </a:objectDefaults>
  <a:extraClrSchemeLst>
    <a:extraClrScheme>
      <a:clrScheme name="1_Copyright (c) 2007-2010 NordriDesign™ _light 1">
        <a:dk1>
          <a:srgbClr val="000000"/>
        </a:dk1>
        <a:lt1>
          <a:srgbClr val="FFFFFF"/>
        </a:lt1>
        <a:dk2>
          <a:srgbClr val="FFFFFF"/>
        </a:dk2>
        <a:lt2>
          <a:srgbClr val="B2B2B2"/>
        </a:lt2>
        <a:accent1>
          <a:srgbClr val="43A1FF"/>
        </a:accent1>
        <a:accent2>
          <a:srgbClr val="00246C"/>
        </a:accent2>
        <a:accent3>
          <a:srgbClr val="FFFFFF"/>
        </a:accent3>
        <a:accent4>
          <a:srgbClr val="000000"/>
        </a:accent4>
        <a:accent5>
          <a:srgbClr val="B0CDFF"/>
        </a:accent5>
        <a:accent6>
          <a:srgbClr val="002061"/>
        </a:accent6>
        <a:hlink>
          <a:srgbClr val="FEA23C"/>
        </a:hlink>
        <a:folHlink>
          <a:srgbClr val="FFFF5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2143</TotalTime>
  <Words>809</Words>
  <Application>Microsoft Macintosh PowerPoint</Application>
  <PresentationFormat>Widescreen</PresentationFormat>
  <Paragraphs>134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微软雅黑</vt:lpstr>
      <vt:lpstr>黑体</vt:lpstr>
      <vt:lpstr>Arial</vt:lpstr>
      <vt:lpstr>Calibri</vt:lpstr>
      <vt:lpstr>Times New Roman</vt:lpstr>
      <vt:lpstr>Wingdings</vt:lpstr>
      <vt:lpstr>2_Global</vt:lpstr>
      <vt:lpstr>1_Copyright (c) 2007-2010 NordriDesign™ _light</vt:lpstr>
      <vt:lpstr>PowerPoint Presentation</vt:lpstr>
      <vt:lpstr>PowerPoint Presentation</vt:lpstr>
      <vt:lpstr>第五章、文件操作与异常处理</vt:lpstr>
      <vt:lpstr>一、文件操作</vt:lpstr>
      <vt:lpstr>一、文件操作</vt:lpstr>
      <vt:lpstr>一、文件操作</vt:lpstr>
      <vt:lpstr>一、文件操作</vt:lpstr>
      <vt:lpstr>一、文件操作</vt:lpstr>
      <vt:lpstr>一、文件操作</vt:lpstr>
      <vt:lpstr>第五章、文件操作与异常处理</vt:lpstr>
      <vt:lpstr>一、异常处理</vt:lpstr>
      <vt:lpstr>一、异常处理</vt:lpstr>
      <vt:lpstr>一、异常处理</vt:lpstr>
      <vt:lpstr>一、异常处理</vt:lpstr>
      <vt:lpstr>第5章、文件操作与异常处理</vt:lpstr>
    </vt:vector>
  </TitlesOfParts>
  <Company>tongji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lsb</dc:creator>
  <cp:lastModifiedBy>Xin Luo</cp:lastModifiedBy>
  <cp:revision>20</cp:revision>
  <dcterms:created xsi:type="dcterms:W3CDTF">2004-07-09T11:40:27Z</dcterms:created>
  <dcterms:modified xsi:type="dcterms:W3CDTF">2026-08-27T06:27:21Z</dcterms:modified>
</cp:coreProperties>
</file>