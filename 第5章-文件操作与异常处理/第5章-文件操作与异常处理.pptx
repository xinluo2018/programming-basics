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21"/>
  </p:notesMasterIdLst>
  <p:handoutMasterIdLst>
    <p:handoutMasterId r:id="rId22"/>
  </p:handoutMasterIdLst>
  <p:sldIdLst>
    <p:sldId id="2708" r:id="rId3"/>
    <p:sldId id="256" r:id="rId4"/>
    <p:sldId id="2387" r:id="rId5"/>
    <p:sldId id="2447" r:id="rId6"/>
    <p:sldId id="2729" r:id="rId7"/>
    <p:sldId id="2769" r:id="rId8"/>
    <p:sldId id="2770" r:id="rId9"/>
    <p:sldId id="2761" r:id="rId10"/>
    <p:sldId id="2775" r:id="rId11"/>
    <p:sldId id="2762" r:id="rId12"/>
    <p:sldId id="2768" r:id="rId13"/>
    <p:sldId id="2709" r:id="rId14"/>
    <p:sldId id="2767" r:id="rId15"/>
    <p:sldId id="2772" r:id="rId16"/>
    <p:sldId id="2773" r:id="rId17"/>
    <p:sldId id="2774" r:id="rId18"/>
    <p:sldId id="2771" r:id="rId19"/>
    <p:sldId id="2741" r:id="rId20"/>
  </p:sldIdLst>
  <p:sldSz cx="12192000" cy="6858000"/>
  <p:notesSz cx="7099300" cy="10234613"/>
  <p:custDataLst>
    <p:tags r:id="rId23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DF"/>
    <a:srgbClr val="269FA0"/>
    <a:srgbClr val="00B050"/>
    <a:srgbClr val="C3E8CC"/>
    <a:srgbClr val="7A81FF"/>
    <a:srgbClr val="FF00FF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88" autoAdjust="0"/>
    <p:restoredTop sz="82258"/>
  </p:normalViewPr>
  <p:slideViewPr>
    <p:cSldViewPr snapToGrid="0">
      <p:cViewPr varScale="1">
        <p:scale>
          <a:sx n="72" d="100"/>
          <a:sy n="72" d="100"/>
        </p:scale>
        <p:origin x="687" y="48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70" d="100"/>
        <a:sy n="17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4B16E866-FFF1-585A-8670-68209B92BFC1}"/>
    <pc:docChg chg="modSld">
      <pc:chgData name="Xin Luo" userId="82312ee5779919a4" providerId="LiveId" clId="{4B16E866-FFF1-585A-8670-68209B92BFC1}" dt="2026-08-27T06:27:11.553" v="1" actId="20577"/>
      <pc:docMkLst>
        <pc:docMk/>
      </pc:docMkLst>
      <pc:sldChg chg="modSp mod">
        <pc:chgData name="Xin Luo" userId="82312ee5779919a4" providerId="LiveId" clId="{4B16E866-FFF1-585A-8670-68209B92BFC1}" dt="2026-08-27T06:27:11.553" v="1" actId="20577"/>
        <pc:sldMkLst>
          <pc:docMk/>
          <pc:sldMk cId="4207004688" sldId="2741"/>
        </pc:sldMkLst>
        <pc:spChg chg="mod">
          <ac:chgData name="Xin Luo" userId="82312ee5779919a4" providerId="LiveId" clId="{4B16E866-FFF1-585A-8670-68209B92BFC1}" dt="2026-08-27T06:27:11.553" v="1" actId="20577"/>
          <ac:spMkLst>
            <pc:docMk/>
            <pc:sldMk cId="4207004688" sldId="2741"/>
            <ac:spMk id="4" creationId="{DBE2EB52-1153-547D-4DDB-F105FCA1059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5234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74159-43B8-8674-3907-AFB0879D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C85CB8-DCFC-A96A-2104-7F05A82BF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CA3565-4521-9A25-25CC-25988A016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9825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EE037-DDBA-D92B-A577-B8EEB52F2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8148C5-AB1E-23CA-AE52-16B75F2B7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B876E3-AF75-238A-7609-8433B5B18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../</a:t>
            </a:r>
            <a:r>
              <a:rPr lang="zh-CN" altLang="en-US" dirty="0"/>
              <a:t>表示上一级目录，</a:t>
            </a:r>
            <a:r>
              <a:rPr lang="en-US" altLang="zh-CN" dirty="0"/>
              <a:t>…/</a:t>
            </a:r>
            <a:r>
              <a:rPr lang="zh-CN" altLang="en-US" dirty="0"/>
              <a:t>表示上上一级目录</a:t>
            </a:r>
          </a:p>
        </p:txBody>
      </p:sp>
    </p:spTree>
    <p:extLst>
      <p:ext uri="{BB962C8B-B14F-4D97-AF65-F5344CB8AC3E}">
        <p14:creationId xmlns:p14="http://schemas.microsoft.com/office/powerpoint/2010/main" val="4104054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42D9D-4180-072D-8407-E5183A584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81714B-54F0-BD0F-3E21-720CCFB95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2FA787-E19B-3B6B-C6A6-14FB9B866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0385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E2AE-C715-8E0D-0220-5A33253D3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93D944-CDAB-F229-A9D1-67C29097D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FCF719-FAE5-62A0-3F57-28C675D7A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9009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668DC-A93E-C123-F1B4-EA9B52807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DC0560-65CA-94B3-BECF-7452B27BA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C16E95-61B9-FEB1-3CC6-4799BFE76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8918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91710-3AF1-E0CB-A294-3FC439F7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C53236-1A24-5BD7-DD41-1BA364D17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7164A0-EF72-33DC-EC3F-E86603606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8993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55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276A2-E4C3-A35C-5863-42FAFF5FD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250EBE-6F47-4BA6-937E-D705CEE51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93A367-2994-241E-BA08-B28B9D75F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编程过程中一定会遇到</a:t>
            </a:r>
            <a:r>
              <a:rPr lang="en-US" altLang="zh-CN" dirty="0"/>
              <a:t>bug</a:t>
            </a:r>
            <a:r>
              <a:rPr lang="zh-CN" altLang="en-US" dirty="0"/>
              <a:t>，处理</a:t>
            </a:r>
            <a:r>
              <a:rPr lang="en-US" altLang="zh-CN" dirty="0"/>
              <a:t>bug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96154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8A35-B185-71AE-4CCD-262B9D21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B4080-F5D0-5A1E-428E-EA6067CB5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42788-46CF-3A2F-BAA3-EAAC0AB41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70458-850F-3F5B-5927-1BB796BDBF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08203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96594-85AC-B15C-0BC4-D3F35192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D7933-A148-BB58-9FE1-1D6D68223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51507-3E2E-C14C-D2F6-2B87D870D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16406-2F94-7D7B-6ED5-81BD344E037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2024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2E123-147C-6B1E-C927-5959FD60F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22E3C3-3C0D-883A-C7C4-C14C80A61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1A0C42-90BC-F065-484A-3B09DB366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29274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326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305338" y="1685332"/>
            <a:ext cx="9799983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第五章 文件操作与异常处理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zh-CN" altLang="en-US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18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18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18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512863" y="243144"/>
            <a:ext cx="417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地学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编程基础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五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B39981-1B87-4819-A6AC-930D89EC5A26}"/>
              </a:ext>
            </a:extLst>
          </p:cNvPr>
          <p:cNvSpPr>
            <a:spLocks noGrp="1"/>
          </p:cNvSpPr>
          <p:nvPr/>
        </p:nvSpPr>
        <p:spPr>
          <a:xfrm>
            <a:off x="723900" y="933450"/>
            <a:ext cx="10763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450" b="1">
                <a:solidFill>
                  <a:srgbClr val="17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7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  <a:r>
              <a:rPr lang="zh-CN" altLang="en-US" sz="3600" b="1" dirty="0">
                <a:solidFill>
                  <a:schemeClr val="bg2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3600" b="1" dirty="0">
                <a:solidFill>
                  <a:schemeClr val="bg2"/>
                </a:solidFill>
                <a:latin typeface="Microsoft YaHei"/>
                <a:ea typeface="Microsoft YaHei"/>
                <a:cs typeface="Microsoft YaHei"/>
              </a:rPr>
              <a:t>300 </a:t>
            </a:r>
            <a:r>
              <a:rPr sz="3600" b="1" dirty="0" err="1">
                <a:solidFill>
                  <a:schemeClr val="bg2"/>
                </a:solidFill>
                <a:latin typeface="Microsoft YaHei"/>
                <a:ea typeface="Microsoft YaHei"/>
                <a:cs typeface="Microsoft YaHei"/>
              </a:rPr>
              <a:t>份观测文件，如何自动汇总</a:t>
            </a:r>
            <a:r>
              <a:rPr sz="3600" b="1" dirty="0">
                <a:solidFill>
                  <a:schemeClr val="bg2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4" name="folder">
            <a:extLst>
              <a:ext uri="{FF2B5EF4-FFF2-40B4-BE49-F238E27FC236}">
                <a16:creationId xmlns:a16="http://schemas.microsoft.com/office/drawing/2014/main" id="{C791852B-BE43-43A6-BCF9-14A4AF56E8ED}"/>
              </a:ext>
            </a:extLst>
          </p:cNvPr>
          <p:cNvSpPr>
            <a:spLocks noGrp="1"/>
          </p:cNvSpPr>
          <p:nvPr/>
        </p:nvSpPr>
        <p:spPr>
          <a:xfrm>
            <a:off x="876300" y="2223471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23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23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 dirty="0">
                <a:solidFill>
                  <a:srgbClr val="269FA0"/>
                </a:solidFill>
                <a:latin typeface="Microsoft YaHei"/>
                <a:ea typeface="Microsoft YaHei"/>
                <a:cs typeface="Microsoft YaHei"/>
              </a:rPr>
              <a:t>data/observations/</a:t>
            </a:r>
          </a:p>
        </p:txBody>
      </p:sp>
      <p:sp>
        <p:nvSpPr>
          <p:cNvPr id="5" name="files1">
            <a:extLst>
              <a:ext uri="{FF2B5EF4-FFF2-40B4-BE49-F238E27FC236}">
                <a16:creationId xmlns:a16="http://schemas.microsoft.com/office/drawing/2014/main" id="{C8691113-2502-44CA-9422-EFD6777B5CB6}"/>
              </a:ext>
            </a:extLst>
          </p:cNvPr>
          <p:cNvSpPr>
            <a:spLocks noGrp="1"/>
          </p:cNvSpPr>
          <p:nvPr/>
        </p:nvSpPr>
        <p:spPr>
          <a:xfrm>
            <a:off x="1104900" y="2775921"/>
            <a:ext cx="3897796" cy="16954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6276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276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station_001.txt</a:t>
            </a:r>
          </a:p>
          <a:p>
            <a:pPr>
              <a:defRPr sz="2100" b="0">
                <a:solidFill>
                  <a:srgbClr val="6276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station_002.txt</a:t>
            </a:r>
          </a:p>
          <a:p>
            <a:pPr>
              <a:defRPr sz="2100" b="0">
                <a:solidFill>
                  <a:srgbClr val="6276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6" name="missing">
            <a:extLst>
              <a:ext uri="{FF2B5EF4-FFF2-40B4-BE49-F238E27FC236}">
                <a16:creationId xmlns:a16="http://schemas.microsoft.com/office/drawing/2014/main" id="{029FCC1A-21DD-44BB-9CA8-C013099199A3}"/>
              </a:ext>
            </a:extLst>
          </p:cNvPr>
          <p:cNvSpPr>
            <a:spLocks noGrp="1"/>
          </p:cNvSpPr>
          <p:nvPr/>
        </p:nvSpPr>
        <p:spPr>
          <a:xfrm>
            <a:off x="1104900" y="4570759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BF5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BF5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station_037.txt  </a:t>
            </a:r>
            <a:r>
              <a:rPr sz="2800" b="1" dirty="0" err="1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缺失</a:t>
            </a:r>
            <a:endParaRPr sz="2800" b="1" dirty="0">
              <a:solidFill>
                <a:schemeClr val="accent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files2">
            <a:extLst>
              <a:ext uri="{FF2B5EF4-FFF2-40B4-BE49-F238E27FC236}">
                <a16:creationId xmlns:a16="http://schemas.microsoft.com/office/drawing/2014/main" id="{3A2567F8-8C58-4D84-AA8B-2032C2B090F5}"/>
              </a:ext>
            </a:extLst>
          </p:cNvPr>
          <p:cNvSpPr>
            <a:spLocks noGrp="1"/>
          </p:cNvSpPr>
          <p:nvPr/>
        </p:nvSpPr>
        <p:spPr>
          <a:xfrm>
            <a:off x="762000" y="4814268"/>
            <a:ext cx="46863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6276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276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  <a:p>
            <a:pPr>
              <a:defRPr sz="2100" b="0">
                <a:solidFill>
                  <a:srgbClr val="6276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station_300.txt</a:t>
            </a:r>
          </a:p>
        </p:txBody>
      </p:sp>
      <p:sp>
        <p:nvSpPr>
          <p:cNvPr id="8" name="question1">
            <a:extLst>
              <a:ext uri="{FF2B5EF4-FFF2-40B4-BE49-F238E27FC236}">
                <a16:creationId xmlns:a16="http://schemas.microsoft.com/office/drawing/2014/main" id="{E9453C10-D43F-4286-A700-458936FE33FA}"/>
              </a:ext>
            </a:extLst>
          </p:cNvPr>
          <p:cNvSpPr>
            <a:spLocks noGrp="1"/>
          </p:cNvSpPr>
          <p:nvPr/>
        </p:nvSpPr>
        <p:spPr>
          <a:xfrm>
            <a:off x="5953125" y="2433434"/>
            <a:ext cx="5429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17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17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800" b="1" dirty="0">
                <a:solidFill>
                  <a:schemeClr val="bg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2800" b="1" dirty="0" err="1">
                <a:solidFill>
                  <a:schemeClr val="bg2"/>
                </a:solidFill>
                <a:latin typeface="Microsoft YaHei"/>
                <a:ea typeface="Microsoft YaHei"/>
                <a:cs typeface="Microsoft YaHei"/>
              </a:rPr>
              <a:t>怎样批量找到并读取这些文件</a:t>
            </a:r>
            <a:r>
              <a:rPr sz="2800" b="1" dirty="0">
                <a:solidFill>
                  <a:schemeClr val="bg2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9" name="concept1">
            <a:extLst>
              <a:ext uri="{FF2B5EF4-FFF2-40B4-BE49-F238E27FC236}">
                <a16:creationId xmlns:a16="http://schemas.microsoft.com/office/drawing/2014/main" id="{B1956695-5E6F-497B-86AE-0C9B947B08B6}"/>
              </a:ext>
            </a:extLst>
          </p:cNvPr>
          <p:cNvSpPr>
            <a:spLocks noGrp="1"/>
          </p:cNvSpPr>
          <p:nvPr/>
        </p:nvSpPr>
        <p:spPr>
          <a:xfrm>
            <a:off x="5953125" y="310184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23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3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0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文件路径、批量匹配与文件读写</a:t>
            </a:r>
            <a:endParaRPr sz="2800" b="0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question2">
            <a:extLst>
              <a:ext uri="{FF2B5EF4-FFF2-40B4-BE49-F238E27FC236}">
                <a16:creationId xmlns:a16="http://schemas.microsoft.com/office/drawing/2014/main" id="{BB9C424F-6A61-4AB6-A0A1-A1A4FDFF077F}"/>
              </a:ext>
            </a:extLst>
          </p:cNvPr>
          <p:cNvSpPr>
            <a:spLocks noGrp="1"/>
          </p:cNvSpPr>
          <p:nvPr/>
        </p:nvSpPr>
        <p:spPr>
          <a:xfrm>
            <a:off x="5953125" y="3884961"/>
            <a:ext cx="5429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17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17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800" b="1" dirty="0">
                <a:solidFill>
                  <a:schemeClr val="bg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2800" b="1" dirty="0" err="1">
                <a:solidFill>
                  <a:schemeClr val="bg2"/>
                </a:solidFill>
                <a:latin typeface="Microsoft YaHei"/>
                <a:ea typeface="Microsoft YaHei"/>
                <a:cs typeface="Microsoft YaHei"/>
              </a:rPr>
              <a:t>少了一份，程序就要停下来吗</a:t>
            </a:r>
            <a:r>
              <a:rPr sz="2800" b="1" dirty="0">
                <a:solidFill>
                  <a:schemeClr val="bg2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11" name="concept2">
            <a:extLst>
              <a:ext uri="{FF2B5EF4-FFF2-40B4-BE49-F238E27FC236}">
                <a16:creationId xmlns:a16="http://schemas.microsoft.com/office/drawing/2014/main" id="{5066B0D8-F342-4A61-AE9A-C0D2098AA619}"/>
              </a:ext>
            </a:extLst>
          </p:cNvPr>
          <p:cNvSpPr>
            <a:spLocks noGrp="1"/>
          </p:cNvSpPr>
          <p:nvPr/>
        </p:nvSpPr>
        <p:spPr>
          <a:xfrm>
            <a:off x="5457410" y="4560175"/>
            <a:ext cx="6420679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BF5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BF5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0" dirty="0" err="1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发现异常，提示原因并决定如何处理</a:t>
            </a:r>
            <a:endParaRPr sz="2800" b="0" dirty="0">
              <a:solidFill>
                <a:schemeClr val="accent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标题 2">
            <a:extLst>
              <a:ext uri="{FF2B5EF4-FFF2-40B4-BE49-F238E27FC236}">
                <a16:creationId xmlns:a16="http://schemas.microsoft.com/office/drawing/2014/main" id="{94D403FC-4CED-299C-62B5-995B403A2111}"/>
              </a:ext>
            </a:extLst>
          </p:cNvPr>
          <p:cNvSpPr txBox="1">
            <a:spLocks/>
          </p:cNvSpPr>
          <p:nvPr/>
        </p:nvSpPr>
        <p:spPr>
          <a:xfrm>
            <a:off x="1" y="8526"/>
            <a:ext cx="6712856" cy="792162"/>
          </a:xfrm>
          <a:prstGeom prst="rect">
            <a:avLst/>
          </a:prstGeom>
        </p:spPr>
        <p:txBody>
          <a:bodyPr/>
          <a:lstStyle>
            <a:lvl1pPr marL="0" indent="889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+mj-lt"/>
                <a:ea typeface="+mj-ea"/>
                <a:cs typeface="微软雅黑" charset="0"/>
              </a:defRPr>
            </a:lvl1pPr>
            <a:lvl2pPr indent="174625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微软雅黑" pitchFamily="34" charset="-122"/>
                <a:cs typeface="微软雅黑" charset="0"/>
              </a:defRPr>
            </a:lvl2pPr>
            <a:lvl3pPr indent="174625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微软雅黑" pitchFamily="34" charset="-122"/>
                <a:cs typeface="微软雅黑" charset="0"/>
              </a:defRPr>
            </a:lvl3pPr>
            <a:lvl4pPr indent="174625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微软雅黑" pitchFamily="34" charset="-122"/>
                <a:cs typeface="微软雅黑" charset="0"/>
              </a:defRPr>
            </a:lvl4pPr>
            <a:lvl5pPr indent="174625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微软雅黑" pitchFamily="34" charset="-122"/>
                <a:cs typeface="微软雅黑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FF"/>
                </a:solidFill>
                <a:latin typeface="黑体" pitchFamily="2" charset="-122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FF"/>
                </a:solidFill>
                <a:latin typeface="黑体" pitchFamily="2" charset="-122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FF"/>
                </a:solidFill>
                <a:latin typeface="黑体" pitchFamily="2" charset="-122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FF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r>
              <a:rPr lang="zh-CN" altLang="en-US" kern="0">
                <a:latin typeface="+mn-ea"/>
              </a:rPr>
              <a:t>第五章、文件操作与异常处理</a:t>
            </a:r>
            <a:endParaRPr lang="zh-CN" altLang="en-US" kern="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F7FA9E-EA7F-C12F-01A6-B9185E53A5E9}"/>
              </a:ext>
            </a:extLst>
          </p:cNvPr>
          <p:cNvSpPr txBox="1"/>
          <p:nvPr/>
        </p:nvSpPr>
        <p:spPr>
          <a:xfrm>
            <a:off x="828039" y="6009943"/>
            <a:ext cx="10554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75" b="1">
                <a:solidFill>
                  <a:srgbClr val="17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本章任务：正确读写文件，并合理处理程序运行中的异常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5BB4CD-96DA-9EB0-68F5-C022BF138261}"/>
              </a:ext>
            </a:extLst>
          </p:cNvPr>
          <p:cNvSpPr txBox="1"/>
          <p:nvPr/>
        </p:nvSpPr>
        <p:spPr>
          <a:xfrm>
            <a:off x="1798320" y="1668185"/>
            <a:ext cx="841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25" b="0">
                <a:solidFill>
                  <a:srgbClr val="5067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00" b="1" dirty="0">
                <a:solidFill>
                  <a:schemeClr val="bg1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把气象站的观测记录汇总成一张统计表</a:t>
            </a:r>
          </a:p>
        </p:txBody>
      </p:sp>
    </p:spTree>
    <p:extLst>
      <p:ext uri="{BB962C8B-B14F-4D97-AF65-F5344CB8AC3E}">
        <p14:creationId xmlns:p14="http://schemas.microsoft.com/office/powerpoint/2010/main" val="33996022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908663" y="3818531"/>
            <a:ext cx="3365702" cy="717997"/>
            <a:chOff x="2121801" y="3511390"/>
            <a:chExt cx="300577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938447" y="3535749"/>
              <a:ext cx="2189125" cy="51850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CN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异常</a:t>
              </a: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处理</a:t>
              </a:r>
              <a:endParaRPr lang="en-US" altLang="zh-CN" sz="36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1908663" y="2532264"/>
            <a:ext cx="3962051" cy="772176"/>
            <a:chOff x="2121802" y="2115450"/>
            <a:chExt cx="3111055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839830" y="2150557"/>
              <a:ext cx="2393027" cy="48212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文件操作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一、文件操作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B7F2176A-350B-B49E-5F85-B93436247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6712856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第五章、文件操作与异常处理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文件操作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483703" y="901111"/>
            <a:ext cx="11222067" cy="577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文件操作的意义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数据持久化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：将程序结果保存到文件，便于长期存储数据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;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数据交换与共享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：通过数据读写实现数据传递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;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数据读取与处理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：读入已有数据，开展分析与计算。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/>
              <a:ea typeface="微软雅黑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批量处理与自动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：文件操作可实现对多个文件的处理，提高工作效率。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文件类型 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文本文件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(.txt)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、代码文件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(.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py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, .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ipynb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)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、二进制文件（如图片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/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视频）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335048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695C-0757-96B0-A8EB-EA21560A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D63664E-807B-06F9-351D-4E6991EA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文件操作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A1DF47-906F-D29B-F8A0-275A90B8A3F2}"/>
              </a:ext>
            </a:extLst>
          </p:cNvPr>
          <p:cNvSpPr txBox="1"/>
          <p:nvPr/>
        </p:nvSpPr>
        <p:spPr>
          <a:xfrm>
            <a:off x="87086" y="931591"/>
            <a:ext cx="9954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文件目录系统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6A849F-823F-FFEE-E783-FD264AA68D7B}"/>
              </a:ext>
            </a:extLst>
          </p:cNvPr>
          <p:cNvGrpSpPr/>
          <p:nvPr/>
        </p:nvGrpSpPr>
        <p:grpSpPr>
          <a:xfrm>
            <a:off x="1196485" y="2204783"/>
            <a:ext cx="3429995" cy="4549040"/>
            <a:chOff x="212586" y="1647267"/>
            <a:chExt cx="4159644" cy="5099194"/>
          </a:xfrm>
        </p:grpSpPr>
        <p:pic>
          <p:nvPicPr>
            <p:cNvPr id="5" name="Picture 4" descr="A white paper with black text&#10;&#10;AI-generated content may be incorrect.">
              <a:extLst>
                <a:ext uri="{FF2B5EF4-FFF2-40B4-BE49-F238E27FC236}">
                  <a16:creationId xmlns:a16="http://schemas.microsoft.com/office/drawing/2014/main" id="{051BA1E6-4974-D35E-346E-C2444F223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9199" y="4758010"/>
              <a:ext cx="825500" cy="11684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9983B2E-FE27-C797-A7B3-DC6D5279D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82197" y="1647267"/>
              <a:ext cx="876300" cy="762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97E06C7-EFFD-6706-3960-1AE8DDC60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8546" y="2620407"/>
              <a:ext cx="876300" cy="762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0DA0A9-B38C-4BFF-B86A-EEB8FAECE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2283" y="2620407"/>
              <a:ext cx="876300" cy="762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834FB19-6AB0-6C0B-7A5F-F7C19BE78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736" y="3593548"/>
              <a:ext cx="876300" cy="76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C89E3FF-C02E-9747-517A-071FB3FC6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41499" y="3615635"/>
              <a:ext cx="876300" cy="762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C370897-078E-BEAF-3EC9-DA6F88F6B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28867" y="3593547"/>
              <a:ext cx="876300" cy="762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AE296B8-69A5-2C6D-0BC5-C15F37B70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586" y="4604920"/>
              <a:ext cx="876300" cy="762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36ED95F-485E-E585-84E3-30D8EE106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35983" y="4604920"/>
              <a:ext cx="876300" cy="762000"/>
            </a:xfrm>
            <a:prstGeom prst="rect">
              <a:avLst/>
            </a:prstGeom>
          </p:spPr>
        </p:pic>
        <p:pic>
          <p:nvPicPr>
            <p:cNvPr id="15" name="Picture 14" descr="A white paper with black text&#10;&#10;AI-generated content may be incorrect.">
              <a:extLst>
                <a:ext uri="{FF2B5EF4-FFF2-40B4-BE49-F238E27FC236}">
                  <a16:creationId xmlns:a16="http://schemas.microsoft.com/office/drawing/2014/main" id="{E209DD80-4787-8C40-D13A-7E38218BA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6730" y="4816061"/>
              <a:ext cx="825500" cy="1168400"/>
            </a:xfrm>
            <a:prstGeom prst="rect">
              <a:avLst/>
            </a:prstGeom>
          </p:spPr>
        </p:pic>
        <p:pic>
          <p:nvPicPr>
            <p:cNvPr id="16" name="Picture 15" descr="A white paper with black text&#10;&#10;AI-generated content may be incorrect.">
              <a:extLst>
                <a:ext uri="{FF2B5EF4-FFF2-40B4-BE49-F238E27FC236}">
                  <a16:creationId xmlns:a16="http://schemas.microsoft.com/office/drawing/2014/main" id="{8C0CEDB0-DB47-112B-5867-95381CC8C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196" y="5578061"/>
              <a:ext cx="825500" cy="1168400"/>
            </a:xfrm>
            <a:prstGeom prst="rect">
              <a:avLst/>
            </a:prstGeom>
          </p:spPr>
        </p:pic>
        <p:pic>
          <p:nvPicPr>
            <p:cNvPr id="17" name="Picture 16" descr="A white paper with black text&#10;&#10;AI-generated content may be incorrect.">
              <a:extLst>
                <a:ext uri="{FF2B5EF4-FFF2-40B4-BE49-F238E27FC236}">
                  <a16:creationId xmlns:a16="http://schemas.microsoft.com/office/drawing/2014/main" id="{CA2A9E9F-D75A-9BF1-0641-B65DFE8E3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60549" y="5578061"/>
              <a:ext cx="825500" cy="1168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3338EE-5897-8EC4-9F4A-C307FD6FCCD9}"/>
                </a:ext>
              </a:extLst>
            </p:cNvPr>
            <p:cNvSpPr txBox="1"/>
            <p:nvPr/>
          </p:nvSpPr>
          <p:spPr>
            <a:xfrm>
              <a:off x="1943790" y="1775200"/>
              <a:ext cx="344478" cy="5864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2"/>
                  </a:solidFill>
                </a:rPr>
                <a:t>/</a:t>
              </a:r>
              <a:endParaRPr lang="en-CN" sz="2800" b="1" dirty="0">
                <a:solidFill>
                  <a:schemeClr val="bg2"/>
                </a:solidFill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FCDCEB-BC12-1B99-80BA-621AAFF0B7E3}"/>
                </a:ext>
              </a:extLst>
            </p:cNvPr>
            <p:cNvCxnSpPr>
              <a:stCxn id="7" idx="2"/>
              <a:endCxn id="8" idx="0"/>
            </p:cNvCxnSpPr>
            <p:nvPr/>
          </p:nvCxnSpPr>
          <p:spPr bwMode="auto">
            <a:xfrm flipH="1">
              <a:off x="1446696" y="2409267"/>
              <a:ext cx="673651" cy="2111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D7E7A7-4579-B75A-B30D-67025940E108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 bwMode="auto">
            <a:xfrm>
              <a:off x="2120347" y="2409267"/>
              <a:ext cx="530086" cy="2111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3D20C38-D02C-2A71-2C3F-AD3F4D12D1EC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 bwMode="auto">
            <a:xfrm flipH="1">
              <a:off x="1088886" y="3382407"/>
              <a:ext cx="357810" cy="21114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E2BF44D-FA5F-1472-900D-9C71A238ED8D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 bwMode="auto">
            <a:xfrm>
              <a:off x="1446696" y="3382407"/>
              <a:ext cx="832953" cy="23322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6D844C7-1B00-9067-D95F-7D3F7AD64BCB}"/>
                </a:ext>
              </a:extLst>
            </p:cNvPr>
            <p:cNvCxnSpPr>
              <a:cxnSpLocks/>
              <a:stCxn id="9" idx="2"/>
              <a:endCxn id="12" idx="0"/>
            </p:cNvCxnSpPr>
            <p:nvPr/>
          </p:nvCxnSpPr>
          <p:spPr bwMode="auto">
            <a:xfrm>
              <a:off x="2650433" y="3382407"/>
              <a:ext cx="716584" cy="2111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AC67B00-1859-AC92-01E7-9E052A99FB90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 bwMode="auto">
            <a:xfrm flipH="1">
              <a:off x="650736" y="4355548"/>
              <a:ext cx="438150" cy="24937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FBA5127-AA82-CE53-9894-BB0CC286F55D}"/>
                </a:ext>
              </a:extLst>
            </p:cNvPr>
            <p:cNvCxnSpPr>
              <a:cxnSpLocks/>
              <a:stCxn id="10" idx="2"/>
              <a:endCxn id="14" idx="0"/>
            </p:cNvCxnSpPr>
            <p:nvPr/>
          </p:nvCxnSpPr>
          <p:spPr bwMode="auto">
            <a:xfrm>
              <a:off x="1088886" y="4355548"/>
              <a:ext cx="685247" cy="24937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986AA7-C6E0-7ADB-33CB-DBC4AA1B30AF}"/>
                </a:ext>
              </a:extLst>
            </p:cNvPr>
            <p:cNvCxnSpPr>
              <a:cxnSpLocks/>
              <a:stCxn id="14" idx="2"/>
              <a:endCxn id="16" idx="0"/>
            </p:cNvCxnSpPr>
            <p:nvPr/>
          </p:nvCxnSpPr>
          <p:spPr bwMode="auto">
            <a:xfrm flipH="1">
              <a:off x="1033946" y="5366920"/>
              <a:ext cx="740187" cy="21114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7AEEF62-C8B9-0FF9-AF3E-181E12F68835}"/>
                </a:ext>
              </a:extLst>
            </p:cNvPr>
            <p:cNvCxnSpPr>
              <a:cxnSpLocks/>
              <a:stCxn id="14" idx="2"/>
              <a:endCxn id="17" idx="0"/>
            </p:cNvCxnSpPr>
            <p:nvPr/>
          </p:nvCxnSpPr>
          <p:spPr bwMode="auto">
            <a:xfrm>
              <a:off x="1774133" y="5366920"/>
              <a:ext cx="499166" cy="21114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B391E8D-804B-1B9F-ED77-65A076AD2A20}"/>
                </a:ext>
              </a:extLst>
            </p:cNvPr>
            <p:cNvCxnSpPr>
              <a:cxnSpLocks/>
              <a:stCxn id="11" idx="2"/>
              <a:endCxn id="5" idx="0"/>
            </p:cNvCxnSpPr>
            <p:nvPr/>
          </p:nvCxnSpPr>
          <p:spPr bwMode="auto">
            <a:xfrm>
              <a:off x="2279649" y="4377635"/>
              <a:ext cx="732300" cy="38037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78D5FF5-DA93-8B6F-DF3F-8F611CB5453A}"/>
                </a:ext>
              </a:extLst>
            </p:cNvPr>
            <p:cNvCxnSpPr>
              <a:cxnSpLocks/>
              <a:stCxn id="12" idx="2"/>
              <a:endCxn id="15" idx="0"/>
            </p:cNvCxnSpPr>
            <p:nvPr/>
          </p:nvCxnSpPr>
          <p:spPr bwMode="auto">
            <a:xfrm>
              <a:off x="3367017" y="4355547"/>
              <a:ext cx="592463" cy="46051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9C31154-B49C-E731-09EF-4D68452D9DEE}"/>
              </a:ext>
            </a:extLst>
          </p:cNvPr>
          <p:cNvSpPr txBox="1"/>
          <p:nvPr/>
        </p:nvSpPr>
        <p:spPr>
          <a:xfrm>
            <a:off x="254001" y="1485587"/>
            <a:ext cx="6054532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b="1" dirty="0">
                <a:solidFill>
                  <a:schemeClr val="bg2"/>
                </a:solidFill>
                <a:latin typeface="+mj-ea"/>
                <a:ea typeface="+mj-ea"/>
              </a:rPr>
              <a:t>类Unix系统</a:t>
            </a:r>
            <a:r>
              <a:rPr lang="zh-CN" altLang="en-US" b="1" dirty="0">
                <a:solidFill>
                  <a:schemeClr val="bg2"/>
                </a:solidFill>
                <a:latin typeface="+mj-ea"/>
                <a:ea typeface="+mj-ea"/>
              </a:rPr>
              <a:t>（</a:t>
            </a:r>
            <a:r>
              <a:rPr lang="en-US" altLang="zh-CN" b="1" dirty="0">
                <a:solidFill>
                  <a:schemeClr val="bg2"/>
                </a:solidFill>
                <a:latin typeface="+mj-ea"/>
                <a:ea typeface="+mj-ea"/>
              </a:rPr>
              <a:t>macOS</a:t>
            </a:r>
            <a:r>
              <a:rPr lang="zh-CN" altLang="en-US" b="1" dirty="0">
                <a:solidFill>
                  <a:schemeClr val="bg2"/>
                </a:solidFill>
                <a:latin typeface="+mj-ea"/>
                <a:ea typeface="+mj-ea"/>
              </a:rPr>
              <a:t>、</a:t>
            </a:r>
            <a:r>
              <a:rPr lang="en-US" altLang="zh-CN" b="1" dirty="0">
                <a:solidFill>
                  <a:schemeClr val="bg2"/>
                </a:solidFill>
                <a:latin typeface="+mj-ea"/>
                <a:ea typeface="+mj-ea"/>
              </a:rPr>
              <a:t>Linux</a:t>
            </a:r>
            <a:r>
              <a:rPr lang="zh-CN" altLang="en-US" b="1" dirty="0">
                <a:solidFill>
                  <a:schemeClr val="bg2"/>
                </a:solidFill>
                <a:latin typeface="+mj-ea"/>
                <a:ea typeface="+mj-ea"/>
              </a:rPr>
              <a:t>）</a:t>
            </a:r>
            <a:endParaRPr lang="en-CN" b="1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021E4B-D1D4-2868-18B4-7BD90AD3A204}"/>
              </a:ext>
            </a:extLst>
          </p:cNvPr>
          <p:cNvSpPr txBox="1"/>
          <p:nvPr/>
        </p:nvSpPr>
        <p:spPr>
          <a:xfrm>
            <a:off x="3130896" y="2290752"/>
            <a:ext cx="1787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b="1" dirty="0">
                <a:solidFill>
                  <a:schemeClr val="accent2"/>
                </a:solidFill>
                <a:latin typeface="+mj-ea"/>
                <a:ea typeface="+mj-ea"/>
              </a:rPr>
              <a:t>根目录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2B88D22-F3F4-967F-330D-9EDAFF85E510}"/>
              </a:ext>
            </a:extLst>
          </p:cNvPr>
          <p:cNvGrpSpPr/>
          <p:nvPr/>
        </p:nvGrpSpPr>
        <p:grpSpPr>
          <a:xfrm>
            <a:off x="5958115" y="2229050"/>
            <a:ext cx="2251478" cy="4048379"/>
            <a:chOff x="4335402" y="2161241"/>
            <a:chExt cx="1993953" cy="3952769"/>
          </a:xfrm>
        </p:grpSpPr>
        <p:pic>
          <p:nvPicPr>
            <p:cNvPr id="55" name="Picture 54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BB997E18-24B3-758A-5700-B387C2402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45080" y="2161241"/>
              <a:ext cx="722587" cy="611124"/>
            </a:xfrm>
            <a:prstGeom prst="rect">
              <a:avLst/>
            </a:prstGeom>
          </p:spPr>
        </p:pic>
        <p:pic>
          <p:nvPicPr>
            <p:cNvPr id="56" name="Picture 55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1B2D5077-CD62-EAAD-BD86-23AB75D35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09580" y="3171862"/>
              <a:ext cx="722587" cy="611124"/>
            </a:xfrm>
            <a:prstGeom prst="rect">
              <a:avLst/>
            </a:prstGeom>
          </p:spPr>
        </p:pic>
        <p:pic>
          <p:nvPicPr>
            <p:cNvPr id="57" name="Picture 56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7101EEAA-1CE0-3C41-2C61-71ACE5C12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6768" y="3214967"/>
              <a:ext cx="722587" cy="611124"/>
            </a:xfrm>
            <a:prstGeom prst="rect">
              <a:avLst/>
            </a:prstGeom>
          </p:spPr>
        </p:pic>
        <p:pic>
          <p:nvPicPr>
            <p:cNvPr id="58" name="Picture 57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AA8F4825-E959-5129-9AD1-25325DAB4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5402" y="4132682"/>
              <a:ext cx="722587" cy="611124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1C226CE-80D8-78C7-2073-7A33D5892210}"/>
                </a:ext>
              </a:extLst>
            </p:cNvPr>
            <p:cNvSpPr txBox="1"/>
            <p:nvPr/>
          </p:nvSpPr>
          <p:spPr>
            <a:xfrm>
              <a:off x="5108855" y="2237827"/>
              <a:ext cx="595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</a:rPr>
                <a:t>C:\</a:t>
              </a:r>
              <a:endParaRPr lang="en-CN" b="1" dirty="0">
                <a:solidFill>
                  <a:schemeClr val="bg2"/>
                </a:solidFill>
              </a:endParaRP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A50476C-C1AE-D40E-3A9B-0A0AF8594309}"/>
                </a:ext>
              </a:extLst>
            </p:cNvPr>
            <p:cNvCxnSpPr>
              <a:cxnSpLocks/>
              <a:stCxn id="55" idx="2"/>
              <a:endCxn id="56" idx="0"/>
            </p:cNvCxnSpPr>
            <p:nvPr/>
          </p:nvCxnSpPr>
          <p:spPr bwMode="auto">
            <a:xfrm flipH="1">
              <a:off x="4870874" y="2772365"/>
              <a:ext cx="535500" cy="39949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E4403EE-A771-5487-73C6-6FCBC09A258D}"/>
                </a:ext>
              </a:extLst>
            </p:cNvPr>
            <p:cNvCxnSpPr>
              <a:cxnSpLocks/>
              <a:stCxn id="55" idx="2"/>
              <a:endCxn id="57" idx="0"/>
            </p:cNvCxnSpPr>
            <p:nvPr/>
          </p:nvCxnSpPr>
          <p:spPr bwMode="auto">
            <a:xfrm>
              <a:off x="5406374" y="2772365"/>
              <a:ext cx="561688" cy="44260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5C37DA6-F730-0FA3-3FF1-07A0C75590CB}"/>
                </a:ext>
              </a:extLst>
            </p:cNvPr>
            <p:cNvCxnSpPr>
              <a:cxnSpLocks/>
              <a:stCxn id="56" idx="2"/>
              <a:endCxn id="58" idx="0"/>
            </p:cNvCxnSpPr>
            <p:nvPr/>
          </p:nvCxnSpPr>
          <p:spPr bwMode="auto">
            <a:xfrm flipH="1">
              <a:off x="4696696" y="3782986"/>
              <a:ext cx="174178" cy="34969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1" name="Picture 90" descr="A white paper with black text&#10;&#10;AI-generated content may be incorrect.">
              <a:extLst>
                <a:ext uri="{FF2B5EF4-FFF2-40B4-BE49-F238E27FC236}">
                  <a16:creationId xmlns:a16="http://schemas.microsoft.com/office/drawing/2014/main" id="{E90585BB-0337-61D6-1B44-3D394F312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3192" y="5071669"/>
              <a:ext cx="680698" cy="1042341"/>
            </a:xfrm>
            <a:prstGeom prst="rect">
              <a:avLst/>
            </a:prstGeom>
          </p:spPr>
        </p:pic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8E54C77-C9C4-FD8F-5A2B-069E8792B277}"/>
                </a:ext>
              </a:extLst>
            </p:cNvPr>
            <p:cNvCxnSpPr>
              <a:cxnSpLocks/>
              <a:stCxn id="58" idx="2"/>
              <a:endCxn id="91" idx="0"/>
            </p:cNvCxnSpPr>
            <p:nvPr/>
          </p:nvCxnSpPr>
          <p:spPr bwMode="auto">
            <a:xfrm>
              <a:off x="4696696" y="4743806"/>
              <a:ext cx="666845" cy="32786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3" name="Picture 102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04244DE4-5825-82DC-4669-3AAF0AABA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61383" y="4142810"/>
              <a:ext cx="722587" cy="611124"/>
            </a:xfrm>
            <a:prstGeom prst="rect">
              <a:avLst/>
            </a:prstGeom>
          </p:spPr>
        </p:pic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6F7D408-9A7D-272A-BAAF-BCA9CA4A0713}"/>
                </a:ext>
              </a:extLst>
            </p:cNvPr>
            <p:cNvCxnSpPr>
              <a:cxnSpLocks/>
              <a:stCxn id="57" idx="2"/>
              <a:endCxn id="103" idx="0"/>
            </p:cNvCxnSpPr>
            <p:nvPr/>
          </p:nvCxnSpPr>
          <p:spPr bwMode="auto">
            <a:xfrm flipH="1">
              <a:off x="5722677" y="3826091"/>
              <a:ext cx="245385" cy="31671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06B3752-5BD6-832B-D7D4-5A952A30C1D6}"/>
              </a:ext>
            </a:extLst>
          </p:cNvPr>
          <p:cNvGrpSpPr/>
          <p:nvPr/>
        </p:nvGrpSpPr>
        <p:grpSpPr>
          <a:xfrm>
            <a:off x="8755095" y="2204783"/>
            <a:ext cx="2448819" cy="4072646"/>
            <a:chOff x="6396855" y="2161241"/>
            <a:chExt cx="2376702" cy="3952770"/>
          </a:xfrm>
        </p:grpSpPr>
        <p:pic>
          <p:nvPicPr>
            <p:cNvPr id="59" name="Picture 58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B8F3E465-CF6B-4996-2F57-0FFA657EC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20242" y="2161241"/>
              <a:ext cx="722587" cy="611124"/>
            </a:xfrm>
            <a:prstGeom prst="rect">
              <a:avLst/>
            </a:prstGeom>
          </p:spPr>
        </p:pic>
        <p:pic>
          <p:nvPicPr>
            <p:cNvPr id="60" name="Picture 59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8AE6EC16-F5D3-CCB6-8AA0-0AB37B168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7762" y="3213085"/>
              <a:ext cx="722587" cy="611124"/>
            </a:xfrm>
            <a:prstGeom prst="rect">
              <a:avLst/>
            </a:prstGeom>
          </p:spPr>
        </p:pic>
        <p:pic>
          <p:nvPicPr>
            <p:cNvPr id="61" name="Picture 60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C897A4E9-9A2B-08F2-CBFD-09882D5BD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949" y="3171862"/>
              <a:ext cx="722587" cy="611124"/>
            </a:xfrm>
            <a:prstGeom prst="rect">
              <a:avLst/>
            </a:prstGeom>
          </p:spPr>
        </p:pic>
        <p:pic>
          <p:nvPicPr>
            <p:cNvPr id="62" name="Picture 61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6170951B-0023-066F-72D1-133F236E6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6855" y="4146966"/>
              <a:ext cx="722587" cy="611124"/>
            </a:xfrm>
            <a:prstGeom prst="rect">
              <a:avLst/>
            </a:prstGeom>
          </p:spPr>
        </p:pic>
        <p:pic>
          <p:nvPicPr>
            <p:cNvPr id="63" name="Picture 62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D4F3AC35-C34A-4A05-D6E0-60C54B3CF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50970" y="4132682"/>
              <a:ext cx="722587" cy="61112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A120880-C5DA-5064-3DBE-4754782A4F1E}"/>
                </a:ext>
              </a:extLst>
            </p:cNvPr>
            <p:cNvSpPr txBox="1"/>
            <p:nvPr/>
          </p:nvSpPr>
          <p:spPr>
            <a:xfrm>
              <a:off x="6997355" y="2235970"/>
              <a:ext cx="595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</a:rPr>
                <a:t>D:\</a:t>
              </a:r>
              <a:endParaRPr lang="en-CN" b="1" dirty="0">
                <a:solidFill>
                  <a:schemeClr val="bg2"/>
                </a:solidFill>
              </a:endParaRP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A50476C-C1AE-D40E-3A9B-0A0AF8594309}"/>
                </a:ext>
              </a:extLst>
            </p:cNvPr>
            <p:cNvCxnSpPr>
              <a:cxnSpLocks/>
              <a:stCxn id="65" idx="2"/>
              <a:endCxn id="60" idx="0"/>
            </p:cNvCxnSpPr>
            <p:nvPr/>
          </p:nvCxnSpPr>
          <p:spPr bwMode="auto">
            <a:xfrm flipH="1">
              <a:off x="7109056" y="2697635"/>
              <a:ext cx="185817" cy="51545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669FE79-9523-89D5-0833-304357903C01}"/>
                </a:ext>
              </a:extLst>
            </p:cNvPr>
            <p:cNvCxnSpPr>
              <a:cxnSpLocks/>
              <a:stCxn id="60" idx="2"/>
              <a:endCxn id="62" idx="0"/>
            </p:cNvCxnSpPr>
            <p:nvPr/>
          </p:nvCxnSpPr>
          <p:spPr bwMode="auto">
            <a:xfrm flipH="1">
              <a:off x="6758149" y="3824209"/>
              <a:ext cx="350907" cy="32275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F1B00C9-C4A0-4191-0974-867A7F00F66F}"/>
                </a:ext>
              </a:extLst>
            </p:cNvPr>
            <p:cNvCxnSpPr>
              <a:cxnSpLocks/>
              <a:stCxn id="65" idx="2"/>
              <a:endCxn id="61" idx="0"/>
            </p:cNvCxnSpPr>
            <p:nvPr/>
          </p:nvCxnSpPr>
          <p:spPr bwMode="auto">
            <a:xfrm>
              <a:off x="7294873" y="2697635"/>
              <a:ext cx="819370" cy="47422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7250E6C-E8BF-6FC6-47E7-ECED36439E4D}"/>
                </a:ext>
              </a:extLst>
            </p:cNvPr>
            <p:cNvCxnSpPr>
              <a:cxnSpLocks/>
              <a:stCxn id="61" idx="2"/>
              <a:endCxn id="63" idx="0"/>
            </p:cNvCxnSpPr>
            <p:nvPr/>
          </p:nvCxnSpPr>
          <p:spPr bwMode="auto">
            <a:xfrm>
              <a:off x="8114243" y="3782986"/>
              <a:ext cx="298021" cy="34969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2" name="Picture 91" descr="A white paper with black text&#10;&#10;AI-generated content may be incorrect.">
              <a:extLst>
                <a:ext uri="{FF2B5EF4-FFF2-40B4-BE49-F238E27FC236}">
                  <a16:creationId xmlns:a16="http://schemas.microsoft.com/office/drawing/2014/main" id="{825332BF-E7EE-B8BA-FACD-267761AAF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9893" y="5071670"/>
              <a:ext cx="680698" cy="1042341"/>
            </a:xfrm>
            <a:prstGeom prst="rect">
              <a:avLst/>
            </a:prstGeom>
          </p:spPr>
        </p:pic>
        <p:pic>
          <p:nvPicPr>
            <p:cNvPr id="93" name="Picture 92" descr="A white paper with black text&#10;&#10;AI-generated content may be incorrect.">
              <a:extLst>
                <a:ext uri="{FF2B5EF4-FFF2-40B4-BE49-F238E27FC236}">
                  <a16:creationId xmlns:a16="http://schemas.microsoft.com/office/drawing/2014/main" id="{378DBAA7-46D1-2B9F-FF7F-7017EFF0B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5443" y="5071670"/>
              <a:ext cx="680698" cy="1042341"/>
            </a:xfrm>
            <a:prstGeom prst="rect">
              <a:avLst/>
            </a:prstGeom>
          </p:spPr>
        </p:pic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2DF2905-0267-461A-E0D1-7FD3D11CA2C1}"/>
                </a:ext>
              </a:extLst>
            </p:cNvPr>
            <p:cNvCxnSpPr>
              <a:cxnSpLocks/>
              <a:stCxn id="62" idx="2"/>
              <a:endCxn id="92" idx="0"/>
            </p:cNvCxnSpPr>
            <p:nvPr/>
          </p:nvCxnSpPr>
          <p:spPr bwMode="auto">
            <a:xfrm>
              <a:off x="6758149" y="4758090"/>
              <a:ext cx="162093" cy="31358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2761E8B-62BA-1DD6-B0AD-16CBDF4DA6F0}"/>
                </a:ext>
              </a:extLst>
            </p:cNvPr>
            <p:cNvCxnSpPr>
              <a:cxnSpLocks/>
              <a:stCxn id="63" idx="2"/>
              <a:endCxn id="93" idx="0"/>
            </p:cNvCxnSpPr>
            <p:nvPr/>
          </p:nvCxnSpPr>
          <p:spPr bwMode="auto">
            <a:xfrm flipH="1">
              <a:off x="8075792" y="4743806"/>
              <a:ext cx="336472" cy="32786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7" name="Picture 106" descr="A yellow folder with a white page&#10;&#10;AI-generated content may be incorrect.">
              <a:extLst>
                <a:ext uri="{FF2B5EF4-FFF2-40B4-BE49-F238E27FC236}">
                  <a16:creationId xmlns:a16="http://schemas.microsoft.com/office/drawing/2014/main" id="{AC27EDE3-E3B3-7C04-4CDA-421586195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60591" y="4142377"/>
              <a:ext cx="722587" cy="611124"/>
            </a:xfrm>
            <a:prstGeom prst="rect">
              <a:avLst/>
            </a:prstGeom>
          </p:spPr>
        </p:pic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DDF9FD0-544B-ACF2-9B8E-EA937E6E03C8}"/>
                </a:ext>
              </a:extLst>
            </p:cNvPr>
            <p:cNvCxnSpPr>
              <a:cxnSpLocks/>
              <a:stCxn id="61" idx="2"/>
              <a:endCxn id="107" idx="0"/>
            </p:cNvCxnSpPr>
            <p:nvPr/>
          </p:nvCxnSpPr>
          <p:spPr bwMode="auto">
            <a:xfrm flipH="1">
              <a:off x="7621885" y="3782986"/>
              <a:ext cx="492358" cy="35939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4E3783D-4D30-FBE7-43A0-8929A6B79F85}"/>
              </a:ext>
            </a:extLst>
          </p:cNvPr>
          <p:cNvSpPr txBox="1"/>
          <p:nvPr/>
        </p:nvSpPr>
        <p:spPr>
          <a:xfrm>
            <a:off x="6151237" y="1507312"/>
            <a:ext cx="4784531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b="1" dirty="0">
                <a:solidFill>
                  <a:schemeClr val="bg2"/>
                </a:solidFill>
                <a:latin typeface="+mj-ea"/>
                <a:ea typeface="+mj-ea"/>
              </a:rPr>
              <a:t>Windows系统</a:t>
            </a:r>
          </a:p>
        </p:txBody>
      </p:sp>
    </p:spTree>
    <p:extLst>
      <p:ext uri="{BB962C8B-B14F-4D97-AF65-F5344CB8AC3E}">
        <p14:creationId xmlns:p14="http://schemas.microsoft.com/office/powerpoint/2010/main" val="311269091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16BBB-13DA-DA8F-6F34-6C5423DE1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F1CEACC-31E3-EF2C-02AA-7EA3C1F67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一、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文件操作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1EF75-A530-84EA-9CB8-8151E9B4A5CB}"/>
              </a:ext>
            </a:extLst>
          </p:cNvPr>
          <p:cNvSpPr txBox="1"/>
          <p:nvPr/>
        </p:nvSpPr>
        <p:spPr>
          <a:xfrm>
            <a:off x="399142" y="1062493"/>
            <a:ext cx="9509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文件目录系统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E4053A-687D-0B8D-431C-E741D9F77130}"/>
              </a:ext>
            </a:extLst>
          </p:cNvPr>
          <p:cNvSpPr txBox="1"/>
          <p:nvPr/>
        </p:nvSpPr>
        <p:spPr>
          <a:xfrm>
            <a:off x="476819" y="1988792"/>
            <a:ext cx="7386460" cy="404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1. </a:t>
            </a:r>
            <a:r>
              <a:rPr lang="zh-CN" altLang="en-US" sz="3200" b="1" dirty="0">
                <a:solidFill>
                  <a:schemeClr val="bg1"/>
                </a:solidFill>
                <a:latin typeface="+mj-ea"/>
                <a:ea typeface="+mj-ea"/>
              </a:rPr>
              <a:t>绝对路径</a:t>
            </a:r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：以根目录为基准的路径</a:t>
            </a:r>
            <a:r>
              <a:rPr lang="en-US" altLang="zh-CN" sz="3600" dirty="0">
                <a:solidFill>
                  <a:schemeClr val="bg2"/>
                </a:solidFill>
                <a:latin typeface="+mj-ea"/>
                <a:ea typeface="+mj-ea"/>
              </a:rPr>
              <a:t>(</a:t>
            </a:r>
            <a:r>
              <a:rPr lang="en-US" altLang="zh-CN" sz="2800" b="1" dirty="0">
                <a:solidFill>
                  <a:schemeClr val="accent2"/>
                </a:solidFill>
                <a:latin typeface="+mj-ea"/>
                <a:ea typeface="+mj-ea"/>
              </a:rPr>
              <a:t>C:\</a:t>
            </a:r>
            <a:r>
              <a:rPr lang="zh-CN" altLang="en-US" sz="2800" b="1" dirty="0">
                <a:solidFill>
                  <a:schemeClr val="accent2"/>
                </a:solidFill>
                <a:latin typeface="+mj-ea"/>
                <a:ea typeface="+mj-ea"/>
              </a:rPr>
              <a:t>编程基础</a:t>
            </a:r>
            <a:r>
              <a:rPr lang="en-US" altLang="zh-CN" sz="2800" b="1" dirty="0">
                <a:solidFill>
                  <a:schemeClr val="accent2"/>
                </a:solidFill>
                <a:latin typeface="+mj-ea"/>
                <a:ea typeface="+mj-ea"/>
              </a:rPr>
              <a:t>\Data\</a:t>
            </a:r>
            <a:r>
              <a:rPr lang="en-US" altLang="zh-CN" sz="2800" b="1" dirty="0" err="1">
                <a:solidFill>
                  <a:schemeClr val="accent2"/>
                </a:solidFill>
                <a:latin typeface="+mj-ea"/>
                <a:ea typeface="+mj-ea"/>
              </a:rPr>
              <a:t>file.txt</a:t>
            </a:r>
            <a:r>
              <a:rPr lang="en-US" altLang="zh-CN" sz="3600" dirty="0">
                <a:solidFill>
                  <a:schemeClr val="bg2"/>
                </a:solidFill>
                <a:latin typeface="+mj-ea"/>
                <a:ea typeface="+mj-ea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2.</a:t>
            </a:r>
            <a:r>
              <a:rPr lang="zh-CN" altLang="en-US" sz="32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CN" sz="3200" b="1" dirty="0">
                <a:solidFill>
                  <a:schemeClr val="bg1"/>
                </a:solidFill>
                <a:latin typeface="+mj-ea"/>
                <a:ea typeface="+mj-ea"/>
              </a:rPr>
              <a:t>相对路径</a:t>
            </a:r>
            <a:r>
              <a:rPr lang="en-CN" sz="3200" dirty="0">
                <a:solidFill>
                  <a:schemeClr val="bg2"/>
                </a:solidFill>
                <a:latin typeface="+mj-ea"/>
                <a:ea typeface="+mj-ea"/>
              </a:rPr>
              <a:t>: 以参考位置为基准的路径</a:t>
            </a:r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（以“编程基础”文件夹为参考：</a:t>
            </a:r>
            <a:r>
              <a:rPr lang="en-US" altLang="zh-CN" sz="2800" b="1" dirty="0">
                <a:solidFill>
                  <a:schemeClr val="accent2"/>
                </a:solidFill>
                <a:latin typeface="+mj-ea"/>
                <a:ea typeface="+mj-ea"/>
              </a:rPr>
              <a:t>Data/</a:t>
            </a:r>
            <a:r>
              <a:rPr lang="en-US" altLang="zh-CN" sz="2800" b="1" dirty="0" err="1">
                <a:solidFill>
                  <a:schemeClr val="accent2"/>
                </a:solidFill>
                <a:latin typeface="+mj-ea"/>
                <a:ea typeface="+mj-ea"/>
              </a:rPr>
              <a:t>file.txt</a:t>
            </a:r>
            <a:r>
              <a:rPr lang="en-US" altLang="zh-CN" sz="2800" b="1" dirty="0">
                <a:solidFill>
                  <a:schemeClr val="accent2"/>
                </a:solidFill>
                <a:latin typeface="+mj-ea"/>
                <a:ea typeface="+mj-ea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+mj-ea"/>
                <a:ea typeface="+mj-ea"/>
              </a:rPr>
              <a:t>或 </a:t>
            </a:r>
            <a:r>
              <a:rPr lang="en-US" altLang="zh-CN" sz="2800" b="1" dirty="0">
                <a:solidFill>
                  <a:schemeClr val="accent2"/>
                </a:solidFill>
                <a:latin typeface="+mj-ea"/>
                <a:ea typeface="+mj-ea"/>
              </a:rPr>
              <a:t>./Data/file.txt </a:t>
            </a:r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）</a:t>
            </a:r>
            <a:endParaRPr lang="en-CN" sz="28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CE02535-3906-8FD1-F888-DA83CF647882}"/>
              </a:ext>
            </a:extLst>
          </p:cNvPr>
          <p:cNvGrpSpPr/>
          <p:nvPr/>
        </p:nvGrpSpPr>
        <p:grpSpPr>
          <a:xfrm>
            <a:off x="8238805" y="1161040"/>
            <a:ext cx="3526971" cy="5522789"/>
            <a:chOff x="7399323" y="1647268"/>
            <a:chExt cx="3138048" cy="512231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A79477-53AB-DC3A-AAE2-3731D4BB1BD6}"/>
                </a:ext>
              </a:extLst>
            </p:cNvPr>
            <p:cNvGrpSpPr/>
            <p:nvPr/>
          </p:nvGrpSpPr>
          <p:grpSpPr>
            <a:xfrm>
              <a:off x="7399323" y="1647268"/>
              <a:ext cx="3138048" cy="5122319"/>
              <a:chOff x="4335402" y="2161241"/>
              <a:chExt cx="1993953" cy="3952769"/>
            </a:xfrm>
          </p:grpSpPr>
          <p:pic>
            <p:nvPicPr>
              <p:cNvPr id="6" name="Picture 5" descr="A yellow folder with a white page&#10;&#10;AI-generated content may be incorrect.">
                <a:extLst>
                  <a:ext uri="{FF2B5EF4-FFF2-40B4-BE49-F238E27FC236}">
                    <a16:creationId xmlns:a16="http://schemas.microsoft.com/office/drawing/2014/main" id="{4BC03E18-5E6C-7584-DB65-F972276368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5080" y="2161241"/>
                <a:ext cx="722587" cy="611124"/>
              </a:xfrm>
              <a:prstGeom prst="rect">
                <a:avLst/>
              </a:prstGeom>
            </p:spPr>
          </p:pic>
          <p:pic>
            <p:nvPicPr>
              <p:cNvPr id="19" name="Picture 18" descr="A yellow folder with a white page&#10;&#10;AI-generated content may be incorrect.">
                <a:extLst>
                  <a:ext uri="{FF2B5EF4-FFF2-40B4-BE49-F238E27FC236}">
                    <a16:creationId xmlns:a16="http://schemas.microsoft.com/office/drawing/2014/main" id="{7399CDB5-EDB8-1A29-B223-6554A01216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09580" y="3171862"/>
                <a:ext cx="722587" cy="611124"/>
              </a:xfrm>
              <a:prstGeom prst="rect">
                <a:avLst/>
              </a:prstGeom>
            </p:spPr>
          </p:pic>
          <p:pic>
            <p:nvPicPr>
              <p:cNvPr id="22" name="Picture 21" descr="A yellow folder with a white page&#10;&#10;AI-generated content may be incorrect.">
                <a:extLst>
                  <a:ext uri="{FF2B5EF4-FFF2-40B4-BE49-F238E27FC236}">
                    <a16:creationId xmlns:a16="http://schemas.microsoft.com/office/drawing/2014/main" id="{8A05EC4C-5D16-8F81-5E44-642576E688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06768" y="3214967"/>
                <a:ext cx="722587" cy="611124"/>
              </a:xfrm>
              <a:prstGeom prst="rect">
                <a:avLst/>
              </a:prstGeom>
            </p:spPr>
          </p:pic>
          <p:pic>
            <p:nvPicPr>
              <p:cNvPr id="23" name="Picture 22" descr="A yellow folder with a white page&#10;&#10;AI-generated content may be incorrect.">
                <a:extLst>
                  <a:ext uri="{FF2B5EF4-FFF2-40B4-BE49-F238E27FC236}">
                    <a16:creationId xmlns:a16="http://schemas.microsoft.com/office/drawing/2014/main" id="{16E08C31-F105-CDFD-3A1E-3BC62B1ADD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5402" y="4132682"/>
                <a:ext cx="722587" cy="611124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03850D0-5687-36F6-1825-E661A453F6AA}"/>
                  </a:ext>
                </a:extLst>
              </p:cNvPr>
              <p:cNvSpPr txBox="1"/>
              <p:nvPr/>
            </p:nvSpPr>
            <p:spPr>
              <a:xfrm>
                <a:off x="5108855" y="2263027"/>
                <a:ext cx="658812" cy="330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</a:rPr>
                  <a:t>C:\</a:t>
                </a:r>
                <a:endParaRPr lang="en-CN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D17690B-A9F9-DB88-B536-A6E2FCC73C02}"/>
                  </a:ext>
                </a:extLst>
              </p:cNvPr>
              <p:cNvCxnSpPr>
                <a:cxnSpLocks/>
                <a:stCxn id="6" idx="2"/>
                <a:endCxn id="19" idx="0"/>
              </p:cNvCxnSpPr>
              <p:nvPr/>
            </p:nvCxnSpPr>
            <p:spPr bwMode="auto">
              <a:xfrm flipH="1">
                <a:off x="4870874" y="2772365"/>
                <a:ext cx="535500" cy="399497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936A1DE-1794-9F4D-3FD3-A2E6E583E98D}"/>
                  </a:ext>
                </a:extLst>
              </p:cNvPr>
              <p:cNvCxnSpPr>
                <a:cxnSpLocks/>
                <a:stCxn id="6" idx="2"/>
                <a:endCxn id="22" idx="0"/>
              </p:cNvCxnSpPr>
              <p:nvPr/>
            </p:nvCxnSpPr>
            <p:spPr bwMode="auto">
              <a:xfrm>
                <a:off x="5406374" y="2772365"/>
                <a:ext cx="561688" cy="44260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B2734F3-08BA-D4FA-58B2-CA8B778211EB}"/>
                  </a:ext>
                </a:extLst>
              </p:cNvPr>
              <p:cNvCxnSpPr>
                <a:cxnSpLocks/>
                <a:stCxn id="19" idx="2"/>
                <a:endCxn id="23" idx="0"/>
              </p:cNvCxnSpPr>
              <p:nvPr/>
            </p:nvCxnSpPr>
            <p:spPr bwMode="auto">
              <a:xfrm flipH="1">
                <a:off x="4696696" y="3782986"/>
                <a:ext cx="174178" cy="349696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1" name="Picture 30" descr="A white paper with black text&#10;&#10;AI-generated content may be incorrect.">
                <a:extLst>
                  <a:ext uri="{FF2B5EF4-FFF2-40B4-BE49-F238E27FC236}">
                    <a16:creationId xmlns:a16="http://schemas.microsoft.com/office/drawing/2014/main" id="{BDF7AA1B-C519-31E1-0CAB-FE5EF0A52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3192" y="5071669"/>
                <a:ext cx="680698" cy="1042341"/>
              </a:xfrm>
              <a:prstGeom prst="rect">
                <a:avLst/>
              </a:prstGeom>
            </p:spPr>
          </p:pic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17FB9AF-8C0E-83E4-8555-CF35A31E4E0E}"/>
                  </a:ext>
                </a:extLst>
              </p:cNvPr>
              <p:cNvCxnSpPr>
                <a:cxnSpLocks/>
                <a:stCxn id="23" idx="2"/>
                <a:endCxn id="31" idx="0"/>
              </p:cNvCxnSpPr>
              <p:nvPr/>
            </p:nvCxnSpPr>
            <p:spPr bwMode="auto">
              <a:xfrm>
                <a:off x="4696696" y="4743806"/>
                <a:ext cx="666845" cy="327863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4" name="Picture 33" descr="A yellow folder with a white page&#10;&#10;AI-generated content may be incorrect.">
                <a:extLst>
                  <a:ext uri="{FF2B5EF4-FFF2-40B4-BE49-F238E27FC236}">
                    <a16:creationId xmlns:a16="http://schemas.microsoft.com/office/drawing/2014/main" id="{888A1879-5A58-C8E1-0E53-CDA9CA6BC8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1383" y="4142810"/>
                <a:ext cx="722587" cy="611124"/>
              </a:xfrm>
              <a:prstGeom prst="rect">
                <a:avLst/>
              </a:prstGeom>
            </p:spPr>
          </p:pic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7E1F34E-9CAA-929D-7F45-0FAF2FF55E23}"/>
                  </a:ext>
                </a:extLst>
              </p:cNvPr>
              <p:cNvCxnSpPr>
                <a:cxnSpLocks/>
                <a:stCxn id="22" idx="2"/>
                <a:endCxn id="34" idx="0"/>
              </p:cNvCxnSpPr>
              <p:nvPr/>
            </p:nvCxnSpPr>
            <p:spPr bwMode="auto">
              <a:xfrm flipH="1">
                <a:off x="5722677" y="3826091"/>
                <a:ext cx="245385" cy="31671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20FE7D5-F6EB-515F-94B9-E1D23549364C}"/>
                </a:ext>
              </a:extLst>
            </p:cNvPr>
            <p:cNvSpPr txBox="1"/>
            <p:nvPr/>
          </p:nvSpPr>
          <p:spPr>
            <a:xfrm>
              <a:off x="7633803" y="3202242"/>
              <a:ext cx="1257062" cy="371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+mn-ea"/>
                  <a:ea typeface="+mn-ea"/>
                </a:rPr>
                <a:t>编程基础</a:t>
              </a:r>
              <a:endParaRPr lang="en-CN" sz="20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311725-FDF2-B205-3972-CBF1BEB94F14}"/>
                </a:ext>
              </a:extLst>
            </p:cNvPr>
            <p:cNvSpPr txBox="1"/>
            <p:nvPr/>
          </p:nvSpPr>
          <p:spPr>
            <a:xfrm>
              <a:off x="7440582" y="4404500"/>
              <a:ext cx="1095937" cy="371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Data</a:t>
              </a:r>
              <a:endParaRPr lang="en-CN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4B680188-BCAD-F4F9-CFF7-8A1027E889B4}"/>
              </a:ext>
            </a:extLst>
          </p:cNvPr>
          <p:cNvSpPr txBox="1"/>
          <p:nvPr/>
        </p:nvSpPr>
        <p:spPr>
          <a:xfrm>
            <a:off x="6549073" y="1527127"/>
            <a:ext cx="2659703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DF"/>
                </a:solidFill>
              </a:rPr>
              <a:t>！尽量避免用中文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CAE6F5E-6B3B-714E-AC76-974BA47C9EE3}"/>
              </a:ext>
            </a:extLst>
          </p:cNvPr>
          <p:cNvCxnSpPr>
            <a:cxnSpLocks/>
            <a:endCxn id="7" idx="2"/>
          </p:cNvCxnSpPr>
          <p:nvPr/>
        </p:nvCxnSpPr>
        <p:spPr bwMode="auto">
          <a:xfrm flipH="1" flipV="1">
            <a:off x="7878925" y="1988792"/>
            <a:ext cx="688494" cy="94815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12273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058C-A47B-1106-11E3-5DE8EB32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76818BBF-8893-D2C7-D2EE-D7E3696EF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111" y="3788348"/>
            <a:ext cx="3492089" cy="123352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AA55081E-12AF-A15F-6E20-3A3E91A6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文件操作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5FBB75-C873-9630-9F82-9B9B22559887}"/>
              </a:ext>
            </a:extLst>
          </p:cNvPr>
          <p:cNvSpPr txBox="1"/>
          <p:nvPr/>
        </p:nvSpPr>
        <p:spPr>
          <a:xfrm>
            <a:off x="217714" y="931591"/>
            <a:ext cx="9824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文件打开模式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4AFA17-6E5E-2F58-E73B-77CBACAD0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015580"/>
              </p:ext>
            </p:extLst>
          </p:nvPr>
        </p:nvGraphicFramePr>
        <p:xfrm>
          <a:off x="4585111" y="1563041"/>
          <a:ext cx="6135454" cy="2072640"/>
        </p:xfrm>
        <a:graphic>
          <a:graphicData uri="http://schemas.openxmlformats.org/drawingml/2006/table">
            <a:tbl>
              <a:tblPr/>
              <a:tblGrid>
                <a:gridCol w="1785441">
                  <a:extLst>
                    <a:ext uri="{9D8B030D-6E8A-4147-A177-3AD203B41FA5}">
                      <a16:colId xmlns:a16="http://schemas.microsoft.com/office/drawing/2014/main" val="1226408210"/>
                    </a:ext>
                  </a:extLst>
                </a:gridCol>
                <a:gridCol w="4350013">
                  <a:extLst>
                    <a:ext uri="{9D8B030D-6E8A-4147-A177-3AD203B41FA5}">
                      <a16:colId xmlns:a16="http://schemas.microsoft.com/office/drawing/2014/main" val="3028672628"/>
                    </a:ext>
                  </a:extLst>
                </a:gridCol>
              </a:tblGrid>
              <a:tr h="4704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模式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描述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692963"/>
                  </a:ext>
                </a:extLst>
              </a:tr>
              <a:tr h="47042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只读（默认）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803602"/>
                  </a:ext>
                </a:extLst>
              </a:tr>
              <a:tr h="47042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w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写入（覆盖）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796635"/>
                  </a:ext>
                </a:extLst>
              </a:tr>
              <a:tr h="47042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追加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428852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8AC1881E-388E-2642-A072-0ABAD616593A}"/>
              </a:ext>
            </a:extLst>
          </p:cNvPr>
          <p:cNvGrpSpPr/>
          <p:nvPr/>
        </p:nvGrpSpPr>
        <p:grpSpPr>
          <a:xfrm>
            <a:off x="1098020" y="3788348"/>
            <a:ext cx="2366959" cy="1234479"/>
            <a:chOff x="218209" y="4202002"/>
            <a:chExt cx="2315336" cy="1092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0340C47-2142-6687-B0B5-73A79DE3ED4E}"/>
                </a:ext>
              </a:extLst>
            </p:cNvPr>
            <p:cNvSpPr/>
            <p:nvPr/>
          </p:nvSpPr>
          <p:spPr>
            <a:xfrm>
              <a:off x="218209" y="4202002"/>
              <a:ext cx="2315336" cy="109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DA4D21F-3AA4-7EB2-A603-06B4FFB69445}"/>
                </a:ext>
              </a:extLst>
            </p:cNvPr>
            <p:cNvSpPr txBox="1"/>
            <p:nvPr/>
          </p:nvSpPr>
          <p:spPr>
            <a:xfrm>
              <a:off x="328362" y="4517268"/>
              <a:ext cx="2095030" cy="408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b="1" dirty="0">
                  <a:solidFill>
                    <a:schemeClr val="bg2"/>
                  </a:solidFill>
                  <a:latin typeface="+mn-ea"/>
                  <a:ea typeface="+mn-ea"/>
                </a:rPr>
                <a:t>传统打开方式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71FC3A-2DB6-8E7C-6B3D-2E41112FBF88}"/>
              </a:ext>
            </a:extLst>
          </p:cNvPr>
          <p:cNvGrpSpPr/>
          <p:nvPr/>
        </p:nvGrpSpPr>
        <p:grpSpPr>
          <a:xfrm>
            <a:off x="1098020" y="5214484"/>
            <a:ext cx="2366960" cy="1177061"/>
            <a:chOff x="314672" y="5560687"/>
            <a:chExt cx="2315336" cy="10414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1BE0F3-6D7E-0FF7-42A0-6956455EC0DD}"/>
                </a:ext>
              </a:extLst>
            </p:cNvPr>
            <p:cNvSpPr/>
            <p:nvPr/>
          </p:nvSpPr>
          <p:spPr>
            <a:xfrm>
              <a:off x="314672" y="5560687"/>
              <a:ext cx="2315336" cy="1041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B43794-58A3-091B-8B1E-163D9FE90AA5}"/>
                </a:ext>
              </a:extLst>
            </p:cNvPr>
            <p:cNvSpPr txBox="1"/>
            <p:nvPr/>
          </p:nvSpPr>
          <p:spPr>
            <a:xfrm>
              <a:off x="332766" y="5731231"/>
              <a:ext cx="2297241" cy="735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  <a:latin typeface="+mn-ea"/>
                  <a:ea typeface="+mn-ea"/>
                </a:rPr>
                <a:t>w</a:t>
              </a:r>
              <a:r>
                <a:rPr lang="en-CN" b="1" dirty="0">
                  <a:solidFill>
                    <a:schemeClr val="bg2"/>
                  </a:solidFill>
                  <a:latin typeface="+mn-ea"/>
                  <a:ea typeface="+mn-ea"/>
                </a:rPr>
                <a:t>ith</a:t>
              </a:r>
              <a:r>
                <a:rPr lang="en-US" b="1" dirty="0">
                  <a:solidFill>
                    <a:schemeClr val="bg2"/>
                  </a:solidFill>
                  <a:latin typeface="+mn-ea"/>
                  <a:ea typeface="+mn-ea"/>
                </a:rPr>
                <a:t>…as…</a:t>
              </a:r>
              <a:r>
                <a:rPr lang="zh-CN" altLang="en-US" b="1" dirty="0">
                  <a:solidFill>
                    <a:schemeClr val="bg2"/>
                  </a:solidFill>
                  <a:latin typeface="+mn-ea"/>
                  <a:ea typeface="+mn-ea"/>
                </a:rPr>
                <a:t>方式</a:t>
              </a:r>
              <a:r>
                <a:rPr lang="en-US" altLang="zh-CN" b="1" dirty="0">
                  <a:solidFill>
                    <a:schemeClr val="bg2"/>
                  </a:solidFill>
                  <a:latin typeface="+mn-ea"/>
                  <a:ea typeface="+mn-ea"/>
                </a:rPr>
                <a:t>(</a:t>
              </a:r>
              <a:r>
                <a:rPr lang="zh-CN" altLang="en-US" b="1" dirty="0">
                  <a:solidFill>
                    <a:schemeClr val="bg2"/>
                  </a:solidFill>
                  <a:latin typeface="+mn-ea"/>
                  <a:ea typeface="+mn-ea"/>
                </a:rPr>
                <a:t>上下文管理</a:t>
              </a:r>
              <a:r>
                <a:rPr lang="en-US" altLang="zh-CN" b="1" dirty="0">
                  <a:solidFill>
                    <a:schemeClr val="bg2"/>
                  </a:solidFill>
                  <a:latin typeface="+mn-ea"/>
                  <a:ea typeface="+mn-ea"/>
                </a:rPr>
                <a:t>)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68AE6F-FE82-B526-1BC3-E305A77D933B}"/>
              </a:ext>
            </a:extLst>
          </p:cNvPr>
          <p:cNvSpPr txBox="1"/>
          <p:nvPr/>
        </p:nvSpPr>
        <p:spPr>
          <a:xfrm>
            <a:off x="638629" y="1937642"/>
            <a:ext cx="3638731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accent2"/>
                </a:solidFill>
                <a:latin typeface="+mn-ea"/>
                <a:ea typeface="+mn-ea"/>
              </a:rPr>
              <a:t>主要方法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：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o</a:t>
            </a:r>
            <a:r>
              <a:rPr lang="en-CN" sz="3200" dirty="0">
                <a:solidFill>
                  <a:schemeClr val="bg2"/>
                </a:solidFill>
                <a:latin typeface="+mn-ea"/>
                <a:ea typeface="+mn-ea"/>
              </a:rPr>
              <a:t>pen()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CN" sz="3200" dirty="0">
                <a:solidFill>
                  <a:schemeClr val="bg2"/>
                </a:solidFill>
                <a:latin typeface="+mn-ea"/>
                <a:ea typeface="+mn-ea"/>
              </a:rPr>
              <a:t>.read()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4F7F2A55-E2DA-90CB-9C8A-DE0FC1D6F1CD}"/>
              </a:ext>
            </a:extLst>
          </p:cNvPr>
          <p:cNvSpPr/>
          <p:nvPr/>
        </p:nvSpPr>
        <p:spPr>
          <a:xfrm>
            <a:off x="3587131" y="4113199"/>
            <a:ext cx="885371" cy="584775"/>
          </a:xfrm>
          <a:prstGeom prst="rightArrow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5FF337BE-E3FF-4102-51E7-9AE5E37C2AD1}"/>
              </a:ext>
            </a:extLst>
          </p:cNvPr>
          <p:cNvSpPr/>
          <p:nvPr/>
        </p:nvSpPr>
        <p:spPr>
          <a:xfrm>
            <a:off x="3599091" y="5530354"/>
            <a:ext cx="885371" cy="584775"/>
          </a:xfrm>
          <a:prstGeom prst="rightArrow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10A711F-954E-34E7-251D-E980A1423D03}"/>
              </a:ext>
            </a:extLst>
          </p:cNvPr>
          <p:cNvCxnSpPr>
            <a:cxnSpLocks/>
          </p:cNvCxnSpPr>
          <p:nvPr/>
        </p:nvCxnSpPr>
        <p:spPr bwMode="auto">
          <a:xfrm flipV="1">
            <a:off x="5999480" y="4375515"/>
            <a:ext cx="2346960" cy="487576"/>
          </a:xfrm>
          <a:prstGeom prst="straightConnector1">
            <a:avLst/>
          </a:prstGeom>
          <a:ln w="28575">
            <a:solidFill>
              <a:srgbClr val="FF00DF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8A749C3-6E03-619C-4CB9-06F9297C3FBB}"/>
              </a:ext>
            </a:extLst>
          </p:cNvPr>
          <p:cNvSpPr txBox="1"/>
          <p:nvPr/>
        </p:nvSpPr>
        <p:spPr>
          <a:xfrm>
            <a:off x="8498840" y="4083128"/>
            <a:ext cx="3693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DF"/>
                </a:solidFill>
              </a:rPr>
              <a:t>！手动关闭文件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8ADB20C-F831-9918-F4B8-08304E17B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573" y="5212309"/>
            <a:ext cx="5030273" cy="1177061"/>
          </a:xfrm>
          <a:prstGeom prst="rect">
            <a:avLst/>
          </a:prstGeom>
          <a:ln w="1905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423981112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8C3E-9BDD-4B34-2B31-AF36A0A1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D43E90E-9A6B-F644-387B-B7BEEADB9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文件操作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F4EF4-3841-BC6E-41FA-65179C791E6B}"/>
              </a:ext>
            </a:extLst>
          </p:cNvPr>
          <p:cNvSpPr txBox="1"/>
          <p:nvPr/>
        </p:nvSpPr>
        <p:spPr>
          <a:xfrm>
            <a:off x="217714" y="931591"/>
            <a:ext cx="9824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文件打开模式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57FD97-AE20-4F3D-0694-3F88C5786946}"/>
              </a:ext>
            </a:extLst>
          </p:cNvPr>
          <p:cNvGraphicFramePr>
            <a:graphicFrameLocks noGrp="1"/>
          </p:cNvGraphicFramePr>
          <p:nvPr/>
        </p:nvGraphicFramePr>
        <p:xfrm>
          <a:off x="4585111" y="1563041"/>
          <a:ext cx="6135454" cy="2072640"/>
        </p:xfrm>
        <a:graphic>
          <a:graphicData uri="http://schemas.openxmlformats.org/drawingml/2006/table">
            <a:tbl>
              <a:tblPr/>
              <a:tblGrid>
                <a:gridCol w="1785441">
                  <a:extLst>
                    <a:ext uri="{9D8B030D-6E8A-4147-A177-3AD203B41FA5}">
                      <a16:colId xmlns:a16="http://schemas.microsoft.com/office/drawing/2014/main" val="1226408210"/>
                    </a:ext>
                  </a:extLst>
                </a:gridCol>
                <a:gridCol w="4350013">
                  <a:extLst>
                    <a:ext uri="{9D8B030D-6E8A-4147-A177-3AD203B41FA5}">
                      <a16:colId xmlns:a16="http://schemas.microsoft.com/office/drawing/2014/main" val="3028672628"/>
                    </a:ext>
                  </a:extLst>
                </a:gridCol>
              </a:tblGrid>
              <a:tr h="4704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模式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描述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692963"/>
                  </a:ext>
                </a:extLst>
              </a:tr>
              <a:tr h="47042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只读（默认）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803602"/>
                  </a:ext>
                </a:extLst>
              </a:tr>
              <a:tr h="47042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w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写入（覆盖）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796635"/>
                  </a:ext>
                </a:extLst>
              </a:tr>
              <a:tr h="47042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追加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4288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9E898F3-ABEA-4D4F-BFA1-1AF423680E0E}"/>
              </a:ext>
            </a:extLst>
          </p:cNvPr>
          <p:cNvSpPr txBox="1"/>
          <p:nvPr/>
        </p:nvSpPr>
        <p:spPr>
          <a:xfrm>
            <a:off x="638629" y="1937642"/>
            <a:ext cx="3638731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accent2"/>
                </a:solidFill>
                <a:latin typeface="+mn-ea"/>
                <a:ea typeface="+mn-ea"/>
              </a:rPr>
              <a:t>主要方法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：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o</a:t>
            </a:r>
            <a:r>
              <a:rPr lang="en-CN" sz="3200" dirty="0">
                <a:solidFill>
                  <a:schemeClr val="bg2"/>
                </a:solidFill>
                <a:latin typeface="+mn-ea"/>
                <a:ea typeface="+mn-ea"/>
              </a:rPr>
              <a:t>pen()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CN" sz="3200" dirty="0">
                <a:solidFill>
                  <a:schemeClr val="bg2"/>
                </a:solidFill>
                <a:latin typeface="+mn-ea"/>
                <a:ea typeface="+mn-ea"/>
              </a:rPr>
              <a:t>.read()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90933FC-B9D8-93BC-9AC1-426BFD3EE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076" y="4472901"/>
            <a:ext cx="8970826" cy="1928881"/>
          </a:xfrm>
          <a:prstGeom prst="rect">
            <a:avLst/>
          </a:prstGeom>
          <a:ln w="28575">
            <a:solidFill>
              <a:schemeClr val="bg2"/>
            </a:solidFill>
          </a:ln>
        </p:spPr>
      </p:pic>
      <p:sp>
        <p:nvSpPr>
          <p:cNvPr id="21" name="TextBox 8">
            <a:extLst>
              <a:ext uri="{FF2B5EF4-FFF2-40B4-BE49-F238E27FC236}">
                <a16:creationId xmlns:a16="http://schemas.microsoft.com/office/drawing/2014/main" id="{44136B76-AE50-9895-00B7-C6E2083F7D23}"/>
              </a:ext>
            </a:extLst>
          </p:cNvPr>
          <p:cNvSpPr txBox="1"/>
          <p:nvPr/>
        </p:nvSpPr>
        <p:spPr>
          <a:xfrm>
            <a:off x="1304076" y="3814460"/>
            <a:ext cx="8970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文件写入</a:t>
            </a:r>
            <a:endParaRPr lang="en-CN" sz="32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959366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F955C-BC25-CE58-5F8F-59B947EF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7F9CF8-16C7-CF38-C1A7-BB455506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6712856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文件操作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751102-9952-796E-F7D3-86E60C84C66C}"/>
              </a:ext>
            </a:extLst>
          </p:cNvPr>
          <p:cNvSpPr txBox="1"/>
          <p:nvPr/>
        </p:nvSpPr>
        <p:spPr>
          <a:xfrm>
            <a:off x="166914" y="931591"/>
            <a:ext cx="9874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文件操作模块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6200F-C47E-DEE8-29A1-7E171038F816}"/>
              </a:ext>
            </a:extLst>
          </p:cNvPr>
          <p:cNvSpPr txBox="1"/>
          <p:nvPr/>
        </p:nvSpPr>
        <p:spPr>
          <a:xfrm>
            <a:off x="539123" y="1647268"/>
            <a:ext cx="11014247" cy="2601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终端命令：</a:t>
            </a:r>
            <a:r>
              <a:rPr lang="en-US" altLang="zh-CN" sz="3200" b="1" dirty="0" err="1">
                <a:solidFill>
                  <a:srgbClr val="FF0000"/>
                </a:solidFill>
                <a:latin typeface="+mn-ea"/>
                <a:ea typeface="+mn-ea"/>
              </a:rPr>
              <a:t>pwd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ea typeface="+mn-ea"/>
              </a:rPr>
              <a:t>, ls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ea typeface="+mn-ea"/>
              </a:rPr>
              <a:t>cd, cd.. new-item/touch, rm</a:t>
            </a:r>
            <a:endParaRPr lang="en-US" sz="32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chemeClr val="bg2"/>
                </a:solidFill>
                <a:latin typeface="+mn-ea"/>
                <a:ea typeface="+mn-ea"/>
              </a:rPr>
              <a:t>Python o</a:t>
            </a:r>
            <a:r>
              <a:rPr lang="en-CN" sz="3200" b="1" dirty="0">
                <a:solidFill>
                  <a:schemeClr val="bg2"/>
                </a:solidFill>
                <a:latin typeface="+mn-ea"/>
                <a:ea typeface="+mn-ea"/>
              </a:rPr>
              <a:t>s模块</a:t>
            </a: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2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(1)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查看文件夹文件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; (2) 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重命名文件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；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(3) 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移动文件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;  (4) 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删除文件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…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6" name="Picture 5" descr="A black background with text and symbols&#10;&#10;AI-generated content may be incorrect.">
            <a:extLst>
              <a:ext uri="{FF2B5EF4-FFF2-40B4-BE49-F238E27FC236}">
                <a16:creationId xmlns:a16="http://schemas.microsoft.com/office/drawing/2014/main" id="{41FD0EA2-D850-FC17-5118-938E3DC97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65" y="4453273"/>
            <a:ext cx="11284359" cy="167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22894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FC21C-7CE1-5142-CDD8-EF4FB7F0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1941A2-8ECA-8715-6B38-5AA63CBCF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文件操作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E1514-12E1-16F0-6AE9-9E1C2CC52DE0}"/>
              </a:ext>
            </a:extLst>
          </p:cNvPr>
          <p:cNvSpPr txBox="1"/>
          <p:nvPr/>
        </p:nvSpPr>
        <p:spPr>
          <a:xfrm>
            <a:off x="283029" y="931591"/>
            <a:ext cx="9758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文件操作模块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B96A3F-48BA-7F06-C58C-56F60D3CDE76}"/>
              </a:ext>
            </a:extLst>
          </p:cNvPr>
          <p:cNvSpPr txBox="1"/>
          <p:nvPr/>
        </p:nvSpPr>
        <p:spPr>
          <a:xfrm>
            <a:off x="417284" y="1516366"/>
            <a:ext cx="113574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>
                <a:solidFill>
                  <a:schemeClr val="bg2"/>
                </a:solidFill>
                <a:latin typeface="+mn-ea"/>
                <a:ea typeface="+mn-ea"/>
              </a:rPr>
              <a:t>glob.glob</a:t>
            </a:r>
            <a:r>
              <a:rPr lang="en-CN" sz="2800" b="1" dirty="0">
                <a:solidFill>
                  <a:schemeClr val="bg2"/>
                </a:solidFill>
                <a:latin typeface="+mn-ea"/>
                <a:ea typeface="+mn-ea"/>
              </a:rPr>
              <a:t>模块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：文件路径匹配模块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通配符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：*（任意字符）、？（单个字符）、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[]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（字符范围）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A18919-A5D0-7094-77A0-3956BAD95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863852"/>
              </p:ext>
            </p:extLst>
          </p:nvPr>
        </p:nvGraphicFramePr>
        <p:xfrm>
          <a:off x="417285" y="2898208"/>
          <a:ext cx="11022876" cy="2725353"/>
        </p:xfrm>
        <a:graphic>
          <a:graphicData uri="http://schemas.openxmlformats.org/drawingml/2006/table">
            <a:tbl>
              <a:tblPr/>
              <a:tblGrid>
                <a:gridCol w="1366413">
                  <a:extLst>
                    <a:ext uri="{9D8B030D-6E8A-4147-A177-3AD203B41FA5}">
                      <a16:colId xmlns:a16="http://schemas.microsoft.com/office/drawing/2014/main" val="2348796459"/>
                    </a:ext>
                  </a:extLst>
                </a:gridCol>
                <a:gridCol w="3939294">
                  <a:extLst>
                    <a:ext uri="{9D8B030D-6E8A-4147-A177-3AD203B41FA5}">
                      <a16:colId xmlns:a16="http://schemas.microsoft.com/office/drawing/2014/main" val="3547002522"/>
                    </a:ext>
                  </a:extLst>
                </a:gridCol>
                <a:gridCol w="5717169">
                  <a:extLst>
                    <a:ext uri="{9D8B030D-6E8A-4147-A177-3AD203B41FA5}">
                      <a16:colId xmlns:a16="http://schemas.microsoft.com/office/drawing/2014/main" val="2363603393"/>
                    </a:ext>
                  </a:extLst>
                </a:gridCol>
              </a:tblGrid>
              <a:tr h="5598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通配符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作用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示例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008564"/>
                  </a:ext>
                </a:extLst>
              </a:tr>
              <a:tr h="585849">
                <a:tc>
                  <a:txBody>
                    <a:bodyPr/>
                    <a:lstStyle/>
                    <a:p>
                      <a:pPr algn="ctr"/>
                      <a:r>
                        <a:rPr lang="en-CN" sz="2800" b="1" dirty="0">
                          <a:solidFill>
                            <a:schemeClr val="accent2"/>
                          </a:solidFill>
                          <a:effectLst/>
                        </a:rPr>
                        <a:t>*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匹配任意长度字符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bg2"/>
                          </a:solidFill>
                          <a:effectLst/>
                        </a:rPr>
                        <a:t>*.csv → </a:t>
                      </a: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所有</a:t>
                      </a:r>
                      <a:r>
                        <a:rPr lang="en-US" sz="2800">
                          <a:solidFill>
                            <a:schemeClr val="bg2"/>
                          </a:solidFill>
                          <a:effectLst/>
                        </a:rPr>
                        <a:t>CSV</a:t>
                      </a: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文件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071234"/>
                  </a:ext>
                </a:extLst>
              </a:tr>
              <a:tr h="789827">
                <a:tc>
                  <a:txBody>
                    <a:bodyPr/>
                    <a:lstStyle/>
                    <a:p>
                      <a:pPr algn="ctr"/>
                      <a:r>
                        <a:rPr lang="en-CN" sz="2800" b="1" dirty="0">
                          <a:solidFill>
                            <a:schemeClr val="accent2"/>
                          </a:solidFill>
                          <a:effectLst/>
                        </a:rPr>
                        <a:t>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匹配单个字符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image_??.</a:t>
                      </a:r>
                      <a:r>
                        <a:rPr lang="en-US" sz="2800" dirty="0" err="1">
                          <a:solidFill>
                            <a:schemeClr val="bg2"/>
                          </a:solidFill>
                          <a:effectLst/>
                        </a:rPr>
                        <a:t>png</a:t>
                      </a: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 → image_01.png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75611"/>
                  </a:ext>
                </a:extLst>
              </a:tr>
              <a:tr h="789827">
                <a:tc>
                  <a:txBody>
                    <a:bodyPr/>
                    <a:lstStyle/>
                    <a:p>
                      <a:pPr algn="ctr"/>
                      <a:r>
                        <a:rPr lang="en-CN" sz="2800" b="1" dirty="0">
                          <a:solidFill>
                            <a:schemeClr val="accent2"/>
                          </a:solidFill>
                          <a:effectLst/>
                        </a:rPr>
                        <a:t>[]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匹配指定范围的字符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data_[0-9].txt → data_1.txt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865292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873731B2-0DE7-41D2-9F66-04F7DF030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150" y="5708329"/>
            <a:ext cx="9054207" cy="1002351"/>
          </a:xfrm>
          <a:prstGeom prst="rect">
            <a:avLst/>
          </a:prstGeom>
          <a:ln w="28575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07119822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二、异常处理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80BA3DF0-0BD3-732F-9CF4-904F309F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6712856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第五章、文件操作与异常处理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112259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0811F-DD77-3EC3-62B1-4EA177B0B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C15F932-3F9D-D068-71F5-9521FB31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10537373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异常处理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EB7E53-054F-6B83-1649-F9D39F7A0CA9}"/>
              </a:ext>
            </a:extLst>
          </p:cNvPr>
          <p:cNvSpPr txBox="1"/>
          <p:nvPr/>
        </p:nvSpPr>
        <p:spPr>
          <a:xfrm>
            <a:off x="217714" y="699748"/>
            <a:ext cx="9013371" cy="3863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+mn-ea"/>
                <a:ea typeface="+mn-ea"/>
              </a:rPr>
              <a:t>Bug</a:t>
            </a: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：程序出现的故障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bg2"/>
                </a:solidFill>
                <a:latin typeface="+mn-ea"/>
                <a:ea typeface="+mn-ea"/>
              </a:rPr>
              <a:t>1878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年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 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-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托马斯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·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爱迪生首次在技术文献中使用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"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bug"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指代技术故障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bg2"/>
                </a:solidFill>
                <a:latin typeface="+mn-ea"/>
                <a:ea typeface="+mn-ea"/>
              </a:rPr>
              <a:t>1947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年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 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-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一位叫赫雷丝</a:t>
            </a:r>
            <a:r>
              <a:rPr lang="en-CN" sz="2800" dirty="0">
                <a:solidFill>
                  <a:schemeClr val="bg2"/>
                </a:solidFill>
              </a:rPr>
              <a:t>・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赫柏的计算机操作员发现一只飞蛾导致机器故障。</a:t>
            </a:r>
            <a:endParaRPr lang="en-US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2"/>
                </a:solidFill>
                <a:latin typeface="+mn-ea"/>
                <a:ea typeface="+mn-ea"/>
              </a:rPr>
              <a:t>1950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年代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 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- “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Debugging”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成为编程标准术语。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30E134D-F1BE-7642-056A-B4AF3FD2A91E}"/>
              </a:ext>
            </a:extLst>
          </p:cNvPr>
          <p:cNvGrpSpPr/>
          <p:nvPr/>
        </p:nvGrpSpPr>
        <p:grpSpPr>
          <a:xfrm>
            <a:off x="9557658" y="1079883"/>
            <a:ext cx="2525485" cy="5262929"/>
            <a:chOff x="8904896" y="1507989"/>
            <a:chExt cx="2099950" cy="468781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E26A4AA-376F-EC56-B745-6A8A4653919D}"/>
                </a:ext>
              </a:extLst>
            </p:cNvPr>
            <p:cNvGrpSpPr/>
            <p:nvPr/>
          </p:nvGrpSpPr>
          <p:grpSpPr>
            <a:xfrm>
              <a:off x="8904896" y="1507989"/>
              <a:ext cx="1494590" cy="2545661"/>
              <a:chOff x="6976310" y="1957387"/>
              <a:chExt cx="1278691" cy="2282861"/>
            </a:xfrm>
          </p:grpSpPr>
          <p:pic>
            <p:nvPicPr>
              <p:cNvPr id="7" name="Picture 6" descr="A close up of a moth&#10;&#10;AI-generated content may be incorrect.">
                <a:extLst>
                  <a:ext uri="{FF2B5EF4-FFF2-40B4-BE49-F238E27FC236}">
                    <a16:creationId xmlns:a16="http://schemas.microsoft.com/office/drawing/2014/main" id="{2B5BD91C-E1FD-857D-5D3E-3A86A9CE84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6310" y="1957387"/>
                <a:ext cx="1278690" cy="1868856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3366B1-70CE-B1D6-0BF7-1D7953FA5FE1}"/>
                  </a:ext>
                </a:extLst>
              </p:cNvPr>
              <p:cNvSpPr txBox="1"/>
              <p:nvPr/>
            </p:nvSpPr>
            <p:spPr>
              <a:xfrm>
                <a:off x="6976311" y="3826243"/>
                <a:ext cx="1278690" cy="414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>
                    <a:solidFill>
                      <a:schemeClr val="bg2"/>
                    </a:solidFill>
                    <a:latin typeface="+mn-ea"/>
                    <a:ea typeface="+mn-ea"/>
                  </a:rPr>
                  <a:t>bug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7FB21EB-0365-F3A9-6120-E29D0282212C}"/>
                </a:ext>
              </a:extLst>
            </p:cNvPr>
            <p:cNvGrpSpPr/>
            <p:nvPr/>
          </p:nvGrpSpPr>
          <p:grpSpPr>
            <a:xfrm>
              <a:off x="8904896" y="4139705"/>
              <a:ext cx="1494590" cy="2056101"/>
              <a:chOff x="6798510" y="4460952"/>
              <a:chExt cx="1278690" cy="1762910"/>
            </a:xfrm>
          </p:grpSpPr>
          <p:pic>
            <p:nvPicPr>
              <p:cNvPr id="15" name="Picture 14" descr="A yellow triangle sign with a exclamation mark&#10;&#10;AI-generated content may be incorrect.">
                <a:extLst>
                  <a:ext uri="{FF2B5EF4-FFF2-40B4-BE49-F238E27FC236}">
                    <a16:creationId xmlns:a16="http://schemas.microsoft.com/office/drawing/2014/main" id="{0D0A852A-4DFE-A276-D829-3256A47935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98510" y="4460952"/>
                <a:ext cx="1278690" cy="1331969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B1DCB3-5792-FEF1-11B9-3F7CBC07CB50}"/>
                  </a:ext>
                </a:extLst>
              </p:cNvPr>
              <p:cNvSpPr txBox="1"/>
              <p:nvPr/>
            </p:nvSpPr>
            <p:spPr>
              <a:xfrm>
                <a:off x="6798510" y="5828028"/>
                <a:ext cx="1278689" cy="395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>
                    <a:solidFill>
                      <a:schemeClr val="bg2"/>
                    </a:solidFill>
                    <a:latin typeface="+mn-ea"/>
                    <a:ea typeface="+mn-ea"/>
                  </a:rPr>
                  <a:t>程序错误</a:t>
                </a:r>
              </a:p>
            </p:txBody>
          </p:sp>
        </p:grp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F9525BFB-571A-23E8-144E-DA888D169137}"/>
                </a:ext>
              </a:extLst>
            </p:cNvPr>
            <p:cNvSpPr/>
            <p:nvPr/>
          </p:nvSpPr>
          <p:spPr>
            <a:xfrm rot="5400000">
              <a:off x="10310484" y="3594216"/>
              <a:ext cx="931524" cy="457200"/>
            </a:xfrm>
            <a:prstGeom prst="rightArrow">
              <a:avLst/>
            </a:prstGeom>
            <a:solidFill>
              <a:srgbClr val="7030A0"/>
            </a:solidFill>
            <a:ln w="19050">
              <a:noFill/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" name="bug-definition">
            <a:extLst>
              <a:ext uri="{FF2B5EF4-FFF2-40B4-BE49-F238E27FC236}">
                <a16:creationId xmlns:a16="http://schemas.microsoft.com/office/drawing/2014/main" id="{740DA949-CB7A-6F88-4A29-7DF188770AC1}"/>
              </a:ext>
            </a:extLst>
          </p:cNvPr>
          <p:cNvSpPr>
            <a:spLocks noGrp="1"/>
          </p:cNvSpPr>
          <p:nvPr/>
        </p:nvSpPr>
        <p:spPr>
          <a:xfrm>
            <a:off x="385536" y="5080324"/>
            <a:ext cx="9317264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Bug </a:t>
            </a:r>
            <a:r>
              <a:rPr sz="31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可能导致运行失败，也可能让结果不符合预期</a:t>
            </a:r>
            <a:r>
              <a:rPr sz="31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discussion">
            <a:extLst>
              <a:ext uri="{FF2B5EF4-FFF2-40B4-BE49-F238E27FC236}">
                <a16:creationId xmlns:a16="http://schemas.microsoft.com/office/drawing/2014/main" id="{5682E8A2-0BD3-348B-C184-73891C347D25}"/>
              </a:ext>
            </a:extLst>
          </p:cNvPr>
          <p:cNvSpPr>
            <a:spLocks noGrp="1"/>
          </p:cNvSpPr>
          <p:nvPr/>
        </p:nvSpPr>
        <p:spPr>
          <a:xfrm>
            <a:off x="385536" y="5873198"/>
            <a:ext cx="11144250" cy="71635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思考：程序没有报错，就一定没有</a:t>
            </a:r>
            <a:r>
              <a:rPr sz="36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Bug 吗？</a:t>
            </a:r>
          </a:p>
        </p:txBody>
      </p:sp>
    </p:spTree>
    <p:extLst>
      <p:ext uri="{BB962C8B-B14F-4D97-AF65-F5344CB8AC3E}">
        <p14:creationId xmlns:p14="http://schemas.microsoft.com/office/powerpoint/2010/main" val="381823399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2FC9D335-150C-418C-ADAD-4C411B816694}"/>
              </a:ext>
            </a:extLst>
          </p:cNvPr>
          <p:cNvSpPr>
            <a:spLocks noGrp="1"/>
          </p:cNvSpPr>
          <p:nvPr/>
        </p:nvSpPr>
        <p:spPr>
          <a:xfrm>
            <a:off x="190500" y="142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二、异常处理</a:t>
            </a:r>
            <a:endParaRPr sz="39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reference-blue-rule">
            <a:extLst>
              <a:ext uri="{FF2B5EF4-FFF2-40B4-BE49-F238E27FC236}">
                <a16:creationId xmlns:a16="http://schemas.microsoft.com/office/drawing/2014/main" id="{9D283C63-F17E-441A-BD67-6AA43D752D28}"/>
              </a:ext>
            </a:extLst>
          </p:cNvPr>
          <p:cNvSpPr>
            <a:spLocks noGrp="1"/>
          </p:cNvSpPr>
          <p:nvPr/>
        </p:nvSpPr>
        <p:spPr>
          <a:xfrm>
            <a:off x="0" y="771525"/>
            <a:ext cx="10648950" cy="66675"/>
          </a:xfrm>
          <a:prstGeom prst="rect">
            <a:avLst/>
          </a:prstGeom>
          <a:solidFill>
            <a:srgbClr val="1600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ference-gray-rule">
            <a:extLst>
              <a:ext uri="{FF2B5EF4-FFF2-40B4-BE49-F238E27FC236}">
                <a16:creationId xmlns:a16="http://schemas.microsoft.com/office/drawing/2014/main" id="{21AE7A13-6DA3-488B-8C1B-C5D04AEF9273}"/>
              </a:ext>
            </a:extLst>
          </p:cNvPr>
          <p:cNvSpPr>
            <a:spLocks noGrp="1"/>
          </p:cNvSpPr>
          <p:nvPr/>
        </p:nvSpPr>
        <p:spPr>
          <a:xfrm>
            <a:off x="10648950" y="771525"/>
            <a:ext cx="1543050" cy="66675"/>
          </a:xfrm>
          <a:prstGeom prst="rect">
            <a:avLst/>
          </a:prstGeom>
          <a:solidFill>
            <a:srgbClr val="80808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54484BB-D34B-42CF-813A-A823CC546EF7}"/>
              </a:ext>
            </a:extLst>
          </p:cNvPr>
          <p:cNvSpPr>
            <a:spLocks noGrp="1"/>
          </p:cNvSpPr>
          <p:nvPr/>
        </p:nvSpPr>
        <p:spPr>
          <a:xfrm>
            <a:off x="381000" y="1009650"/>
            <a:ext cx="11334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程序异常</a:t>
            </a:r>
            <a:r>
              <a:rPr lang="zh-CN" altLang="en-US" sz="36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36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程序执行时检测到的错误或异常情况。</a:t>
            </a:r>
            <a:endParaRPr sz="36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D30BCC4-6C2D-4AEB-B638-0629BBFA17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44493"/>
              </p:ext>
            </p:extLst>
          </p:nvPr>
        </p:nvGraphicFramePr>
        <p:xfrm>
          <a:off x="476250" y="1763527"/>
          <a:ext cx="7349159" cy="4829429"/>
        </p:xfrm>
        <a:graphic>
          <a:graphicData uri="http://schemas.openxmlformats.org/drawingml/2006/table">
            <a:tbl>
              <a:tblPr/>
              <a:tblGrid>
                <a:gridCol w="272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5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2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异常类型</a:t>
                      </a:r>
                    </a:p>
                  </a:txBody>
                  <a:tcPr anchor="ctr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触发示例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>
                      <a:solidFill>
                        <a:srgbClr val="D0D0D0"/>
                      </a:solidFill>
                      <a:prstDash val="soli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8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 dirty="0" err="1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NameError</a:t>
                      </a:r>
                      <a:endParaRPr sz="2200" b="0" kern="1200" dirty="0">
                        <a:solidFill>
                          <a:srgbClr val="111111"/>
                        </a:solidFill>
                        <a:latin typeface="+mn-ea"/>
                        <a:ea typeface="+mn-ea"/>
                        <a:cs typeface="Consolas"/>
                      </a:endParaRPr>
                    </a:p>
                  </a:txBody>
                  <a:tcPr anchor="ctr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print3(11, 2, 3)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Microsoft YaHei"/>
                        </a:rPr>
                        <a:t>使用了未定义的名称 print3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9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 dirty="0" err="1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ZeroDivisionError</a:t>
                      </a:r>
                      <a:endParaRPr sz="2200" b="0" kern="1200" dirty="0">
                        <a:solidFill>
                          <a:srgbClr val="111111"/>
                        </a:solidFill>
                        <a:latin typeface="+mn-ea"/>
                        <a:ea typeface="+mn-ea"/>
                        <a:cs typeface="Consolas"/>
                      </a:endParaRPr>
                    </a:p>
                  </a:txBody>
                  <a:tcPr anchor="ctr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 dirty="0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10 /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Microsoft YaHei"/>
                        </a:rPr>
                        <a:t>除数为零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9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ValueError</a:t>
                      </a:r>
                    </a:p>
                  </a:txBody>
                  <a:tcPr anchor="ctr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 dirty="0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int("</a:t>
                      </a:r>
                      <a:r>
                        <a:rPr sz="2200" b="0" kern="1200" dirty="0" err="1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abc</a:t>
                      </a:r>
                      <a:r>
                        <a:rPr sz="2200" b="0" kern="1200" dirty="0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")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 dirty="0" err="1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Microsoft YaHei"/>
                        </a:rPr>
                        <a:t>值不适合当前操作</a:t>
                      </a:r>
                      <a:endParaRPr sz="2200" b="0" kern="1200" dirty="0">
                        <a:solidFill>
                          <a:srgbClr val="111111"/>
                        </a:solidFill>
                        <a:latin typeface="+mn-ea"/>
                        <a:ea typeface="+mn-ea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8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 dirty="0" err="1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FileNotFoundError</a:t>
                      </a:r>
                      <a:endParaRPr sz="2200" b="0" kern="1200" dirty="0">
                        <a:solidFill>
                          <a:srgbClr val="111111"/>
                        </a:solidFill>
                        <a:latin typeface="+mn-ea"/>
                        <a:ea typeface="+mn-ea"/>
                        <a:cs typeface="Consolas"/>
                      </a:endParaRPr>
                    </a:p>
                  </a:txBody>
                  <a:tcPr anchor="ctr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 dirty="0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open("missing.txt")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 dirty="0" err="1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Microsoft YaHei"/>
                        </a:rPr>
                        <a:t>目标文件不存在</a:t>
                      </a:r>
                      <a:endParaRPr sz="2200" b="0" kern="1200" dirty="0">
                        <a:solidFill>
                          <a:srgbClr val="111111"/>
                        </a:solidFill>
                        <a:latin typeface="+mn-ea"/>
                        <a:ea typeface="+mn-ea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9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AssertionError</a:t>
                      </a:r>
                    </a:p>
                  </a:txBody>
                  <a:tcPr anchor="ctr">
                    <a:lnL w="9525">
                      <a:solidFill>
                        <a:srgbClr val="D0D0D0"/>
                      </a:solidFill>
                      <a:prstDash val="soli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 dirty="0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Consolas"/>
                        </a:rPr>
                        <a:t>assert 1 &gt;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200" b="0" kern="1200" dirty="0" err="1">
                          <a:solidFill>
                            <a:srgbClr val="111111"/>
                          </a:solidFill>
                          <a:latin typeface="+mn-ea"/>
                          <a:ea typeface="+mn-ea"/>
                          <a:cs typeface="Microsoft YaHei"/>
                        </a:rPr>
                        <a:t>断言条件不成立</a:t>
                      </a:r>
                      <a:endParaRPr sz="2200" b="0" kern="1200" dirty="0">
                        <a:solidFill>
                          <a:srgbClr val="111111"/>
                        </a:solidFill>
                        <a:latin typeface="+mn-ea"/>
                        <a:ea typeface="+mn-ea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E4355C9F-941E-EFD7-9C0A-6A5D2FD42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762" y="2061701"/>
            <a:ext cx="3701784" cy="1775279"/>
          </a:xfrm>
          <a:prstGeom prst="rect">
            <a:avLst/>
          </a:prstGeom>
          <a:ln w="19050">
            <a:solidFill>
              <a:schemeClr val="bg2"/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D7E3DDD-3DCE-EFE5-477A-E4A7710E6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762" y="4129389"/>
            <a:ext cx="3690988" cy="2061702"/>
          </a:xfrm>
          <a:prstGeom prst="rect">
            <a:avLst/>
          </a:prstGeom>
          <a:ln w="1905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02192438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D9F7B-84E6-26D9-C159-4AD7E488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04AC6BF7-9060-2718-0597-CDE1D5EFE019}"/>
              </a:ext>
            </a:extLst>
          </p:cNvPr>
          <p:cNvSpPr>
            <a:spLocks noGrp="1"/>
          </p:cNvSpPr>
          <p:nvPr/>
        </p:nvSpPr>
        <p:spPr>
          <a:xfrm>
            <a:off x="190500" y="142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二、异常处理</a:t>
            </a:r>
            <a:endParaRPr sz="39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4956ED2F-5574-7B85-96A4-54D8CC3D2258}"/>
              </a:ext>
            </a:extLst>
          </p:cNvPr>
          <p:cNvSpPr txBox="1"/>
          <p:nvPr/>
        </p:nvSpPr>
        <p:spPr>
          <a:xfrm>
            <a:off x="277349" y="776862"/>
            <a:ext cx="9013371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程序有异常，但不希望程序中断</a:t>
            </a:r>
            <a:r>
              <a:rPr lang="en-US" altLang="zh-CN" sz="3600" b="1" dirty="0">
                <a:solidFill>
                  <a:schemeClr val="accent2"/>
                </a:solidFill>
                <a:latin typeface="+mn-ea"/>
                <a:ea typeface="+mn-ea"/>
              </a:rPr>
              <a:t>/</a:t>
            </a: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报错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E903DC-C886-2574-7197-8922E2B2A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968" y="1688812"/>
            <a:ext cx="5296596" cy="2363535"/>
          </a:xfrm>
          <a:prstGeom prst="rect">
            <a:avLst/>
          </a:prstGeom>
          <a:ln w="28575">
            <a:solidFill>
              <a:schemeClr val="bg2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3B2D00B-4F92-B919-373B-3917457396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6" t="3750" r="1821"/>
          <a:stretch>
            <a:fillRect/>
          </a:stretch>
        </p:blipFill>
        <p:spPr>
          <a:xfrm>
            <a:off x="6530968" y="4259723"/>
            <a:ext cx="5296596" cy="2321944"/>
          </a:xfrm>
          <a:prstGeom prst="rect">
            <a:avLst/>
          </a:prstGeom>
          <a:ln w="28575">
            <a:solidFill>
              <a:schemeClr val="bg2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308582-02DD-1461-7B2C-D643B99C32BA}"/>
              </a:ext>
            </a:extLst>
          </p:cNvPr>
          <p:cNvSpPr txBox="1"/>
          <p:nvPr/>
        </p:nvSpPr>
        <p:spPr>
          <a:xfrm>
            <a:off x="277349" y="3058180"/>
            <a:ext cx="5577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FF00DF"/>
                </a:solidFill>
                <a:latin typeface="+mn-ea"/>
                <a:ea typeface="+mn-ea"/>
              </a:rPr>
              <a:t>语法：</a:t>
            </a:r>
            <a:r>
              <a:rPr lang="en-US" altLang="zh-CN" sz="3200" b="1" dirty="0">
                <a:solidFill>
                  <a:srgbClr val="FF00DF"/>
                </a:solidFill>
                <a:latin typeface="+mn-ea"/>
                <a:ea typeface="+mn-ea"/>
              </a:rPr>
              <a:t>try… except…</a:t>
            </a:r>
            <a:endParaRPr lang="zh-CN" altLang="en-US" sz="3200" b="1" dirty="0">
              <a:solidFill>
                <a:srgbClr val="FF00DF"/>
              </a:solidFill>
              <a:latin typeface="+mn-ea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AFF53A4-C088-D9A7-401E-F1E452076804}"/>
              </a:ext>
            </a:extLst>
          </p:cNvPr>
          <p:cNvSpPr txBox="1"/>
          <p:nvPr/>
        </p:nvSpPr>
        <p:spPr>
          <a:xfrm>
            <a:off x="190500" y="1750104"/>
            <a:ext cx="6016486" cy="1221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CN" altLang="zh-CN" sz="2600" b="1" dirty="0">
                <a:solidFill>
                  <a:schemeClr val="bg2"/>
                </a:solidFill>
                <a:latin typeface="+mn-ea"/>
                <a:ea typeface="+mn-ea"/>
              </a:rPr>
              <a:t>异常捕获</a:t>
            </a:r>
            <a:r>
              <a:rPr lang="zh-CN" altLang="en-US" sz="26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zh-CN" sz="2600" dirty="0">
                <a:solidFill>
                  <a:schemeClr val="bg2"/>
                </a:solidFill>
                <a:latin typeface="+mn-ea"/>
                <a:ea typeface="+mn-ea"/>
              </a:rPr>
              <a:t>在程序出现预期的异常情况时，执行相应处理，避免程序直接中断。</a:t>
            </a:r>
            <a:endParaRPr lang="en-US" altLang="zh-CN" sz="2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C7698D-EEF2-37A3-2A72-53A145A87B0E}"/>
              </a:ext>
            </a:extLst>
          </p:cNvPr>
          <p:cNvSpPr txBox="1"/>
          <p:nvPr/>
        </p:nvSpPr>
        <p:spPr>
          <a:xfrm>
            <a:off x="216657" y="3822674"/>
            <a:ext cx="615232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zh-CN" sz="2800" dirty="0">
                <a:solidFill>
                  <a:schemeClr val="bg2"/>
                </a:solidFill>
                <a:latin typeface="+mn-ea"/>
                <a:ea typeface="+mn-ea"/>
              </a:rPr>
              <a:t>执行过程：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zh-CN" altLang="zh-CN" b="1" dirty="0">
                <a:solidFill>
                  <a:schemeClr val="bg2"/>
                </a:solidFill>
                <a:latin typeface="+mn-ea"/>
                <a:ea typeface="+mn-ea"/>
              </a:rPr>
              <a:t>执行 try 中的代码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zh-CN" altLang="zh-CN" b="1" dirty="0">
                <a:solidFill>
                  <a:schemeClr val="bg2"/>
                </a:solidFill>
                <a:latin typeface="+mn-ea"/>
                <a:ea typeface="+mn-ea"/>
              </a:rPr>
              <a:t>没有异常</a:t>
            </a:r>
            <a: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  <a:t>：跳过 except，继续执行后面的代码。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zh-CN" altLang="zh-CN" b="1" dirty="0">
                <a:solidFill>
                  <a:schemeClr val="bg2"/>
                </a:solidFill>
                <a:latin typeface="+mn-ea"/>
                <a:ea typeface="+mn-ea"/>
              </a:rPr>
              <a:t>发生异常</a:t>
            </a:r>
            <a: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  <a:t>：跳过 try 中剩余的代码，执行对应的 except，然后继续。</a:t>
            </a:r>
          </a:p>
        </p:txBody>
      </p:sp>
    </p:spTree>
    <p:extLst>
      <p:ext uri="{BB962C8B-B14F-4D97-AF65-F5344CB8AC3E}">
        <p14:creationId xmlns:p14="http://schemas.microsoft.com/office/powerpoint/2010/main" val="333704350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572FC-016E-065F-11F9-C07BF44F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34B8B09D-81A8-039B-7C13-096272A91E1C}"/>
              </a:ext>
            </a:extLst>
          </p:cNvPr>
          <p:cNvSpPr>
            <a:spLocks noGrp="1"/>
          </p:cNvSpPr>
          <p:nvPr/>
        </p:nvSpPr>
        <p:spPr>
          <a:xfrm>
            <a:off x="190500" y="1428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二、异常处理</a:t>
            </a:r>
            <a:endParaRPr sz="39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1CF888FF-32D2-E44E-7E5E-AC09BE777124}"/>
              </a:ext>
            </a:extLst>
          </p:cNvPr>
          <p:cNvSpPr txBox="1"/>
          <p:nvPr/>
        </p:nvSpPr>
        <p:spPr>
          <a:xfrm>
            <a:off x="190500" y="910205"/>
            <a:ext cx="9788071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程序有问题，但是没有异常报错，如何处理？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201222-75A7-1088-A8BD-7C55DC5D7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846" y="2535973"/>
            <a:ext cx="7995725" cy="1135756"/>
          </a:xfrm>
          <a:prstGeom prst="rect">
            <a:avLst/>
          </a:prstGeom>
          <a:ln w="19050">
            <a:solidFill>
              <a:schemeClr val="bg2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8B48DA-B6BE-D7C6-6FEB-4F7562BEBCAF}"/>
              </a:ext>
            </a:extLst>
          </p:cNvPr>
          <p:cNvSpPr txBox="1"/>
          <p:nvPr/>
        </p:nvSpPr>
        <p:spPr>
          <a:xfrm>
            <a:off x="1860984" y="1815547"/>
            <a:ext cx="5577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长方形面积计算：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2E1AD6-90E5-E5F8-8AB3-E6C19568F5C4}"/>
              </a:ext>
            </a:extLst>
          </p:cNvPr>
          <p:cNvSpPr txBox="1"/>
          <p:nvPr/>
        </p:nvSpPr>
        <p:spPr>
          <a:xfrm>
            <a:off x="2945296" y="4221658"/>
            <a:ext cx="7086600" cy="54341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11111"/>
              </a:lnSpc>
              <a:buNone/>
            </a:pPr>
            <a:r>
              <a:rPr lang="zh-CN" altLang="zh-CN" sz="2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zh-CN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zh-CN" altLang="zh-CN" sz="28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calculate_rect_area</a:t>
            </a:r>
            <a:r>
              <a:rPr lang="zh-CN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2800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zh-CN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zh-CN" sz="2800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zh-CN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F18911-F1BF-FE98-4196-EEC98EFBF63B}"/>
              </a:ext>
            </a:extLst>
          </p:cNvPr>
          <p:cNvSpPr txBox="1"/>
          <p:nvPr/>
        </p:nvSpPr>
        <p:spPr>
          <a:xfrm>
            <a:off x="2945296" y="5066489"/>
            <a:ext cx="7086600" cy="54341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11111"/>
              </a:lnSpc>
              <a:buNone/>
            </a:pPr>
            <a:r>
              <a:rPr lang="zh-CN" altLang="zh-CN" sz="2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zh-CN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zh-CN" altLang="zh-CN" sz="28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calculate_rect_area</a:t>
            </a:r>
            <a:r>
              <a:rPr lang="zh-CN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zh-CN" sz="2800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zh-CN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zh-CN" sz="2800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zh-CN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4C8BE13F-FC32-FB35-E44A-F43728940FFC}"/>
              </a:ext>
            </a:extLst>
          </p:cNvPr>
          <p:cNvSpPr txBox="1"/>
          <p:nvPr/>
        </p:nvSpPr>
        <p:spPr>
          <a:xfrm>
            <a:off x="967409" y="5796780"/>
            <a:ext cx="9998377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两种使用是否发生保存？是否合理？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AC48FA0A-DD3F-3F9E-BCD8-652DA71617D9}"/>
              </a:ext>
            </a:extLst>
          </p:cNvPr>
          <p:cNvSpPr/>
          <p:nvPr/>
        </p:nvSpPr>
        <p:spPr>
          <a:xfrm>
            <a:off x="2271362" y="3955710"/>
            <a:ext cx="484632" cy="1358348"/>
          </a:xfrm>
          <a:prstGeom prst="down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009342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33FA2-3595-40F7-8618-0CEB29FC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C8F399-026C-42DD-AD91-66AF48126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异常处理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05C64-116B-C41C-CFB7-A6EF466A2FCC}"/>
              </a:ext>
            </a:extLst>
          </p:cNvPr>
          <p:cNvSpPr txBox="1"/>
          <p:nvPr/>
        </p:nvSpPr>
        <p:spPr>
          <a:xfrm>
            <a:off x="256140" y="883031"/>
            <a:ext cx="538266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400" b="1" dirty="0">
                <a:solidFill>
                  <a:schemeClr val="accent2"/>
                </a:solidFill>
                <a:latin typeface="+mn-ea"/>
                <a:ea typeface="+mn-ea"/>
              </a:rPr>
              <a:t>断言</a:t>
            </a:r>
            <a:r>
              <a:rPr lang="zh-CN" altLang="en-US" sz="34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3400" dirty="0">
                <a:solidFill>
                  <a:schemeClr val="bg2"/>
                </a:solidFill>
                <a:latin typeface="+mn-ea"/>
                <a:ea typeface="+mn-ea"/>
              </a:rPr>
              <a:t>检查</a:t>
            </a:r>
            <a:r>
              <a:rPr lang="zh-CN" altLang="zh-CN" sz="3400" dirty="0">
                <a:solidFill>
                  <a:schemeClr val="bg2"/>
                </a:solidFill>
                <a:latin typeface="+mn-ea"/>
                <a:ea typeface="+mn-ea"/>
              </a:rPr>
              <a:t>程序中的某个条件是否成立，帮助及时发现不符合预期的情况</a:t>
            </a:r>
            <a:r>
              <a:rPr lang="zh-CN" altLang="en-US" sz="34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US" altLang="zh-CN" sz="34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语法：</a:t>
            </a:r>
            <a:r>
              <a:rPr lang="en-US" altLang="zh-CN" sz="4000" b="1" dirty="0">
                <a:solidFill>
                  <a:schemeClr val="accent2"/>
                </a:solidFill>
                <a:latin typeface="+mn-ea"/>
              </a:rPr>
              <a:t> assert:</a:t>
            </a:r>
            <a:endParaRPr lang="en-US" altLang="zh-CN" sz="40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B3EA3C-A976-D1C0-7F30-EAAFAFA19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81172"/>
              </p:ext>
            </p:extLst>
          </p:nvPr>
        </p:nvGraphicFramePr>
        <p:xfrm>
          <a:off x="5805493" y="1346857"/>
          <a:ext cx="6264960" cy="4819781"/>
        </p:xfrm>
        <a:graphic>
          <a:graphicData uri="http://schemas.openxmlformats.org/drawingml/2006/table">
            <a:tbl>
              <a:tblPr/>
              <a:tblGrid>
                <a:gridCol w="1798977">
                  <a:extLst>
                    <a:ext uri="{9D8B030D-6E8A-4147-A177-3AD203B41FA5}">
                      <a16:colId xmlns:a16="http://schemas.microsoft.com/office/drawing/2014/main" val="358579845"/>
                    </a:ext>
                  </a:extLst>
                </a:gridCol>
                <a:gridCol w="4465983">
                  <a:extLst>
                    <a:ext uri="{9D8B030D-6E8A-4147-A177-3AD203B41FA5}">
                      <a16:colId xmlns:a16="http://schemas.microsoft.com/office/drawing/2014/main" val="1282577104"/>
                    </a:ext>
                  </a:extLst>
                </a:gridCol>
              </a:tblGrid>
              <a:tr h="6509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场景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示例代码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268646"/>
                  </a:ext>
                </a:extLst>
              </a:tr>
              <a:tr h="7940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effectLst/>
                        </a:rPr>
                        <a:t>参数验证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</a:rPr>
                        <a:t>assert n &gt; 0, "n</a:t>
                      </a: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effectLst/>
                        </a:rPr>
                        <a:t>必须为正整数</a:t>
                      </a:r>
                      <a:r>
                        <a:rPr lang="en-US" altLang="zh-CN" sz="2400" b="1" dirty="0">
                          <a:solidFill>
                            <a:srgbClr val="0070C0"/>
                          </a:solidFill>
                          <a:effectLst/>
                        </a:rPr>
                        <a:t>"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897451"/>
                  </a:ext>
                </a:extLst>
              </a:tr>
              <a:tr h="10944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solidFill>
                            <a:srgbClr val="0070C0"/>
                          </a:solidFill>
                          <a:effectLst/>
                        </a:rPr>
                        <a:t>类型检查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rgbClr val="0070C0"/>
                          </a:solidFill>
                          <a:effectLst/>
                        </a:rPr>
                        <a:t>assert </a:t>
                      </a:r>
                      <a:r>
                        <a:rPr lang="en-US" sz="2400" dirty="0" err="1">
                          <a:solidFill>
                            <a:srgbClr val="0070C0"/>
                          </a:solidFill>
                          <a:effectLst/>
                        </a:rPr>
                        <a:t>isinstance</a:t>
                      </a:r>
                      <a:r>
                        <a:rPr lang="en-US" sz="2400" dirty="0">
                          <a:solidFill>
                            <a:srgbClr val="0070C0"/>
                          </a:solidFill>
                          <a:effectLst/>
                        </a:rPr>
                        <a:t>(x, int), "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effectLst/>
                        </a:rPr>
                        <a:t>需整数类型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effectLst/>
                        </a:rPr>
                        <a:t>"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037252"/>
                  </a:ext>
                </a:extLst>
              </a:tr>
              <a:tr h="10944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返回值验证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assert result != None, "</a:t>
                      </a: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函数返回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None"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13380"/>
                  </a:ext>
                </a:extLst>
              </a:tr>
              <a:tr h="10944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常量不变性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assert MAX_SIZE == 100, "</a:t>
                      </a: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常量值被修改</a:t>
                      </a:r>
                      <a:r>
                        <a:rPr lang="en-US" altLang="zh-CN" sz="2400" dirty="0">
                          <a:solidFill>
                            <a:schemeClr val="bg2"/>
                          </a:solidFill>
                          <a:effectLst/>
                        </a:rPr>
                        <a:t>"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690780"/>
                  </a:ext>
                </a:extLst>
              </a:tr>
            </a:tbl>
          </a:graphicData>
        </a:graphic>
      </p:graphicFrame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2EC4676-8BA1-E33F-4562-4BDA0F096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13" y="4253184"/>
            <a:ext cx="5106007" cy="238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0380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第</a:t>
            </a:r>
            <a:r>
              <a:rPr lang="en-US" altLang="zh-CN" sz="4000" dirty="0">
                <a:latin typeface="+mn-ea"/>
              </a:rPr>
              <a:t>5</a:t>
            </a:r>
            <a:r>
              <a:rPr lang="zh-CN" altLang="en-US" sz="4000" dirty="0">
                <a:latin typeface="+mn-ea"/>
              </a:rPr>
              <a:t>章、文件操作与异常处理</a:t>
            </a:r>
            <a:endParaRPr lang="zh-CN" altLang="en-US" sz="4000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DBE2EB52-1153-547D-4DDB-F105FCA1059C}"/>
              </a:ext>
            </a:extLst>
          </p:cNvPr>
          <p:cNvSpPr txBox="1"/>
          <p:nvPr/>
        </p:nvSpPr>
        <p:spPr>
          <a:xfrm>
            <a:off x="495868" y="832995"/>
            <a:ext cx="10041505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第五章实验</a:t>
            </a: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3600" b="1">
                <a:solidFill>
                  <a:srgbClr val="333333"/>
                </a:solidFill>
                <a:latin typeface="+mn-ea"/>
                <a:ea typeface="+mn-ea"/>
              </a:rPr>
              <a:t>文件操作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68615743-0F76-1E7B-8513-381292D6BC62}"/>
              </a:ext>
            </a:extLst>
          </p:cNvPr>
          <p:cNvSpPr txBox="1"/>
          <p:nvPr/>
        </p:nvSpPr>
        <p:spPr>
          <a:xfrm>
            <a:off x="414130" y="1658414"/>
            <a:ext cx="113637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实验目标：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掌握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编程中文件操作以及程序运行路径设置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实验内容及要求：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）分别利用命令行工具和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 </a:t>
            </a:r>
            <a:r>
              <a:rPr lang="en-US" altLang="zh-CN" sz="2800" dirty="0" err="1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os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模块进行文件查询，路径切换，以及文件创建，在计算机指定目录下创建若干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.txt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r>
              <a:rPr lang="en-US" altLang="zh-CN" sz="2800" dirty="0" err="1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ipynb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）配置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r>
              <a:rPr lang="en-US" altLang="zh-CN" sz="2800" dirty="0" err="1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ipynb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文件运行路径（</a:t>
            </a:r>
            <a:r>
              <a:rPr lang="en-US" altLang="zh-CN" sz="2800" dirty="0" err="1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vscode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设置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lang="en-US" altLang="zh-CN" sz="2800" dirty="0" err="1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os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模块设置），分别采用相对路径和绝对路径读入计算机中同一个文件。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）实验结果截图发至课程群中。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00468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2423</TotalTime>
  <Words>1505</Words>
  <Application>Microsoft Office PowerPoint</Application>
  <PresentationFormat>宽屏</PresentationFormat>
  <Paragraphs>170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黑体</vt:lpstr>
      <vt:lpstr>Microsoft YaHei</vt:lpstr>
      <vt:lpstr>Microsoft YaHei</vt:lpstr>
      <vt:lpstr>Arial</vt:lpstr>
      <vt:lpstr>Calibri</vt:lpstr>
      <vt:lpstr>Consolas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第五章、文件操作与异常处理</vt:lpstr>
      <vt:lpstr>一、文件操作</vt:lpstr>
      <vt:lpstr>一、文件操作</vt:lpstr>
      <vt:lpstr>一、文件操作</vt:lpstr>
      <vt:lpstr>一、文件操作</vt:lpstr>
      <vt:lpstr>一、文件操作</vt:lpstr>
      <vt:lpstr>一、文件操作</vt:lpstr>
      <vt:lpstr>一、文件操作</vt:lpstr>
      <vt:lpstr>第五章、文件操作与异常处理</vt:lpstr>
      <vt:lpstr>二、异常处理</vt:lpstr>
      <vt:lpstr>PowerPoint 演示文稿</vt:lpstr>
      <vt:lpstr>PowerPoint 演示文稿</vt:lpstr>
      <vt:lpstr>PowerPoint 演示文稿</vt:lpstr>
      <vt:lpstr>二、异常处理</vt:lpstr>
      <vt:lpstr>第5章、文件操作与异常处理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38</cp:revision>
  <dcterms:created xsi:type="dcterms:W3CDTF">2004-07-09T11:40:27Z</dcterms:created>
  <dcterms:modified xsi:type="dcterms:W3CDTF">2026-10-26T09:40:27Z</dcterms:modified>
</cp:coreProperties>
</file>