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31"/>
  </p:notesMasterIdLst>
  <p:handoutMasterIdLst>
    <p:handoutMasterId r:id="rId32"/>
  </p:handoutMasterIdLst>
  <p:sldIdLst>
    <p:sldId id="2708" r:id="rId3"/>
    <p:sldId id="2387" r:id="rId4"/>
    <p:sldId id="2709" r:id="rId5"/>
    <p:sldId id="2773" r:id="rId6"/>
    <p:sldId id="2787" r:id="rId7"/>
    <p:sldId id="2788" r:id="rId8"/>
    <p:sldId id="2786" r:id="rId9"/>
    <p:sldId id="2780" r:id="rId10"/>
    <p:sldId id="2781" r:id="rId11"/>
    <p:sldId id="2774" r:id="rId12"/>
    <p:sldId id="2783" r:id="rId13"/>
    <p:sldId id="2784" r:id="rId14"/>
    <p:sldId id="2775" r:id="rId15"/>
    <p:sldId id="2785" r:id="rId16"/>
    <p:sldId id="2447" r:id="rId17"/>
    <p:sldId id="2766" r:id="rId18"/>
    <p:sldId id="2767" r:id="rId19"/>
    <p:sldId id="2768" r:id="rId20"/>
    <p:sldId id="2769" r:id="rId21"/>
    <p:sldId id="2726" r:id="rId22"/>
    <p:sldId id="2770" r:id="rId23"/>
    <p:sldId id="2790" r:id="rId24"/>
    <p:sldId id="2764" r:id="rId25"/>
    <p:sldId id="2789" r:id="rId26"/>
    <p:sldId id="2772" r:id="rId27"/>
    <p:sldId id="2782" r:id="rId28"/>
    <p:sldId id="2741" r:id="rId29"/>
    <p:sldId id="2760" r:id="rId30"/>
  </p:sldIdLst>
  <p:sldSz cx="12192000" cy="6858000"/>
  <p:notesSz cx="7099300" cy="10234613"/>
  <p:custDataLst>
    <p:tags r:id="rId33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AF40E1-8C97-074E-AC1F-2B56E3787A7D}" v="37" dt="2026-03-23T03:53:44.4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10" autoAdjust="0"/>
    <p:restoredTop sz="84607" autoAdjust="0"/>
  </p:normalViewPr>
  <p:slideViewPr>
    <p:cSldViewPr snapToGrid="0">
      <p:cViewPr varScale="1">
        <p:scale>
          <a:sx n="132" d="100"/>
          <a:sy n="132" d="100"/>
        </p:scale>
        <p:origin x="456" y="160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55" d="100"/>
        <a:sy n="15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6/11/relationships/changesInfo" Target="changesInfos/changesInfo1.xml"/><Relationship Id="rId21" Type="http://schemas.openxmlformats.org/officeDocument/2006/relationships/slide" Target="slides/slide19.xml"/><Relationship Id="rId34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D1C76DA8-6A23-54AC-AD0D-AC8E743EAA8D}"/>
    <pc:docChg chg="undo custSel addSld delSld modSld">
      <pc:chgData name="Xin Luo" userId="82312ee5779919a4" providerId="LiveId" clId="{D1C76DA8-6A23-54AC-AD0D-AC8E743EAA8D}" dt="2026-03-23T03:54:41.009" v="271" actId="1076"/>
      <pc:docMkLst>
        <pc:docMk/>
      </pc:docMkLst>
      <pc:sldChg chg="modSp mod">
        <pc:chgData name="Xin Luo" userId="82312ee5779919a4" providerId="LiveId" clId="{D1C76DA8-6A23-54AC-AD0D-AC8E743EAA8D}" dt="2026-03-23T03:14:38.202" v="97" actId="20577"/>
        <pc:sldMkLst>
          <pc:docMk/>
          <pc:sldMk cId="1576120367" sldId="2387"/>
        </pc:sldMkLst>
        <pc:spChg chg="mod">
          <ac:chgData name="Xin Luo" userId="82312ee5779919a4" providerId="LiveId" clId="{D1C76DA8-6A23-54AC-AD0D-AC8E743EAA8D}" dt="2026-03-23T03:14:38.202" v="97" actId="20577"/>
          <ac:spMkLst>
            <pc:docMk/>
            <pc:sldMk cId="1576120367" sldId="2387"/>
            <ac:spMk id="4" creationId="{E22E439B-4B3F-A527-61D0-3ED55D24E856}"/>
          </ac:spMkLst>
        </pc:spChg>
        <pc:spChg chg="mod">
          <ac:chgData name="Xin Luo" userId="82312ee5779919a4" providerId="LiveId" clId="{D1C76DA8-6A23-54AC-AD0D-AC8E743EAA8D}" dt="2026-03-23T03:14:12.135" v="63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D1C76DA8-6A23-54AC-AD0D-AC8E743EAA8D}" dt="2026-03-23T03:14:35.503" v="93" actId="20577"/>
          <ac:spMkLst>
            <pc:docMk/>
            <pc:sldMk cId="1576120367" sldId="2387"/>
            <ac:spMk id="13" creationId="{00000000-0000-0000-0000-000000000000}"/>
          </ac:spMkLst>
        </pc:spChg>
        <pc:grpChg chg="mod">
          <ac:chgData name="Xin Luo" userId="82312ee5779919a4" providerId="LiveId" clId="{D1C76DA8-6A23-54AC-AD0D-AC8E743EAA8D}" dt="2026-03-23T03:14:32.615" v="89" actId="103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D1C76DA8-6A23-54AC-AD0D-AC8E743EAA8D}" dt="2026-03-23T03:14:30.176" v="80" actId="1035"/>
          <ac:grpSpMkLst>
            <pc:docMk/>
            <pc:sldMk cId="1576120367" sldId="2387"/>
            <ac:grpSpMk id="3" creationId="{12ED16A1-79B8-7DB1-1CC1-250B051BAD58}"/>
          </ac:grpSpMkLst>
        </pc:grpChg>
      </pc:sldChg>
      <pc:sldChg chg="modSp mod">
        <pc:chgData name="Xin Luo" userId="82312ee5779919a4" providerId="LiveId" clId="{D1C76DA8-6A23-54AC-AD0D-AC8E743EAA8D}" dt="2026-03-23T03:19:42.095" v="126" actId="20577"/>
        <pc:sldMkLst>
          <pc:docMk/>
          <pc:sldMk cId="2415901206" sldId="2447"/>
        </pc:sldMkLst>
        <pc:spChg chg="mod">
          <ac:chgData name="Xin Luo" userId="82312ee5779919a4" providerId="LiveId" clId="{D1C76DA8-6A23-54AC-AD0D-AC8E743EAA8D}" dt="2026-03-23T03:19:42.095" v="126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D1C76DA8-6A23-54AC-AD0D-AC8E743EAA8D}" dt="2026-03-23T03:13:58.687" v="49" actId="14100"/>
        <pc:sldMkLst>
          <pc:docMk/>
          <pc:sldMk cId="1658607177" sldId="2708"/>
        </pc:sldMkLst>
        <pc:spChg chg="mod">
          <ac:chgData name="Xin Luo" userId="82312ee5779919a4" providerId="LiveId" clId="{D1C76DA8-6A23-54AC-AD0D-AC8E743EAA8D}" dt="2026-03-23T03:13:58.687" v="49" actId="14100"/>
          <ac:spMkLst>
            <pc:docMk/>
            <pc:sldMk cId="1658607177" sldId="2708"/>
            <ac:spMk id="24" creationId="{00000000-0000-0000-0000-000000000000}"/>
          </ac:spMkLst>
        </pc:spChg>
      </pc:sldChg>
      <pc:sldChg chg="modSp add mod">
        <pc:chgData name="Xin Luo" userId="82312ee5779919a4" providerId="LiveId" clId="{D1C76DA8-6A23-54AC-AD0D-AC8E743EAA8D}" dt="2026-03-23T03:15:02.851" v="103" actId="20577"/>
        <pc:sldMkLst>
          <pc:docMk/>
          <pc:sldMk cId="107160494" sldId="2709"/>
        </pc:sldMkLst>
        <pc:spChg chg="mod">
          <ac:chgData name="Xin Luo" userId="82312ee5779919a4" providerId="LiveId" clId="{D1C76DA8-6A23-54AC-AD0D-AC8E743EAA8D}" dt="2026-03-23T03:15:02.851" v="103" actId="20577"/>
          <ac:spMkLst>
            <pc:docMk/>
            <pc:sldMk cId="107160494" sldId="2709"/>
            <ac:spMk id="7" creationId="{00000000-0000-0000-0000-000000000000}"/>
          </ac:spMkLst>
        </pc:spChg>
      </pc:sldChg>
      <pc:sldChg chg="del">
        <pc:chgData name="Xin Luo" userId="82312ee5779919a4" providerId="LiveId" clId="{D1C76DA8-6A23-54AC-AD0D-AC8E743EAA8D}" dt="2026-03-23T03:14:55.425" v="98" actId="2696"/>
        <pc:sldMkLst>
          <pc:docMk/>
          <pc:sldMk cId="481122590" sldId="2709"/>
        </pc:sldMkLst>
      </pc:sldChg>
      <pc:sldChg chg="modSp">
        <pc:chgData name="Xin Luo" userId="82312ee5779919a4" providerId="LiveId" clId="{D1C76DA8-6A23-54AC-AD0D-AC8E743EAA8D}" dt="2026-03-23T03:20:28.814" v="146"/>
        <pc:sldMkLst>
          <pc:docMk/>
          <pc:sldMk cId="965496355" sldId="2726"/>
        </pc:sldMkLst>
        <pc:spChg chg="mod">
          <ac:chgData name="Xin Luo" userId="82312ee5779919a4" providerId="LiveId" clId="{D1C76DA8-6A23-54AC-AD0D-AC8E743EAA8D}" dt="2026-03-23T03:20:28.814" v="146"/>
          <ac:spMkLst>
            <pc:docMk/>
            <pc:sldMk cId="965496355" sldId="2726"/>
            <ac:spMk id="3" creationId="{00000000-0000-0000-0000-000000000000}"/>
          </ac:spMkLst>
        </pc:spChg>
      </pc:sldChg>
      <pc:sldChg chg="addSp delSp modSp mod">
        <pc:chgData name="Xin Luo" userId="82312ee5779919a4" providerId="LiveId" clId="{D1C76DA8-6A23-54AC-AD0D-AC8E743EAA8D}" dt="2026-03-23T03:20:58.085" v="155"/>
        <pc:sldMkLst>
          <pc:docMk/>
          <pc:sldMk cId="4207004688" sldId="2741"/>
        </pc:sldMkLst>
        <pc:spChg chg="mod">
          <ac:chgData name="Xin Luo" userId="82312ee5779919a4" providerId="LiveId" clId="{D1C76DA8-6A23-54AC-AD0D-AC8E743EAA8D}" dt="2026-03-23T03:20:58.085" v="155"/>
          <ac:spMkLst>
            <pc:docMk/>
            <pc:sldMk cId="4207004688" sldId="2741"/>
            <ac:spMk id="3" creationId="{00000000-0000-0000-0000-000000000000}"/>
          </ac:spMkLst>
        </pc:spChg>
        <pc:spChg chg="add del">
          <ac:chgData name="Xin Luo" userId="82312ee5779919a4" providerId="LiveId" clId="{D1C76DA8-6A23-54AC-AD0D-AC8E743EAA8D}" dt="2026-03-23T03:20:55.157" v="154" actId="22"/>
          <ac:spMkLst>
            <pc:docMk/>
            <pc:sldMk cId="4207004688" sldId="2741"/>
            <ac:spMk id="6" creationId="{B9FDC5B0-2174-D246-B1CB-4986A2FEEF82}"/>
          </ac:spMkLst>
        </pc:spChg>
      </pc:sldChg>
      <pc:sldChg chg="modSp">
        <pc:chgData name="Xin Luo" userId="82312ee5779919a4" providerId="LiveId" clId="{D1C76DA8-6A23-54AC-AD0D-AC8E743EAA8D}" dt="2026-03-23T03:21:01.628" v="156"/>
        <pc:sldMkLst>
          <pc:docMk/>
          <pc:sldMk cId="1125183986" sldId="2760"/>
        </pc:sldMkLst>
        <pc:spChg chg="mod">
          <ac:chgData name="Xin Luo" userId="82312ee5779919a4" providerId="LiveId" clId="{D1C76DA8-6A23-54AC-AD0D-AC8E743EAA8D}" dt="2026-03-23T03:21:01.628" v="156"/>
          <ac:spMkLst>
            <pc:docMk/>
            <pc:sldMk cId="1125183986" sldId="2760"/>
            <ac:spMk id="3" creationId="{00000000-0000-0000-0000-000000000000}"/>
          </ac:spMkLst>
        </pc:spChg>
      </pc:sldChg>
      <pc:sldChg chg="modSp">
        <pc:chgData name="Xin Luo" userId="82312ee5779919a4" providerId="LiveId" clId="{D1C76DA8-6A23-54AC-AD0D-AC8E743EAA8D}" dt="2026-03-23T03:20:37.599" v="148"/>
        <pc:sldMkLst>
          <pc:docMk/>
          <pc:sldMk cId="3506380824" sldId="2764"/>
        </pc:sldMkLst>
        <pc:spChg chg="mod">
          <ac:chgData name="Xin Luo" userId="82312ee5779919a4" providerId="LiveId" clId="{D1C76DA8-6A23-54AC-AD0D-AC8E743EAA8D}" dt="2026-03-23T03:20:37.599" v="148"/>
          <ac:spMkLst>
            <pc:docMk/>
            <pc:sldMk cId="3506380824" sldId="2764"/>
            <ac:spMk id="3" creationId="{00000000-0000-0000-0000-000000000000}"/>
          </ac:spMkLst>
        </pc:spChg>
      </pc:sldChg>
      <pc:sldChg chg="modSp mod">
        <pc:chgData name="Xin Luo" userId="82312ee5779919a4" providerId="LiveId" clId="{D1C76DA8-6A23-54AC-AD0D-AC8E743EAA8D}" dt="2026-03-23T03:20:14.987" v="142" actId="20577"/>
        <pc:sldMkLst>
          <pc:docMk/>
          <pc:sldMk cId="3139827326" sldId="2766"/>
        </pc:sldMkLst>
        <pc:spChg chg="mod">
          <ac:chgData name="Xin Luo" userId="82312ee5779919a4" providerId="LiveId" clId="{D1C76DA8-6A23-54AC-AD0D-AC8E743EAA8D}" dt="2026-03-23T03:20:14.987" v="142" actId="20577"/>
          <ac:spMkLst>
            <pc:docMk/>
            <pc:sldMk cId="3139827326" sldId="2766"/>
            <ac:spMk id="3" creationId="{AD9BC452-13E2-26AE-1D4E-3F9E7D53BC00}"/>
          </ac:spMkLst>
        </pc:spChg>
      </pc:sldChg>
      <pc:sldChg chg="modSp">
        <pc:chgData name="Xin Luo" userId="82312ee5779919a4" providerId="LiveId" clId="{D1C76DA8-6A23-54AC-AD0D-AC8E743EAA8D}" dt="2026-03-23T03:20:19.114" v="143"/>
        <pc:sldMkLst>
          <pc:docMk/>
          <pc:sldMk cId="2496547457" sldId="2767"/>
        </pc:sldMkLst>
        <pc:spChg chg="mod">
          <ac:chgData name="Xin Luo" userId="82312ee5779919a4" providerId="LiveId" clId="{D1C76DA8-6A23-54AC-AD0D-AC8E743EAA8D}" dt="2026-03-23T03:20:19.114" v="143"/>
          <ac:spMkLst>
            <pc:docMk/>
            <pc:sldMk cId="2496547457" sldId="2767"/>
            <ac:spMk id="3" creationId="{B58EA445-8D73-2A6D-E8D8-1E94A2452750}"/>
          </ac:spMkLst>
        </pc:spChg>
      </pc:sldChg>
      <pc:sldChg chg="modSp">
        <pc:chgData name="Xin Luo" userId="82312ee5779919a4" providerId="LiveId" clId="{D1C76DA8-6A23-54AC-AD0D-AC8E743EAA8D}" dt="2026-03-23T03:20:22.415" v="144"/>
        <pc:sldMkLst>
          <pc:docMk/>
          <pc:sldMk cId="4294185596" sldId="2768"/>
        </pc:sldMkLst>
        <pc:spChg chg="mod">
          <ac:chgData name="Xin Luo" userId="82312ee5779919a4" providerId="LiveId" clId="{D1C76DA8-6A23-54AC-AD0D-AC8E743EAA8D}" dt="2026-03-23T03:20:22.415" v="144"/>
          <ac:spMkLst>
            <pc:docMk/>
            <pc:sldMk cId="4294185596" sldId="2768"/>
            <ac:spMk id="3" creationId="{5F11642B-0E97-3F4F-C77A-F3C5A56EDB9E}"/>
          </ac:spMkLst>
        </pc:spChg>
      </pc:sldChg>
      <pc:sldChg chg="modSp">
        <pc:chgData name="Xin Luo" userId="82312ee5779919a4" providerId="LiveId" clId="{D1C76DA8-6A23-54AC-AD0D-AC8E743EAA8D}" dt="2026-03-23T03:20:25.798" v="145"/>
        <pc:sldMkLst>
          <pc:docMk/>
          <pc:sldMk cId="2958708285" sldId="2769"/>
        </pc:sldMkLst>
        <pc:spChg chg="mod">
          <ac:chgData name="Xin Luo" userId="82312ee5779919a4" providerId="LiveId" clId="{D1C76DA8-6A23-54AC-AD0D-AC8E743EAA8D}" dt="2026-03-23T03:20:25.798" v="145"/>
          <ac:spMkLst>
            <pc:docMk/>
            <pc:sldMk cId="2958708285" sldId="2769"/>
            <ac:spMk id="3" creationId="{A4184C65-D287-3A63-3DC9-746DECE25E8C}"/>
          </ac:spMkLst>
        </pc:spChg>
      </pc:sldChg>
      <pc:sldChg chg="addSp delSp modSp mod">
        <pc:chgData name="Xin Luo" userId="82312ee5779919a4" providerId="LiveId" clId="{D1C76DA8-6A23-54AC-AD0D-AC8E743EAA8D}" dt="2026-03-23T03:46:43.711" v="166" actId="931"/>
        <pc:sldMkLst>
          <pc:docMk/>
          <pc:sldMk cId="819369415" sldId="2770"/>
        </pc:sldMkLst>
        <pc:spChg chg="mod">
          <ac:chgData name="Xin Luo" userId="82312ee5779919a4" providerId="LiveId" clId="{D1C76DA8-6A23-54AC-AD0D-AC8E743EAA8D}" dt="2026-03-23T03:20:33.316" v="147"/>
          <ac:spMkLst>
            <pc:docMk/>
            <pc:sldMk cId="819369415" sldId="2770"/>
            <ac:spMk id="3" creationId="{2C118951-D4A5-20CD-F22A-F909B6721EA7}"/>
          </ac:spMkLst>
        </pc:spChg>
        <pc:picChg chg="add del mod">
          <ac:chgData name="Xin Luo" userId="82312ee5779919a4" providerId="LiveId" clId="{D1C76DA8-6A23-54AC-AD0D-AC8E743EAA8D}" dt="2026-03-23T03:46:34.599" v="161" actId="931"/>
          <ac:picMkLst>
            <pc:docMk/>
            <pc:sldMk cId="819369415" sldId="2770"/>
            <ac:picMk id="6" creationId="{F69A3C9A-4497-D3FE-9D27-1743F72DABEA}"/>
          </ac:picMkLst>
        </pc:picChg>
        <pc:picChg chg="add del mod">
          <ac:chgData name="Xin Luo" userId="82312ee5779919a4" providerId="LiveId" clId="{D1C76DA8-6A23-54AC-AD0D-AC8E743EAA8D}" dt="2026-03-23T03:46:43.711" v="166" actId="931"/>
          <ac:picMkLst>
            <pc:docMk/>
            <pc:sldMk cId="819369415" sldId="2770"/>
            <ac:picMk id="8" creationId="{7A94B67D-9B89-1EE1-2799-4773DDB18F56}"/>
          </ac:picMkLst>
        </pc:picChg>
      </pc:sldChg>
      <pc:sldChg chg="modSp">
        <pc:chgData name="Xin Luo" userId="82312ee5779919a4" providerId="LiveId" clId="{D1C76DA8-6A23-54AC-AD0D-AC8E743EAA8D}" dt="2026-03-23T03:20:45.329" v="150"/>
        <pc:sldMkLst>
          <pc:docMk/>
          <pc:sldMk cId="2890079731" sldId="2772"/>
        </pc:sldMkLst>
        <pc:spChg chg="mod">
          <ac:chgData name="Xin Luo" userId="82312ee5779919a4" providerId="LiveId" clId="{D1C76DA8-6A23-54AC-AD0D-AC8E743EAA8D}" dt="2026-03-23T03:20:45.329" v="150"/>
          <ac:spMkLst>
            <pc:docMk/>
            <pc:sldMk cId="2890079731" sldId="2772"/>
            <ac:spMk id="3" creationId="{CF4EF1E7-684D-964B-A381-A883C0767ADD}"/>
          </ac:spMkLst>
        </pc:spChg>
      </pc:sldChg>
      <pc:sldChg chg="add">
        <pc:chgData name="Xin Luo" userId="82312ee5779919a4" providerId="LiveId" clId="{D1C76DA8-6A23-54AC-AD0D-AC8E743EAA8D}" dt="2026-03-23T03:14:58.240" v="99"/>
        <pc:sldMkLst>
          <pc:docMk/>
          <pc:sldMk cId="2744012891" sldId="2773"/>
        </pc:sldMkLst>
      </pc:sldChg>
      <pc:sldChg chg="del">
        <pc:chgData name="Xin Luo" userId="82312ee5779919a4" providerId="LiveId" clId="{D1C76DA8-6A23-54AC-AD0D-AC8E743EAA8D}" dt="2026-03-23T03:14:55.425" v="98" actId="2696"/>
        <pc:sldMkLst>
          <pc:docMk/>
          <pc:sldMk cId="3483888068" sldId="2773"/>
        </pc:sldMkLst>
      </pc:sldChg>
      <pc:sldChg chg="add">
        <pc:chgData name="Xin Luo" userId="82312ee5779919a4" providerId="LiveId" clId="{D1C76DA8-6A23-54AC-AD0D-AC8E743EAA8D}" dt="2026-03-23T03:14:58.240" v="99"/>
        <pc:sldMkLst>
          <pc:docMk/>
          <pc:sldMk cId="1241927416" sldId="2774"/>
        </pc:sldMkLst>
      </pc:sldChg>
      <pc:sldChg chg="del">
        <pc:chgData name="Xin Luo" userId="82312ee5779919a4" providerId="LiveId" clId="{D1C76DA8-6A23-54AC-AD0D-AC8E743EAA8D}" dt="2026-03-23T03:14:55.425" v="98" actId="2696"/>
        <pc:sldMkLst>
          <pc:docMk/>
          <pc:sldMk cId="3486418074" sldId="2774"/>
        </pc:sldMkLst>
      </pc:sldChg>
      <pc:sldChg chg="add">
        <pc:chgData name="Xin Luo" userId="82312ee5779919a4" providerId="LiveId" clId="{D1C76DA8-6A23-54AC-AD0D-AC8E743EAA8D}" dt="2026-03-23T03:14:58.240" v="99"/>
        <pc:sldMkLst>
          <pc:docMk/>
          <pc:sldMk cId="250593759" sldId="2775"/>
        </pc:sldMkLst>
      </pc:sldChg>
      <pc:sldChg chg="del">
        <pc:chgData name="Xin Luo" userId="82312ee5779919a4" providerId="LiveId" clId="{D1C76DA8-6A23-54AC-AD0D-AC8E743EAA8D}" dt="2026-03-23T03:14:55.425" v="98" actId="2696"/>
        <pc:sldMkLst>
          <pc:docMk/>
          <pc:sldMk cId="1254623858" sldId="2775"/>
        </pc:sldMkLst>
      </pc:sldChg>
      <pc:sldChg chg="add">
        <pc:chgData name="Xin Luo" userId="82312ee5779919a4" providerId="LiveId" clId="{D1C76DA8-6A23-54AC-AD0D-AC8E743EAA8D}" dt="2026-03-23T03:14:58.240" v="99"/>
        <pc:sldMkLst>
          <pc:docMk/>
          <pc:sldMk cId="2369622364" sldId="2780"/>
        </pc:sldMkLst>
      </pc:sldChg>
      <pc:sldChg chg="del">
        <pc:chgData name="Xin Luo" userId="82312ee5779919a4" providerId="LiveId" clId="{D1C76DA8-6A23-54AC-AD0D-AC8E743EAA8D}" dt="2026-03-23T03:14:55.425" v="98" actId="2696"/>
        <pc:sldMkLst>
          <pc:docMk/>
          <pc:sldMk cId="4037586554" sldId="2780"/>
        </pc:sldMkLst>
      </pc:sldChg>
      <pc:sldChg chg="modSp add mod">
        <pc:chgData name="Xin Luo" userId="82312ee5779919a4" providerId="LiveId" clId="{D1C76DA8-6A23-54AC-AD0D-AC8E743EAA8D}" dt="2026-03-23T03:16:08.297" v="111" actId="20577"/>
        <pc:sldMkLst>
          <pc:docMk/>
          <pc:sldMk cId="920810143" sldId="2781"/>
        </pc:sldMkLst>
        <pc:spChg chg="mod">
          <ac:chgData name="Xin Luo" userId="82312ee5779919a4" providerId="LiveId" clId="{D1C76DA8-6A23-54AC-AD0D-AC8E743EAA8D}" dt="2026-03-23T03:15:57.832" v="109" actId="1035"/>
          <ac:spMkLst>
            <pc:docMk/>
            <pc:sldMk cId="920810143" sldId="2781"/>
            <ac:spMk id="7" creationId="{F51DEC56-3581-81F0-AA96-9F9FFB3903DC}"/>
          </ac:spMkLst>
        </pc:spChg>
        <pc:spChg chg="mod">
          <ac:chgData name="Xin Luo" userId="82312ee5779919a4" providerId="LiveId" clId="{D1C76DA8-6A23-54AC-AD0D-AC8E743EAA8D}" dt="2026-03-23T03:16:08.297" v="111" actId="20577"/>
          <ac:spMkLst>
            <pc:docMk/>
            <pc:sldMk cId="920810143" sldId="2781"/>
            <ac:spMk id="19" creationId="{C7DB1091-8910-855C-6F3A-EC7B304CC21F}"/>
          </ac:spMkLst>
        </pc:spChg>
      </pc:sldChg>
      <pc:sldChg chg="del">
        <pc:chgData name="Xin Luo" userId="82312ee5779919a4" providerId="LiveId" clId="{D1C76DA8-6A23-54AC-AD0D-AC8E743EAA8D}" dt="2026-03-23T03:14:55.425" v="98" actId="2696"/>
        <pc:sldMkLst>
          <pc:docMk/>
          <pc:sldMk cId="3037146437" sldId="2781"/>
        </pc:sldMkLst>
      </pc:sldChg>
      <pc:sldChg chg="modSp">
        <pc:chgData name="Xin Luo" userId="82312ee5779919a4" providerId="LiveId" clId="{D1C76DA8-6A23-54AC-AD0D-AC8E743EAA8D}" dt="2026-03-23T03:20:47.933" v="151"/>
        <pc:sldMkLst>
          <pc:docMk/>
          <pc:sldMk cId="2789328484" sldId="2782"/>
        </pc:sldMkLst>
        <pc:spChg chg="mod">
          <ac:chgData name="Xin Luo" userId="82312ee5779919a4" providerId="LiveId" clId="{D1C76DA8-6A23-54AC-AD0D-AC8E743EAA8D}" dt="2026-03-23T03:20:47.933" v="151"/>
          <ac:spMkLst>
            <pc:docMk/>
            <pc:sldMk cId="2789328484" sldId="2782"/>
            <ac:spMk id="3" creationId="{68B30701-AD4D-6823-D328-DC1047C149E8}"/>
          </ac:spMkLst>
        </pc:spChg>
      </pc:sldChg>
      <pc:sldChg chg="add">
        <pc:chgData name="Xin Luo" userId="82312ee5779919a4" providerId="LiveId" clId="{D1C76DA8-6A23-54AC-AD0D-AC8E743EAA8D}" dt="2026-03-23T03:14:58.240" v="99"/>
        <pc:sldMkLst>
          <pc:docMk/>
          <pc:sldMk cId="500838239" sldId="2783"/>
        </pc:sldMkLst>
      </pc:sldChg>
      <pc:sldChg chg="del">
        <pc:chgData name="Xin Luo" userId="82312ee5779919a4" providerId="LiveId" clId="{D1C76DA8-6A23-54AC-AD0D-AC8E743EAA8D}" dt="2026-03-23T03:14:55.425" v="98" actId="2696"/>
        <pc:sldMkLst>
          <pc:docMk/>
          <pc:sldMk cId="2398481112" sldId="2783"/>
        </pc:sldMkLst>
      </pc:sldChg>
      <pc:sldChg chg="add">
        <pc:chgData name="Xin Luo" userId="82312ee5779919a4" providerId="LiveId" clId="{D1C76DA8-6A23-54AC-AD0D-AC8E743EAA8D}" dt="2026-03-23T03:14:58.240" v="99"/>
        <pc:sldMkLst>
          <pc:docMk/>
          <pc:sldMk cId="1295589232" sldId="2784"/>
        </pc:sldMkLst>
      </pc:sldChg>
      <pc:sldChg chg="del">
        <pc:chgData name="Xin Luo" userId="82312ee5779919a4" providerId="LiveId" clId="{D1C76DA8-6A23-54AC-AD0D-AC8E743EAA8D}" dt="2026-03-23T03:14:55.425" v="98" actId="2696"/>
        <pc:sldMkLst>
          <pc:docMk/>
          <pc:sldMk cId="1616797057" sldId="2784"/>
        </pc:sldMkLst>
      </pc:sldChg>
      <pc:sldChg chg="add">
        <pc:chgData name="Xin Luo" userId="82312ee5779919a4" providerId="LiveId" clId="{D1C76DA8-6A23-54AC-AD0D-AC8E743EAA8D}" dt="2026-03-23T03:14:58.240" v="99"/>
        <pc:sldMkLst>
          <pc:docMk/>
          <pc:sldMk cId="538718734" sldId="2785"/>
        </pc:sldMkLst>
      </pc:sldChg>
      <pc:sldChg chg="del">
        <pc:chgData name="Xin Luo" userId="82312ee5779919a4" providerId="LiveId" clId="{D1C76DA8-6A23-54AC-AD0D-AC8E743EAA8D}" dt="2026-03-23T03:14:55.425" v="98" actId="2696"/>
        <pc:sldMkLst>
          <pc:docMk/>
          <pc:sldMk cId="2714098320" sldId="2785"/>
        </pc:sldMkLst>
      </pc:sldChg>
      <pc:sldChg chg="add">
        <pc:chgData name="Xin Luo" userId="82312ee5779919a4" providerId="LiveId" clId="{D1C76DA8-6A23-54AC-AD0D-AC8E743EAA8D}" dt="2026-03-23T03:14:58.240" v="99"/>
        <pc:sldMkLst>
          <pc:docMk/>
          <pc:sldMk cId="2044875102" sldId="2786"/>
        </pc:sldMkLst>
      </pc:sldChg>
      <pc:sldChg chg="del">
        <pc:chgData name="Xin Luo" userId="82312ee5779919a4" providerId="LiveId" clId="{D1C76DA8-6A23-54AC-AD0D-AC8E743EAA8D}" dt="2026-03-23T03:14:55.425" v="98" actId="2696"/>
        <pc:sldMkLst>
          <pc:docMk/>
          <pc:sldMk cId="3450755784" sldId="2786"/>
        </pc:sldMkLst>
      </pc:sldChg>
      <pc:sldChg chg="add">
        <pc:chgData name="Xin Luo" userId="82312ee5779919a4" providerId="LiveId" clId="{D1C76DA8-6A23-54AC-AD0D-AC8E743EAA8D}" dt="2026-03-23T03:14:58.240" v="99"/>
        <pc:sldMkLst>
          <pc:docMk/>
          <pc:sldMk cId="975733457" sldId="2787"/>
        </pc:sldMkLst>
      </pc:sldChg>
      <pc:sldChg chg="del">
        <pc:chgData name="Xin Luo" userId="82312ee5779919a4" providerId="LiveId" clId="{D1C76DA8-6A23-54AC-AD0D-AC8E743EAA8D}" dt="2026-03-23T03:14:55.425" v="98" actId="2696"/>
        <pc:sldMkLst>
          <pc:docMk/>
          <pc:sldMk cId="1273722621" sldId="2787"/>
        </pc:sldMkLst>
      </pc:sldChg>
      <pc:sldChg chg="add">
        <pc:chgData name="Xin Luo" userId="82312ee5779919a4" providerId="LiveId" clId="{D1C76DA8-6A23-54AC-AD0D-AC8E743EAA8D}" dt="2026-03-23T03:14:58.240" v="99"/>
        <pc:sldMkLst>
          <pc:docMk/>
          <pc:sldMk cId="210221223" sldId="2788"/>
        </pc:sldMkLst>
      </pc:sldChg>
      <pc:sldChg chg="del">
        <pc:chgData name="Xin Luo" userId="82312ee5779919a4" providerId="LiveId" clId="{D1C76DA8-6A23-54AC-AD0D-AC8E743EAA8D}" dt="2026-03-23T03:14:55.425" v="98" actId="2696"/>
        <pc:sldMkLst>
          <pc:docMk/>
          <pc:sldMk cId="972267573" sldId="2788"/>
        </pc:sldMkLst>
      </pc:sldChg>
      <pc:sldChg chg="modSp">
        <pc:chgData name="Xin Luo" userId="82312ee5779919a4" providerId="LiveId" clId="{D1C76DA8-6A23-54AC-AD0D-AC8E743EAA8D}" dt="2026-03-23T03:20:40.981" v="149"/>
        <pc:sldMkLst>
          <pc:docMk/>
          <pc:sldMk cId="3281637525" sldId="2789"/>
        </pc:sldMkLst>
        <pc:spChg chg="mod">
          <ac:chgData name="Xin Luo" userId="82312ee5779919a4" providerId="LiveId" clId="{D1C76DA8-6A23-54AC-AD0D-AC8E743EAA8D}" dt="2026-03-23T03:20:40.981" v="149"/>
          <ac:spMkLst>
            <pc:docMk/>
            <pc:sldMk cId="3281637525" sldId="2789"/>
            <ac:spMk id="3" creationId="{3BDAF7BC-987F-5B89-1A7B-3768858F912D}"/>
          </ac:spMkLst>
        </pc:spChg>
      </pc:sldChg>
      <pc:sldChg chg="addSp delSp modSp add mod">
        <pc:chgData name="Xin Luo" userId="82312ee5779919a4" providerId="LiveId" clId="{D1C76DA8-6A23-54AC-AD0D-AC8E743EAA8D}" dt="2026-03-23T03:54:41.009" v="271" actId="1076"/>
        <pc:sldMkLst>
          <pc:docMk/>
          <pc:sldMk cId="2120377756" sldId="2790"/>
        </pc:sldMkLst>
        <pc:spChg chg="add mod">
          <ac:chgData name="Xin Luo" userId="82312ee5779919a4" providerId="LiveId" clId="{D1C76DA8-6A23-54AC-AD0D-AC8E743EAA8D}" dt="2026-03-23T03:53:55.367" v="261" actId="108"/>
          <ac:spMkLst>
            <pc:docMk/>
            <pc:sldMk cId="2120377756" sldId="2790"/>
            <ac:spMk id="2" creationId="{E67421A5-F4D3-85F6-4790-B2725F3418B5}"/>
          </ac:spMkLst>
        </pc:spChg>
        <pc:spChg chg="del">
          <ac:chgData name="Xin Luo" userId="82312ee5779919a4" providerId="LiveId" clId="{D1C76DA8-6A23-54AC-AD0D-AC8E743EAA8D}" dt="2026-03-23T03:49:16.555" v="170" actId="478"/>
          <ac:spMkLst>
            <pc:docMk/>
            <pc:sldMk cId="2120377756" sldId="2790"/>
            <ac:spMk id="3" creationId="{00000000-0000-0000-0000-000000000000}"/>
          </ac:spMkLst>
        </pc:spChg>
        <pc:spChg chg="add mod">
          <ac:chgData name="Xin Luo" userId="82312ee5779919a4" providerId="LiveId" clId="{D1C76DA8-6A23-54AC-AD0D-AC8E743EAA8D}" dt="2026-03-23T03:49:18.483" v="173"/>
          <ac:spMkLst>
            <pc:docMk/>
            <pc:sldMk cId="2120377756" sldId="2790"/>
            <ac:spMk id="4" creationId="{E255420E-8943-4352-9AE5-5BF7211034DF}"/>
          </ac:spMkLst>
        </pc:spChg>
        <pc:spChg chg="del">
          <ac:chgData name="Xin Luo" userId="82312ee5779919a4" providerId="LiveId" clId="{D1C76DA8-6A23-54AC-AD0D-AC8E743EAA8D}" dt="2026-03-23T03:49:04.661" v="168" actId="478"/>
          <ac:spMkLst>
            <pc:docMk/>
            <pc:sldMk cId="2120377756" sldId="2790"/>
            <ac:spMk id="6" creationId="{6741FEA2-C046-FD82-2800-2CB513792080}"/>
          </ac:spMkLst>
        </pc:spChg>
        <pc:spChg chg="add del">
          <ac:chgData name="Xin Luo" userId="82312ee5779919a4" providerId="LiveId" clId="{D1C76DA8-6A23-54AC-AD0D-AC8E743EAA8D}" dt="2026-03-23T03:49:17.573" v="172" actId="22"/>
          <ac:spMkLst>
            <pc:docMk/>
            <pc:sldMk cId="2120377756" sldId="2790"/>
            <ac:spMk id="8" creationId="{BF539C54-C8AE-E026-D129-CF7040158005}"/>
          </ac:spMkLst>
        </pc:spChg>
        <pc:graphicFrameChg chg="mod modGraphic">
          <ac:chgData name="Xin Luo" userId="82312ee5779919a4" providerId="LiveId" clId="{D1C76DA8-6A23-54AC-AD0D-AC8E743EAA8D}" dt="2026-03-23T03:54:41.009" v="271" actId="1076"/>
          <ac:graphicFrameMkLst>
            <pc:docMk/>
            <pc:sldMk cId="2120377756" sldId="2790"/>
            <ac:graphicFrameMk id="5" creationId="{842BFBCA-9573-0586-F7F4-02CC91863DEB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52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089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583E9-4E36-F0F8-7606-102BD5629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28548B-4993-09C6-9FFF-13476A6F6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273C88-EA5A-22A1-1F97-46343DFB4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endParaRPr lang="zh-CN" altLang="en-US" sz="1200" b="0" i="0" dirty="0">
              <a:solidFill>
                <a:schemeClr val="bg2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15494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2C0E5-A5E8-391F-4B91-3AE540419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375B12-F6E3-4ABB-DB25-51FAF83C1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68CBD5-18AE-4F60-0204-6A8E6D3AC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r>
              <a:rPr lang="en-US" altLang="zh-CN" sz="1200" b="0" i="0" dirty="0" err="1">
                <a:solidFill>
                  <a:schemeClr val="bg2"/>
                </a:solidFill>
                <a:effectLst/>
                <a:latin typeface="+mj-ea"/>
                <a:ea typeface="+mj-ea"/>
              </a:rPr>
              <a:t>Matlab</a:t>
            </a:r>
            <a:r>
              <a:rPr lang="zh-CN" altLang="en-US" sz="1200" b="0" i="0" dirty="0">
                <a:solidFill>
                  <a:schemeClr val="bg2"/>
                </a:solidFill>
                <a:effectLst/>
                <a:latin typeface="+mj-ea"/>
                <a:ea typeface="+mj-ea"/>
              </a:rPr>
              <a:t>逻辑型，即布尔型</a:t>
            </a:r>
            <a:endParaRPr lang="en-US" altLang="zh-CN" sz="1200" b="0" i="0" dirty="0">
              <a:solidFill>
                <a:schemeClr val="bg2"/>
              </a:solidFill>
              <a:effectLst/>
              <a:latin typeface="+mj-ea"/>
              <a:ea typeface="+mj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b="0" i="0" dirty="0">
                <a:solidFill>
                  <a:schemeClr val="bg2"/>
                </a:solidFill>
                <a:effectLst/>
                <a:latin typeface="+mj-ea"/>
                <a:ea typeface="+mj-ea"/>
              </a:rPr>
              <a:t>C</a:t>
            </a:r>
            <a:r>
              <a:rPr lang="zh-CN" altLang="en-US" sz="1200" b="0" i="0" dirty="0">
                <a:solidFill>
                  <a:schemeClr val="bg2"/>
                </a:solidFill>
                <a:effectLst/>
                <a:latin typeface="+mj-ea"/>
                <a:ea typeface="+mj-ea"/>
              </a:rPr>
              <a:t>中字符型包含在整数型中。</a:t>
            </a:r>
          </a:p>
        </p:txBody>
      </p:sp>
    </p:spTree>
    <p:extLst>
      <p:ext uri="{BB962C8B-B14F-4D97-AF65-F5344CB8AC3E}">
        <p14:creationId xmlns:p14="http://schemas.microsoft.com/office/powerpoint/2010/main" val="1958904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0AF62-7DBD-55B7-4748-A9EA2D9A1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2F7502-661C-757F-BF62-301101D6F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F0CA97-6C4F-2FEB-455B-42F70FFA5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代码演示，</a:t>
            </a:r>
            <a:r>
              <a:rPr lang="en-US" altLang="zh-CN" dirty="0"/>
              <a:t>type()</a:t>
            </a:r>
            <a:r>
              <a:rPr lang="zh-CN" altLang="en-US" dirty="0"/>
              <a:t>获取类型</a:t>
            </a:r>
          </a:p>
        </p:txBody>
      </p:sp>
    </p:spTree>
    <p:extLst>
      <p:ext uri="{BB962C8B-B14F-4D97-AF65-F5344CB8AC3E}">
        <p14:creationId xmlns:p14="http://schemas.microsoft.com/office/powerpoint/2010/main" val="1268070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55CFF-268F-BEF0-3CDC-6D05BCE3C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8E18DD-47CD-6A26-B7EE-1DFD96025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C4BEBF-8DD7-C96B-A317-2DBBDE67C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代码演示，</a:t>
            </a:r>
            <a:r>
              <a:rPr lang="en-US" altLang="zh-CN" dirty="0"/>
              <a:t>type()</a:t>
            </a:r>
            <a:r>
              <a:rPr lang="zh-CN" altLang="en-US" dirty="0"/>
              <a:t>获取类型</a:t>
            </a:r>
          </a:p>
        </p:txBody>
      </p:sp>
    </p:spTree>
    <p:extLst>
      <p:ext uri="{BB962C8B-B14F-4D97-AF65-F5344CB8AC3E}">
        <p14:creationId xmlns:p14="http://schemas.microsoft.com/office/powerpoint/2010/main" val="167541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50696-E33E-1051-D7DF-3903B0D6D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94669E-BE0C-B804-3824-18056F369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DF21B9-7106-F428-0765-46A486BB3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代码演示，</a:t>
            </a:r>
            <a:r>
              <a:rPr lang="en-US" altLang="zh-CN" dirty="0"/>
              <a:t>type()</a:t>
            </a:r>
            <a:r>
              <a:rPr lang="zh-CN" altLang="en-US" dirty="0"/>
              <a:t>获取类型</a:t>
            </a:r>
          </a:p>
        </p:txBody>
      </p:sp>
    </p:spTree>
    <p:extLst>
      <p:ext uri="{BB962C8B-B14F-4D97-AF65-F5344CB8AC3E}">
        <p14:creationId xmlns:p14="http://schemas.microsoft.com/office/powerpoint/2010/main" val="1257904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76876-0C31-11A8-EE98-CFD5308FD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73070C-B8F6-B687-1585-9274283A3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4EC7B9-B20E-481F-3B0C-1F0A53C2A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1110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638A4-B42C-097D-399D-60A2B59E5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60A03E-8756-4F8E-4C60-98AC743CF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513CFC-9F04-5D2A-19C3-0466EF71E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10970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584D7-2CBD-51DC-9603-9F231DF55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E4D792-0DA4-4526-E547-7AD116A5E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CDA646-75D4-3533-0570-EDD635D6C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Insert(), pop() </a:t>
            </a:r>
            <a:r>
              <a:rPr lang="zh-CN" altLang="en-US" dirty="0"/>
              <a:t>根据索引进行增加，删除。</a:t>
            </a:r>
          </a:p>
        </p:txBody>
      </p:sp>
    </p:spTree>
    <p:extLst>
      <p:ext uri="{BB962C8B-B14F-4D97-AF65-F5344CB8AC3E}">
        <p14:creationId xmlns:p14="http://schemas.microsoft.com/office/powerpoint/2010/main" val="1935305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48ED7-40E5-5350-7774-90EE815BF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1D5A35-580C-8469-CFDF-47F78CDD8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0B2495-CB7E-4889-6409-90A51B0A2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9067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4B465-6A66-3672-A53F-AC8A7F4EB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A01508-06EB-6574-DAFC-7A565BCA0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9AA37F3-5C94-9724-B21A-AAEDECF34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022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7F50A-F8CA-4C0C-EF8E-B9E0FB9F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8FE580-4801-43E8-FD48-D7955C8DE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7030F8-DA08-B8AF-729C-4A887C481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1083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10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DE2C2-844B-3732-AF69-AACB8AE0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9E8F11-1D16-87AA-1E78-AE2D969B6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5689BF-2E4D-D6B9-FCE8-E64FE9605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/>
              <a:t>python</a:t>
            </a:r>
            <a:r>
              <a:rPr lang="zh-CN" altLang="en-US" dirty="0"/>
              <a:t>创建变量不需要声明类型。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zh-CN" altLang="en-US" dirty="0"/>
          </a:p>
          <a:p>
            <a:pPr algn="l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08724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4FB29-EE7C-BDC2-40B1-08E24B8B1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AB243B-0CB8-7F10-5D71-CDCCF5B4E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03F916-E021-8266-58DC-3ECBA5A3F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67529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63629-D0A9-3055-0B21-A59F6A6CD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6D6B74-F5B3-279F-B1D9-45A355F2C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BC7CC0-E8BF-1FD9-9A7B-2E285A17A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D4D0AB"/>
                </a:solidFill>
                <a:effectLst/>
                <a:latin typeface="Consolas" panose="020B0609020204030204" pitchFamily="49" charset="0"/>
              </a:rPr>
              <a:t>数字开头错误；含连字符错误；使用关键字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24018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DDB6D-EF98-9642-1FFD-58A686073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98B6F8-528D-E83C-E1C1-BC04503F0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A96621-705B-2D9E-3B1C-7A02400EA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91616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75907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02C1E-45B6-057C-8BA5-8C0394E4E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BB099C2-FE39-CF2E-BD8D-FD7978BF5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AFDCBE-C173-05C7-91F4-213192E61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后续会具体讲解变量类型</a:t>
            </a:r>
          </a:p>
        </p:txBody>
      </p:sp>
    </p:spTree>
    <p:extLst>
      <p:ext uri="{BB962C8B-B14F-4D97-AF65-F5344CB8AC3E}">
        <p14:creationId xmlns:p14="http://schemas.microsoft.com/office/powerpoint/2010/main" val="7039927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35667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35667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98BAE-0488-5FC4-D2BB-BE3C89190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DF7313-39BF-9AA9-4681-1BB257D72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057346-BEB5-AF3A-0955-5BEA37A74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48834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2372D-BE88-532E-F2EA-55C41B244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6D2C2B-2996-9C92-5422-5CCF222A9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B546BE-7254-353B-1D72-2815AA0C8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97303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0C68C-A208-FB3E-3344-B3393D635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467CE8-859E-062F-6283-BC715763C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BD0B8A-2483-2963-4553-683CC670D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复杂，不建议用太多</a:t>
            </a:r>
          </a:p>
        </p:txBody>
      </p:sp>
    </p:spTree>
    <p:extLst>
      <p:ext uri="{BB962C8B-B14F-4D97-AF65-F5344CB8AC3E}">
        <p14:creationId xmlns:p14="http://schemas.microsoft.com/office/powerpoint/2010/main" val="28458816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33262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1313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230659" y="1685332"/>
            <a:ext cx="9452582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5400" b="1" dirty="0">
                <a:solidFill>
                  <a:srgbClr val="FF0000"/>
                </a:solidFill>
                <a:latin typeface="微软雅黑"/>
                <a:ea typeface="微软雅黑"/>
              </a:rPr>
              <a:t>第二章 数据类型与变量运算</a:t>
            </a:r>
            <a:endParaRPr lang="zh-CN" altLang="zh-CN" sz="54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endParaRPr lang="zh-CN" altLang="en-US" sz="32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5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831819" y="5474698"/>
            <a:ext cx="862795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 err="1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2000" dirty="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2000" dirty="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2000" dirty="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2000" dirty="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2000" dirty="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20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694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2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7502719" y="243145"/>
            <a:ext cx="45448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2000" b="1" dirty="0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zh-CN" altLang="en-US" sz="2000" b="1" dirty="0">
                <a:solidFill>
                  <a:schemeClr val="bg2"/>
                </a:solidFill>
                <a:latin typeface="+mn-ea"/>
                <a:ea typeface="+mn-ea"/>
              </a:rPr>
              <a:t>地学</a:t>
            </a:r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编程基础</a:t>
            </a:r>
            <a:r>
              <a:rPr lang="en-US" altLang="zh-CN" sz="2000" b="1" dirty="0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2000" b="1" dirty="0">
                <a:solidFill>
                  <a:schemeClr val="bg2"/>
                </a:solidFill>
                <a:latin typeface="+mn-ea"/>
                <a:ea typeface="+mn-ea"/>
              </a:rPr>
              <a:t>二</a:t>
            </a:r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ED16A1-79B8-7DB1-1CC1-250B051BAD58}"/>
              </a:ext>
            </a:extLst>
          </p:cNvPr>
          <p:cNvGrpSpPr/>
          <p:nvPr/>
        </p:nvGrpSpPr>
        <p:grpSpPr>
          <a:xfrm>
            <a:off x="1941121" y="2761474"/>
            <a:ext cx="6403721" cy="718410"/>
            <a:chOff x="2121801" y="3511059"/>
            <a:chExt cx="5718901" cy="576331"/>
          </a:xfrm>
        </p:grpSpPr>
        <p:sp>
          <p:nvSpPr>
            <p:cNvPr id="13" name="椭圆 12"/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40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777899" y="3511059"/>
              <a:ext cx="5062803" cy="56788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40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数据类型</a:t>
              </a:r>
              <a:endParaRPr lang="en-US" altLang="zh-CN" sz="40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696373" y="260648"/>
            <a:ext cx="1608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CAA61D-767A-24EA-9072-7425684288BB}"/>
              </a:ext>
            </a:extLst>
          </p:cNvPr>
          <p:cNvGrpSpPr/>
          <p:nvPr/>
        </p:nvGrpSpPr>
        <p:grpSpPr>
          <a:xfrm>
            <a:off x="1941121" y="3909432"/>
            <a:ext cx="6649827" cy="772176"/>
            <a:chOff x="2121802" y="2115450"/>
            <a:chExt cx="5221533" cy="576000"/>
          </a:xfrm>
        </p:grpSpPr>
        <p:sp>
          <p:nvSpPr>
            <p:cNvPr id="4" name="椭圆 9">
              <a:extLst>
                <a:ext uri="{FF2B5EF4-FFF2-40B4-BE49-F238E27FC236}">
                  <a16:creationId xmlns:a16="http://schemas.microsoft.com/office/drawing/2014/main" id="{E22E439B-4B3F-A527-61D0-3ED55D24E856}"/>
                </a:ext>
              </a:extLst>
            </p:cNvPr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40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5" name="矩形 11">
              <a:extLst>
                <a:ext uri="{FF2B5EF4-FFF2-40B4-BE49-F238E27FC236}">
                  <a16:creationId xmlns:a16="http://schemas.microsoft.com/office/drawing/2014/main" id="{494DAA55-5621-28DB-D255-E0EBB6C6477B}"/>
                </a:ext>
              </a:extLst>
            </p:cNvPr>
            <p:cNvSpPr/>
            <p:nvPr/>
          </p:nvSpPr>
          <p:spPr>
            <a:xfrm>
              <a:off x="2697802" y="2127599"/>
              <a:ext cx="4645533" cy="528043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40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变量命名、赋值与运算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612036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2" y="3839864"/>
            <a:ext cx="116707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800" b="1" dirty="0">
                <a:latin typeface="微软雅黑" pitchFamily="34" charset="-122"/>
                <a:ea typeface="微软雅黑" pitchFamily="34" charset="-122"/>
              </a:rPr>
              <a:t>一、数据类型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16049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DCE10-6069-D684-EEBD-B4AE298C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8E23A91-440B-A32F-DA65-1E30F04F7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数据类型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881D9B-9E37-EE50-728E-695E4983BE8F}"/>
              </a:ext>
            </a:extLst>
          </p:cNvPr>
          <p:cNvSpPr txBox="1"/>
          <p:nvPr/>
        </p:nvSpPr>
        <p:spPr>
          <a:xfrm>
            <a:off x="384630" y="846748"/>
            <a:ext cx="7591685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1.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数据类型概念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4E6260-E6B0-E9A5-EE36-5C6B04AE8C23}"/>
              </a:ext>
            </a:extLst>
          </p:cNvPr>
          <p:cNvSpPr txBox="1"/>
          <p:nvPr/>
        </p:nvSpPr>
        <p:spPr>
          <a:xfrm>
            <a:off x="384630" y="1707210"/>
            <a:ext cx="10673895" cy="489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600" b="1" dirty="0">
                <a:solidFill>
                  <a:schemeClr val="bg2"/>
                </a:solidFill>
                <a:latin typeface="+mj-ea"/>
                <a:ea typeface="+mj-ea"/>
              </a:rPr>
              <a:t>数据类型概念：</a:t>
            </a:r>
            <a:endParaRPr lang="en-US" altLang="zh-CN" sz="3600" dirty="0">
              <a:solidFill>
                <a:schemeClr val="bg2"/>
              </a:solidFill>
              <a:latin typeface="+mj-ea"/>
              <a:ea typeface="+mj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200" dirty="0">
                <a:solidFill>
                  <a:schemeClr val="bg2"/>
                </a:solidFill>
                <a:latin typeface="+mj-ea"/>
                <a:ea typeface="+mj-ea"/>
              </a:rPr>
              <a:t>数据在计算机中的</a:t>
            </a:r>
            <a:r>
              <a:rPr lang="zh-CN" altLang="en-US" sz="3200" b="1" dirty="0">
                <a:solidFill>
                  <a:schemeClr val="accent2"/>
                </a:solidFill>
                <a:latin typeface="+mj-ea"/>
                <a:ea typeface="+mj-ea"/>
              </a:rPr>
              <a:t>存储方式与操作规则</a:t>
            </a:r>
            <a:endParaRPr lang="en-US" altLang="zh-CN" sz="3200" b="1" dirty="0">
              <a:solidFill>
                <a:schemeClr val="accent2"/>
              </a:solidFill>
              <a:latin typeface="+mj-ea"/>
              <a:ea typeface="+mj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600" b="1" dirty="0">
                <a:solidFill>
                  <a:schemeClr val="bg2"/>
                </a:solidFill>
                <a:latin typeface="+mj-ea"/>
                <a:ea typeface="+mj-ea"/>
              </a:rPr>
              <a:t>数据类型作用：</a:t>
            </a:r>
            <a:endParaRPr lang="en-US" altLang="zh-CN" sz="3600" dirty="0">
              <a:solidFill>
                <a:schemeClr val="bg2"/>
              </a:solidFill>
              <a:latin typeface="+mj-ea"/>
              <a:ea typeface="+mj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3200" dirty="0">
                <a:solidFill>
                  <a:schemeClr val="bg2"/>
                </a:solidFill>
                <a:latin typeface="+mj-ea"/>
                <a:ea typeface="+mj-ea"/>
              </a:rPr>
              <a:t>1. </a:t>
            </a:r>
            <a:r>
              <a:rPr lang="zh-CN" altLang="en-US" sz="3200" dirty="0">
                <a:solidFill>
                  <a:schemeClr val="bg2"/>
                </a:solidFill>
                <a:latin typeface="+mj-ea"/>
                <a:ea typeface="+mj-ea"/>
              </a:rPr>
              <a:t>内存高效管理</a:t>
            </a:r>
            <a:endParaRPr lang="en-US" altLang="zh-CN" sz="3200" dirty="0">
              <a:solidFill>
                <a:schemeClr val="bg2"/>
              </a:solidFill>
              <a:latin typeface="+mj-ea"/>
              <a:ea typeface="+mj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3200" dirty="0">
                <a:solidFill>
                  <a:schemeClr val="bg2"/>
                </a:solidFill>
                <a:latin typeface="+mj-ea"/>
                <a:ea typeface="+mj-ea"/>
              </a:rPr>
              <a:t>2. </a:t>
            </a:r>
            <a:r>
              <a:rPr lang="zh-CN" altLang="en-US" sz="3200" dirty="0">
                <a:solidFill>
                  <a:schemeClr val="bg2"/>
                </a:solidFill>
                <a:latin typeface="+mj-ea"/>
                <a:ea typeface="+mj-ea"/>
              </a:rPr>
              <a:t>规定操作规范（如数字可加减，字符串可拼接）</a:t>
            </a:r>
            <a:endParaRPr lang="en-US" altLang="zh-CN" sz="3200" dirty="0">
              <a:solidFill>
                <a:schemeClr val="bg2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4401289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6058C-5E50-1C93-33B3-5E86BEA3B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C550404-AD55-6D52-565B-0981E6D3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4429124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数据类型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32108-222B-D578-BCE7-82A95495F0E0}"/>
              </a:ext>
            </a:extLst>
          </p:cNvPr>
          <p:cNvSpPr txBox="1"/>
          <p:nvPr/>
        </p:nvSpPr>
        <p:spPr>
          <a:xfrm>
            <a:off x="384630" y="846748"/>
            <a:ext cx="7591685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编程语言数据类型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DF1BA97-708A-C337-7F56-CB73B3D6E663}"/>
              </a:ext>
            </a:extLst>
          </p:cNvPr>
          <p:cNvSpPr txBox="1"/>
          <p:nvPr/>
        </p:nvSpPr>
        <p:spPr>
          <a:xfrm>
            <a:off x="523874" y="2001512"/>
            <a:ext cx="11157263" cy="369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3200" b="1" dirty="0" err="1">
                <a:solidFill>
                  <a:schemeClr val="bg2"/>
                </a:solidFill>
                <a:latin typeface="+mn-ea"/>
                <a:ea typeface="+mn-ea"/>
              </a:rPr>
              <a:t>Matlab</a:t>
            </a:r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整数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浮点数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字符型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zh-CN" altLang="en-US" sz="3200" u="sng" dirty="0">
                <a:solidFill>
                  <a:schemeClr val="bg2"/>
                </a:solidFill>
                <a:latin typeface="+mn-ea"/>
                <a:ea typeface="+mn-ea"/>
              </a:rPr>
              <a:t>逻辑型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，表格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…</a:t>
            </a:r>
          </a:p>
          <a:p>
            <a:pPr algn="l">
              <a:lnSpc>
                <a:spcPct val="150000"/>
              </a:lnSpc>
            </a:pPr>
            <a:r>
              <a:rPr lang="en-US" altLang="zh-CN" sz="3200" b="1" dirty="0">
                <a:solidFill>
                  <a:schemeClr val="bg2"/>
                </a:solidFill>
                <a:latin typeface="+mn-ea"/>
                <a:ea typeface="+mn-ea"/>
              </a:rPr>
              <a:t>C#</a:t>
            </a:r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整数型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浮点数型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布尔型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字符型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，结构体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…</a:t>
            </a:r>
          </a:p>
          <a:p>
            <a:pPr algn="l">
              <a:lnSpc>
                <a:spcPct val="150000"/>
              </a:lnSpc>
            </a:pPr>
            <a:r>
              <a:rPr lang="en-US" altLang="zh-CN" sz="3200" b="1" dirty="0">
                <a:solidFill>
                  <a:schemeClr val="bg2"/>
                </a:solidFill>
                <a:latin typeface="+mn-ea"/>
                <a:ea typeface="+mn-ea"/>
              </a:rPr>
              <a:t>C</a:t>
            </a:r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zh-CN" altLang="en-US" sz="3200" b="1" u="sng" dirty="0">
                <a:solidFill>
                  <a:schemeClr val="accent2"/>
                </a:solidFill>
                <a:latin typeface="+mn-ea"/>
                <a:ea typeface="+mn-ea"/>
              </a:rPr>
              <a:t>整数型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浮点数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布尔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，数组，联合体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… </a:t>
            </a:r>
          </a:p>
          <a:p>
            <a:pPr algn="l">
              <a:lnSpc>
                <a:spcPct val="150000"/>
              </a:lnSpc>
            </a:pPr>
            <a:r>
              <a:rPr lang="en-US" altLang="zh-CN" sz="3200" b="1" dirty="0">
                <a:solidFill>
                  <a:schemeClr val="bg2"/>
                </a:solidFill>
                <a:latin typeface="+mn-ea"/>
                <a:ea typeface="+mn-ea"/>
              </a:rPr>
              <a:t>C++</a:t>
            </a:r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继承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C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类型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，动态数组，指针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7573345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F25C8-C118-5256-1547-930525F8F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94D717D-1318-65B5-FECC-03699A23D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数据类型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1033C-442C-5498-6FB7-8CF9E065EB39}"/>
              </a:ext>
            </a:extLst>
          </p:cNvPr>
          <p:cNvSpPr txBox="1"/>
          <p:nvPr/>
        </p:nvSpPr>
        <p:spPr>
          <a:xfrm>
            <a:off x="123371" y="854005"/>
            <a:ext cx="7852944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2. Python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基本数据类型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DECBE6-B2E7-133A-E668-C8433A3C0FEC}"/>
              </a:ext>
            </a:extLst>
          </p:cNvPr>
          <p:cNvSpPr txBox="1"/>
          <p:nvPr/>
        </p:nvSpPr>
        <p:spPr>
          <a:xfrm>
            <a:off x="300081" y="2300975"/>
            <a:ext cx="6262497" cy="4422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Bool (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布尔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)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：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True/False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Number (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数字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)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 ；</a:t>
            </a:r>
            <a:endParaRPr lang="en-US" altLang="zh-CN" sz="2600" dirty="0">
              <a:solidFill>
                <a:srgbClr val="151515"/>
              </a:solidFill>
              <a:latin typeface="+mn-ea"/>
              <a:ea typeface="+mn-ea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String (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字符串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):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 用“”标识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4. List (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列表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)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：用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[]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标识，有序元素集合。</a:t>
            </a:r>
            <a:endParaRPr lang="en-US" altLang="zh-CN" sz="2600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5. Tuple (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元组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)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：用 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()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 标识，类似于列表，但元素不能更改。</a:t>
            </a:r>
            <a:endParaRPr lang="en-US" altLang="zh-CN" sz="2600" dirty="0">
              <a:solidFill>
                <a:srgbClr val="151515"/>
              </a:solidFill>
              <a:latin typeface="+mn-ea"/>
              <a:ea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D08B56-A55D-A7F0-9DBF-689316436A80}"/>
              </a:ext>
            </a:extLst>
          </p:cNvPr>
          <p:cNvSpPr txBox="1"/>
          <p:nvPr/>
        </p:nvSpPr>
        <p:spPr>
          <a:xfrm>
            <a:off x="6787662" y="2202516"/>
            <a:ext cx="5288223" cy="337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6. Dictionary (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字典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)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：用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{}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标识，无序元素集合，元素以</a:t>
            </a:r>
            <a:r>
              <a:rPr lang="zh-CN" altLang="en-US" sz="2600" u="sng" dirty="0">
                <a:solidFill>
                  <a:srgbClr val="151515"/>
                </a:solidFill>
                <a:latin typeface="+mn-ea"/>
                <a:ea typeface="+mn-ea"/>
              </a:rPr>
              <a:t>键值对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存在。</a:t>
            </a:r>
            <a:endParaRPr lang="en-US" altLang="zh-CN" sz="2600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just">
              <a:lnSpc>
                <a:spcPct val="200000"/>
              </a:lnSpc>
            </a:pP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7. Set (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集合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)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：用</a:t>
            </a:r>
            <a:r>
              <a:rPr lang="en-US" altLang="zh-CN" sz="2600" dirty="0">
                <a:solidFill>
                  <a:srgbClr val="151515"/>
                </a:solidFill>
                <a:latin typeface="+mn-ea"/>
                <a:ea typeface="+mn-ea"/>
              </a:rPr>
              <a:t>{}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标识，元素可变、无序、且</a:t>
            </a:r>
            <a:r>
              <a:rPr lang="zh-CN" altLang="en-US" sz="2600" u="sng" dirty="0">
                <a:solidFill>
                  <a:srgbClr val="151515"/>
                </a:solidFill>
                <a:latin typeface="+mn-ea"/>
                <a:ea typeface="+mn-ea"/>
              </a:rPr>
              <a:t>不能重复</a:t>
            </a:r>
            <a:r>
              <a:rPr lang="zh-CN" altLang="en-US" sz="2600" dirty="0">
                <a:solidFill>
                  <a:srgbClr val="151515"/>
                </a:solidFill>
                <a:latin typeface="+mn-ea"/>
                <a:ea typeface="+mn-ea"/>
              </a:rPr>
              <a:t>的元素集合。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69C94E-55AE-7511-CDA2-B338A9363D48}"/>
              </a:ext>
            </a:extLst>
          </p:cNvPr>
          <p:cNvSpPr txBox="1"/>
          <p:nvPr/>
        </p:nvSpPr>
        <p:spPr>
          <a:xfrm>
            <a:off x="2946400" y="1601633"/>
            <a:ext cx="6698343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主要包含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7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种数据类型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022122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69735-7D50-37AF-C936-ED67B82EA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6179CAB-7093-1D23-D0CF-75F3AFCD9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数据类型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72A365-FFF3-985D-1694-D84BB92679F9}"/>
              </a:ext>
            </a:extLst>
          </p:cNvPr>
          <p:cNvSpPr txBox="1"/>
          <p:nvPr/>
        </p:nvSpPr>
        <p:spPr>
          <a:xfrm>
            <a:off x="123371" y="776214"/>
            <a:ext cx="7852944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2. Python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基本数据类型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8A90FA-E4C2-3154-0167-DBE40E4E9825}"/>
              </a:ext>
            </a:extLst>
          </p:cNvPr>
          <p:cNvSpPr txBox="1"/>
          <p:nvPr/>
        </p:nvSpPr>
        <p:spPr>
          <a:xfrm>
            <a:off x="2974535" y="1386894"/>
            <a:ext cx="6698343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主要包含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7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种数据类型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1A4D7BD-3BA7-AC6E-9ED9-44A7A5709A23}"/>
              </a:ext>
            </a:extLst>
          </p:cNvPr>
          <p:cNvSpPr txBox="1"/>
          <p:nvPr/>
        </p:nvSpPr>
        <p:spPr>
          <a:xfrm>
            <a:off x="214085" y="2026105"/>
            <a:ext cx="1120947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30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布尔型：</a:t>
            </a:r>
            <a:r>
              <a:rPr lang="en-US" altLang="zh-CN" sz="30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var_bool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lang="en-US" altLang="zh-CN" sz="3000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True  </a:t>
            </a:r>
            <a:endParaRPr lang="en-US" altLang="zh-CN" sz="3000" b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zh-CN" altLang="en-US" sz="30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字符串：</a:t>
            </a:r>
            <a:r>
              <a:rPr lang="en-US" altLang="zh-CN" sz="30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var_str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lang="en-US" altLang="zh-CN" sz="3000" b="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"Hello, World!"</a:t>
            </a:r>
            <a:endParaRPr lang="en-US" altLang="zh-CN" sz="3000" b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zh-CN" altLang="en-US" sz="30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数值型：</a:t>
            </a:r>
            <a:r>
              <a:rPr lang="en-US" altLang="zh-CN" sz="30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var_num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42</a:t>
            </a:r>
            <a:endParaRPr lang="en-US" altLang="zh-CN" sz="3000" b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zh-CN" altLang="en-US" sz="30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列表：</a:t>
            </a:r>
            <a:r>
              <a:rPr lang="en-US" altLang="zh-CN" sz="30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var_list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[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</a:p>
          <a:p>
            <a:pPr algn="l">
              <a:buNone/>
            </a:pPr>
            <a:r>
              <a:rPr lang="zh-CN" altLang="en-US" sz="30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元组：</a:t>
            </a:r>
            <a:r>
              <a:rPr lang="en-US" altLang="zh-CN" sz="30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var_tuple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(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30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  <a:p>
            <a:pPr algn="l">
              <a:buNone/>
            </a:pPr>
            <a:r>
              <a:rPr lang="zh-CN" altLang="en-US" sz="30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字典：</a:t>
            </a:r>
            <a:r>
              <a:rPr lang="en-US" altLang="zh-CN" sz="30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var_dict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{</a:t>
            </a:r>
            <a:r>
              <a:rPr lang="en-US" altLang="zh-CN" sz="3000" b="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"key1"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  <a:r>
              <a:rPr lang="en-US" altLang="zh-CN" sz="3000" b="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"value1"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3000" b="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"key2"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  <a:r>
              <a:rPr lang="en-US" altLang="zh-CN" sz="3000" b="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"value2"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</a:p>
          <a:p>
            <a:pPr algn="l">
              <a:buNone/>
            </a:pPr>
            <a:r>
              <a:rPr lang="zh-CN" altLang="en-US" sz="30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集合：</a:t>
            </a:r>
            <a:r>
              <a:rPr lang="en-US" altLang="zh-CN" sz="30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var_set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{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200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30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300</a:t>
            </a:r>
            <a:r>
              <a:rPr lang="en-US" altLang="zh-CN" sz="30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487510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F15BD-A733-9D1D-DD0E-9D48A56A9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0699820-CC1F-94AA-D495-C91B4550A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1" y="8526"/>
            <a:ext cx="104357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数据类型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1E784C-76BA-2461-AFD7-4A7E8038F312}"/>
              </a:ext>
            </a:extLst>
          </p:cNvPr>
          <p:cNvSpPr txBox="1"/>
          <p:nvPr/>
        </p:nvSpPr>
        <p:spPr>
          <a:xfrm>
            <a:off x="275771" y="824977"/>
            <a:ext cx="7700544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2. Python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基本数据类型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B2BCB2-219C-ECFF-BE36-1ED1649CDB10}"/>
              </a:ext>
            </a:extLst>
          </p:cNvPr>
          <p:cNvSpPr txBox="1"/>
          <p:nvPr/>
        </p:nvSpPr>
        <p:spPr>
          <a:xfrm>
            <a:off x="341087" y="1583489"/>
            <a:ext cx="10501084" cy="2478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数据类型分类：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标量类型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sz="2800" dirty="0">
                <a:solidFill>
                  <a:srgbClr val="151515"/>
                </a:solidFill>
                <a:latin typeface="+mn-ea"/>
              </a:rPr>
              <a:t> number</a:t>
            </a:r>
            <a:r>
              <a:rPr lang="zh-CN" altLang="en-US" sz="2800" dirty="0">
                <a:solidFill>
                  <a:srgbClr val="151515"/>
                </a:solidFill>
                <a:latin typeface="+mn-ea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+mn-ea"/>
              </a:rPr>
              <a:t> int</a:t>
            </a:r>
            <a:r>
              <a:rPr lang="zh-CN" altLang="en-US" sz="2800" dirty="0">
                <a:solidFill>
                  <a:schemeClr val="bg2"/>
                </a:solidFill>
                <a:latin typeface="+mn-ea"/>
              </a:rPr>
              <a:t>，</a:t>
            </a:r>
            <a:r>
              <a:rPr lang="en-US" altLang="zh-CN" sz="2800" dirty="0">
                <a:solidFill>
                  <a:schemeClr val="bg2"/>
                </a:solidFill>
                <a:latin typeface="+mn-ea"/>
              </a:rPr>
              <a:t>float </a:t>
            </a:r>
            <a:r>
              <a:rPr lang="zh-CN" altLang="en-US" sz="2800" dirty="0">
                <a:solidFill>
                  <a:srgbClr val="151515"/>
                </a:solidFill>
                <a:latin typeface="+mn-ea"/>
              </a:rPr>
              <a:t>）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str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bool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容器类型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list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tuple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sz="2800" dirty="0" err="1">
                <a:solidFill>
                  <a:schemeClr val="bg2"/>
                </a:solidFill>
                <a:latin typeface="+mn-ea"/>
                <a:ea typeface="+mn-ea"/>
              </a:rPr>
              <a:t>dict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set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E472D04-A881-5AAC-CC3D-397F7B928510}"/>
              </a:ext>
            </a:extLst>
          </p:cNvPr>
          <p:cNvGraphicFramePr>
            <a:graphicFrameLocks noGrp="1"/>
          </p:cNvGraphicFramePr>
          <p:nvPr/>
        </p:nvGraphicFramePr>
        <p:xfrm>
          <a:off x="3287484" y="4203562"/>
          <a:ext cx="8697689" cy="2494886"/>
        </p:xfrm>
        <a:graphic>
          <a:graphicData uri="http://schemas.openxmlformats.org/drawingml/2006/table">
            <a:tbl>
              <a:tblPr/>
              <a:tblGrid>
                <a:gridCol w="1618344">
                  <a:extLst>
                    <a:ext uri="{9D8B030D-6E8A-4147-A177-3AD203B41FA5}">
                      <a16:colId xmlns:a16="http://schemas.microsoft.com/office/drawing/2014/main" val="15950582"/>
                    </a:ext>
                  </a:extLst>
                </a:gridCol>
                <a:gridCol w="1850571">
                  <a:extLst>
                    <a:ext uri="{9D8B030D-6E8A-4147-A177-3AD203B41FA5}">
                      <a16:colId xmlns:a16="http://schemas.microsoft.com/office/drawing/2014/main" val="399157626"/>
                    </a:ext>
                  </a:extLst>
                </a:gridCol>
                <a:gridCol w="1807029">
                  <a:extLst>
                    <a:ext uri="{9D8B030D-6E8A-4147-A177-3AD203B41FA5}">
                      <a16:colId xmlns:a16="http://schemas.microsoft.com/office/drawing/2014/main" val="2140024269"/>
                    </a:ext>
                  </a:extLst>
                </a:gridCol>
                <a:gridCol w="3421745">
                  <a:extLst>
                    <a:ext uri="{9D8B030D-6E8A-4147-A177-3AD203B41FA5}">
                      <a16:colId xmlns:a16="http://schemas.microsoft.com/office/drawing/2014/main" val="2740444552"/>
                    </a:ext>
                  </a:extLst>
                </a:gridCol>
              </a:tblGrid>
              <a:tr h="51570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类型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</a:rPr>
                        <a:t>可变性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</a:rPr>
                        <a:t>有序性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</a:rPr>
                        <a:t>元素要求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683114"/>
                  </a:ext>
                </a:extLst>
              </a:tr>
              <a:tr h="51570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</a:rPr>
                        <a:t>number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不可变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单值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056485"/>
                  </a:ext>
                </a:extLst>
              </a:tr>
              <a:tr h="51570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</a:rPr>
                        <a:t>list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可变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有序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任意类型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61640"/>
                  </a:ext>
                </a:extLst>
              </a:tr>
              <a:tr h="94040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chemeClr val="bg2"/>
                          </a:solidFill>
                          <a:effectLst/>
                        </a:rPr>
                        <a:t>dict</a:t>
                      </a:r>
                      <a:endParaRPr lang="en-US" sz="280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可变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无序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键不可变、值任意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94981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382CF15-8EBD-452D-8EDD-2AE40D85FAF9}"/>
              </a:ext>
            </a:extLst>
          </p:cNvPr>
          <p:cNvSpPr txBox="1"/>
          <p:nvPr/>
        </p:nvSpPr>
        <p:spPr>
          <a:xfrm>
            <a:off x="420915" y="4603231"/>
            <a:ext cx="2619373" cy="1308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常用数据类型特性对比：</a:t>
            </a:r>
            <a:endParaRPr lang="en-US" altLang="zh-CN" sz="28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962236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C3C23-4D36-F6FA-EE57-75BB15F9F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9686D0-E98B-2613-1171-9CD39D61A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数据类型</a:t>
            </a:r>
            <a:endParaRPr lang="zh-CN" altLang="en-US" dirty="0"/>
          </a:p>
        </p:txBody>
      </p:sp>
      <p:sp>
        <p:nvSpPr>
          <p:cNvPr id="19" name="文本框 6">
            <a:extLst>
              <a:ext uri="{FF2B5EF4-FFF2-40B4-BE49-F238E27FC236}">
                <a16:creationId xmlns:a16="http://schemas.microsoft.com/office/drawing/2014/main" id="{C7DB1091-8910-855C-6F3A-EC7B304CC21F}"/>
              </a:ext>
            </a:extLst>
          </p:cNvPr>
          <p:cNvSpPr txBox="1"/>
          <p:nvPr/>
        </p:nvSpPr>
        <p:spPr>
          <a:xfrm>
            <a:off x="406195" y="1499335"/>
            <a:ext cx="3091748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Number</a:t>
            </a:r>
          </a:p>
        </p:txBody>
      </p:sp>
      <p:pic>
        <p:nvPicPr>
          <p:cNvPr id="5" name="Picture 4" descr="A black rectangle with white text&#10;&#10;AI-generated content may be incorrect.">
            <a:extLst>
              <a:ext uri="{FF2B5EF4-FFF2-40B4-BE49-F238E27FC236}">
                <a16:creationId xmlns:a16="http://schemas.microsoft.com/office/drawing/2014/main" id="{D419F691-9044-44DE-03B6-B63122507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95" y="2279606"/>
            <a:ext cx="4529616" cy="9135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1DEC56-3581-81F0-AA96-9F9FFB3903DC}"/>
              </a:ext>
            </a:extLst>
          </p:cNvPr>
          <p:cNvSpPr txBox="1"/>
          <p:nvPr/>
        </p:nvSpPr>
        <p:spPr>
          <a:xfrm>
            <a:off x="406195" y="3330481"/>
            <a:ext cx="11952718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3"/>
                </a:solidFill>
                <a:latin typeface="+mn-ea"/>
                <a:ea typeface="+mn-ea"/>
              </a:rPr>
              <a:t>常用操作</a:t>
            </a:r>
            <a:r>
              <a:rPr lang="zh-CN" altLang="en-US" sz="3000" dirty="0">
                <a:solidFill>
                  <a:schemeClr val="accent3"/>
                </a:solidFill>
                <a:latin typeface="+mn-ea"/>
                <a:ea typeface="+mn-ea"/>
              </a:rPr>
              <a:t>：</a:t>
            </a:r>
            <a:endParaRPr lang="en-US" altLang="zh-CN" sz="3000" dirty="0">
              <a:solidFill>
                <a:schemeClr val="accent3"/>
              </a:solidFill>
              <a:latin typeface="+mn-ea"/>
              <a:ea typeface="+mn-ea"/>
            </a:endParaRPr>
          </a:p>
          <a:p>
            <a:pPr algn="l"/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算术运算：</a:t>
            </a:r>
            <a:r>
              <a:rPr lang="en-US" altLang="zh-CN" sz="3000" dirty="0">
                <a:solidFill>
                  <a:schemeClr val="bg2"/>
                </a:solidFill>
                <a:latin typeface="+mn-ea"/>
                <a:ea typeface="+mn-ea"/>
              </a:rPr>
              <a:t>+, -, *, /, //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（整除）</a:t>
            </a:r>
            <a:r>
              <a:rPr lang="en-US" altLang="zh-CN" sz="3000" dirty="0">
                <a:solidFill>
                  <a:schemeClr val="bg2"/>
                </a:solidFill>
                <a:latin typeface="+mn-ea"/>
                <a:ea typeface="+mn-ea"/>
              </a:rPr>
              <a:t>, %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（取模）</a:t>
            </a:r>
            <a:r>
              <a:rPr lang="en-US" altLang="zh-CN" sz="3000" dirty="0">
                <a:solidFill>
                  <a:schemeClr val="bg2"/>
                </a:solidFill>
                <a:latin typeface="+mn-ea"/>
                <a:ea typeface="+mn-ea"/>
              </a:rPr>
              <a:t>, **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（幂）</a:t>
            </a:r>
          </a:p>
          <a:p>
            <a:pPr algn="l"/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数学函数：</a:t>
            </a:r>
            <a:r>
              <a:rPr lang="en-US" sz="3000" dirty="0">
                <a:solidFill>
                  <a:schemeClr val="bg2"/>
                </a:solidFill>
                <a:latin typeface="+mn-ea"/>
                <a:ea typeface="+mn-ea"/>
              </a:rPr>
              <a:t>abs(), round(), </a:t>
            </a:r>
            <a:r>
              <a:rPr lang="en-US" sz="3000" dirty="0" err="1">
                <a:solidFill>
                  <a:schemeClr val="bg2"/>
                </a:solidFill>
                <a:latin typeface="+mn-ea"/>
                <a:ea typeface="+mn-ea"/>
              </a:rPr>
              <a:t>math.sqrt</a:t>
            </a:r>
            <a:r>
              <a:rPr lang="en-US" sz="3000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  <a:p>
            <a:pPr algn="l">
              <a:defRPr/>
            </a:pPr>
            <a:r>
              <a:rPr lang="zh-CN" altLang="en-US" sz="3000" dirty="0">
                <a:solidFill>
                  <a:prstClr val="black"/>
                </a:solidFill>
                <a:latin typeface="微软雅黑"/>
                <a:ea typeface="微软雅黑"/>
              </a:rPr>
              <a:t>类型转换：</a:t>
            </a:r>
            <a:r>
              <a:rPr lang="en-US" sz="3000" dirty="0">
                <a:solidFill>
                  <a:prstClr val="black"/>
                </a:solidFill>
                <a:latin typeface="微软雅黑"/>
                <a:ea typeface="微软雅黑"/>
              </a:rPr>
              <a:t>int(), float()</a:t>
            </a:r>
            <a:endParaRPr lang="en-US" sz="30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11" name="Picture 10" descr="A number and a symbol&#10;&#10;AI-generated content may be incorrect.">
            <a:extLst>
              <a:ext uri="{FF2B5EF4-FFF2-40B4-BE49-F238E27FC236}">
                <a16:creationId xmlns:a16="http://schemas.microsoft.com/office/drawing/2014/main" id="{252A34BE-8A25-C987-51CB-13EA49D5B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1924" y="5417907"/>
            <a:ext cx="6864305" cy="10545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275CA77-B005-F8DF-354C-AF0DFA5E2D96}"/>
              </a:ext>
            </a:extLst>
          </p:cNvPr>
          <p:cNvSpPr txBox="1"/>
          <p:nvPr/>
        </p:nvSpPr>
        <p:spPr>
          <a:xfrm>
            <a:off x="94343" y="846748"/>
            <a:ext cx="7881972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2. Python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基本数据类型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081014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69629-4195-972E-62A6-2E075C839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80239FC-9E8A-4F3A-6CCD-81EE2AB84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数据类型</a:t>
            </a:r>
            <a:endParaRPr lang="zh-CN" altLang="en-US" dirty="0"/>
          </a:p>
        </p:txBody>
      </p:sp>
      <p:sp>
        <p:nvSpPr>
          <p:cNvPr id="9" name="文本框 6">
            <a:extLst>
              <a:ext uri="{FF2B5EF4-FFF2-40B4-BE49-F238E27FC236}">
                <a16:creationId xmlns:a16="http://schemas.microsoft.com/office/drawing/2014/main" id="{992F2ED7-670D-AD19-DAB1-3B5E976BA63F}"/>
              </a:ext>
            </a:extLst>
          </p:cNvPr>
          <p:cNvSpPr txBox="1"/>
          <p:nvPr/>
        </p:nvSpPr>
        <p:spPr>
          <a:xfrm>
            <a:off x="224973" y="1525649"/>
            <a:ext cx="7193682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字符串：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单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/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双引号包裹的文本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C0401D8-4404-F6EE-5CFB-A4E5B546D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129" y="5612114"/>
            <a:ext cx="10069742" cy="1045107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BB64BF54-90A2-6BFA-9700-6DE34EAAB1A1}"/>
              </a:ext>
            </a:extLst>
          </p:cNvPr>
          <p:cNvGrpSpPr/>
          <p:nvPr/>
        </p:nvGrpSpPr>
        <p:grpSpPr>
          <a:xfrm>
            <a:off x="7169569" y="2117972"/>
            <a:ext cx="3833277" cy="1677514"/>
            <a:chOff x="6822961" y="2250980"/>
            <a:chExt cx="2932866" cy="1290493"/>
          </a:xfrm>
        </p:grpSpPr>
        <p:pic>
          <p:nvPicPr>
            <p:cNvPr id="12" name="Picture 11" descr="A black and white sign with orange text&#10;&#10;AI-generated content may be incorrect.">
              <a:extLst>
                <a:ext uri="{FF2B5EF4-FFF2-40B4-BE49-F238E27FC236}">
                  <a16:creationId xmlns:a16="http://schemas.microsoft.com/office/drawing/2014/main" id="{187E6F44-1324-218F-7908-094F56249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22961" y="2737483"/>
              <a:ext cx="2932866" cy="80399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E6B516C-F780-1627-8BB1-59513E674566}"/>
                </a:ext>
              </a:extLst>
            </p:cNvPr>
            <p:cNvSpPr txBox="1"/>
            <p:nvPr/>
          </p:nvSpPr>
          <p:spPr>
            <a:xfrm>
              <a:off x="6822961" y="2250980"/>
              <a:ext cx="2932866" cy="4025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>
                  <a:solidFill>
                    <a:schemeClr val="bg2"/>
                  </a:solidFill>
                  <a:latin typeface="+mn-ea"/>
                  <a:ea typeface="+mn-ea"/>
                </a:rPr>
                <a:t>字符串创建</a:t>
              </a:r>
              <a:endParaRPr lang="en-CN" sz="2800" dirty="0">
                <a:solidFill>
                  <a:schemeClr val="bg2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1F43913-1DFC-079D-2F48-2ACB78444BF9}"/>
              </a:ext>
            </a:extLst>
          </p:cNvPr>
          <p:cNvSpPr txBox="1"/>
          <p:nvPr/>
        </p:nvSpPr>
        <p:spPr>
          <a:xfrm>
            <a:off x="224973" y="2326111"/>
            <a:ext cx="694459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常用操作：</a:t>
            </a:r>
            <a:endParaRPr lang="en-US" altLang="zh-CN" sz="32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索引与切片：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s[0], s[1:4]</a:t>
            </a:r>
          </a:p>
          <a:p>
            <a:pPr algn="l"/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拼接与重复：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+, *</a:t>
            </a:r>
          </a:p>
          <a:p>
            <a:pPr algn="l"/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方法：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.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lower(), .upper(), .split(), .strip()</a:t>
            </a:r>
          </a:p>
          <a:p>
            <a:pPr algn="l"/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格式化：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f"{name} is {age} years old"</a:t>
            </a:r>
            <a:endParaRPr lang="zh-CN" altLang="en-US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73AFEA-C282-287B-9DC2-A81B7A537632}"/>
              </a:ext>
            </a:extLst>
          </p:cNvPr>
          <p:cNvSpPr txBox="1"/>
          <p:nvPr/>
        </p:nvSpPr>
        <p:spPr>
          <a:xfrm>
            <a:off x="116114" y="808114"/>
            <a:ext cx="7860201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2. Python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基本数据类型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192741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A1E9C-7A5C-BC9C-987C-57B08B5D2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84336FC-64E4-B3DD-63D0-5DE115A9E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数据类型</a:t>
            </a:r>
            <a:endParaRPr lang="zh-CN" altLang="en-US" dirty="0"/>
          </a:p>
        </p:txBody>
      </p:sp>
      <p:sp>
        <p:nvSpPr>
          <p:cNvPr id="19" name="文本框 6">
            <a:extLst>
              <a:ext uri="{FF2B5EF4-FFF2-40B4-BE49-F238E27FC236}">
                <a16:creationId xmlns:a16="http://schemas.microsoft.com/office/drawing/2014/main" id="{9BCB298F-F8BD-E3FD-DABA-E1A3FF9CAF39}"/>
              </a:ext>
            </a:extLst>
          </p:cNvPr>
          <p:cNvSpPr txBox="1"/>
          <p:nvPr/>
        </p:nvSpPr>
        <p:spPr>
          <a:xfrm>
            <a:off x="253286" y="1694850"/>
            <a:ext cx="7874714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列表：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方括号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[]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标识，可修改的序列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A08114-6D71-180D-2093-D782E9EA8154}"/>
              </a:ext>
            </a:extLst>
          </p:cNvPr>
          <p:cNvSpPr txBox="1"/>
          <p:nvPr/>
        </p:nvSpPr>
        <p:spPr>
          <a:xfrm>
            <a:off x="142982" y="2715167"/>
            <a:ext cx="641747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bg2"/>
                </a:solidFill>
                <a:latin typeface="+mn-ea"/>
                <a:ea typeface="+mn-ea"/>
              </a:rPr>
              <a:t>常用操作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30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zh-CN" altLang="en-US" sz="3000" b="1" dirty="0">
                <a:solidFill>
                  <a:schemeClr val="bg2"/>
                </a:solidFill>
                <a:latin typeface="+mn-ea"/>
                <a:ea typeface="+mn-ea"/>
              </a:rPr>
              <a:t>增删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sz="3000" dirty="0">
                <a:solidFill>
                  <a:schemeClr val="bg2"/>
                </a:solidFill>
                <a:latin typeface="+mn-ea"/>
                <a:ea typeface="+mn-ea"/>
              </a:rPr>
              <a:t>.</a:t>
            </a:r>
            <a:r>
              <a:rPr lang="en-US" sz="3000" dirty="0">
                <a:solidFill>
                  <a:schemeClr val="bg2"/>
                </a:solidFill>
                <a:latin typeface="+mn-ea"/>
                <a:ea typeface="+mn-ea"/>
              </a:rPr>
              <a:t>append(), .insert(), .pop()</a:t>
            </a:r>
          </a:p>
          <a:p>
            <a:pPr algn="l"/>
            <a:r>
              <a:rPr lang="zh-CN" altLang="en-US" sz="3000" b="1" dirty="0">
                <a:solidFill>
                  <a:schemeClr val="bg2"/>
                </a:solidFill>
                <a:latin typeface="+mn-ea"/>
                <a:ea typeface="+mn-ea"/>
              </a:rPr>
              <a:t>切片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sz="3000" dirty="0" err="1">
                <a:solidFill>
                  <a:schemeClr val="bg2"/>
                </a:solidFill>
                <a:latin typeface="+mn-ea"/>
              </a:rPr>
              <a:t>lst</a:t>
            </a:r>
            <a:r>
              <a:rPr lang="en-US" sz="3000" dirty="0">
                <a:solidFill>
                  <a:schemeClr val="bg2"/>
                </a:solidFill>
                <a:latin typeface="+mn-ea"/>
              </a:rPr>
              <a:t>[2:</a:t>
            </a:r>
            <a:r>
              <a:rPr lang="en-US" altLang="zh-CN" sz="3000" dirty="0">
                <a:solidFill>
                  <a:schemeClr val="bg2"/>
                </a:solidFill>
                <a:latin typeface="+mn-ea"/>
              </a:rPr>
              <a:t>9</a:t>
            </a:r>
            <a:r>
              <a:rPr lang="en-US" sz="3000" dirty="0">
                <a:solidFill>
                  <a:schemeClr val="bg2"/>
                </a:solidFill>
                <a:latin typeface="+mn-ea"/>
              </a:rPr>
              <a:t>]</a:t>
            </a:r>
            <a:r>
              <a:rPr lang="zh-CN" altLang="en-US" sz="3000" dirty="0">
                <a:solidFill>
                  <a:schemeClr val="bg2"/>
                </a:solidFill>
                <a:latin typeface="+mn-ea"/>
              </a:rPr>
              <a:t>，</a:t>
            </a:r>
            <a:r>
              <a:rPr lang="en-US" sz="3000" dirty="0" err="1">
                <a:solidFill>
                  <a:schemeClr val="bg2"/>
                </a:solidFill>
                <a:latin typeface="+mn-ea"/>
                <a:ea typeface="+mn-ea"/>
              </a:rPr>
              <a:t>lst</a:t>
            </a:r>
            <a:r>
              <a:rPr lang="en-US" sz="3000" dirty="0">
                <a:solidFill>
                  <a:schemeClr val="bg2"/>
                </a:solidFill>
                <a:latin typeface="+mn-ea"/>
                <a:ea typeface="+mn-ea"/>
              </a:rPr>
              <a:t>[2:9:2]（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步长为</a:t>
            </a:r>
            <a:r>
              <a:rPr lang="en-US" altLang="zh-CN" sz="3000" dirty="0">
                <a:solidFill>
                  <a:schemeClr val="bg2"/>
                </a:solidFill>
                <a:latin typeface="+mn-ea"/>
                <a:ea typeface="+mn-ea"/>
              </a:rPr>
              <a:t>2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）</a:t>
            </a:r>
          </a:p>
          <a:p>
            <a:pPr algn="l"/>
            <a:r>
              <a:rPr lang="zh-CN" altLang="en-US" sz="3000" b="1" dirty="0">
                <a:solidFill>
                  <a:schemeClr val="bg2"/>
                </a:solidFill>
                <a:latin typeface="+mn-ea"/>
                <a:ea typeface="+mn-ea"/>
              </a:rPr>
              <a:t>列表推导式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sz="3000" dirty="0">
                <a:solidFill>
                  <a:schemeClr val="bg2"/>
                </a:solidFill>
                <a:latin typeface="+mn-ea"/>
                <a:ea typeface="+mn-ea"/>
              </a:rPr>
              <a:t>[</a:t>
            </a:r>
            <a:r>
              <a:rPr lang="en-US" sz="3000" dirty="0">
                <a:solidFill>
                  <a:schemeClr val="bg2"/>
                </a:solidFill>
                <a:latin typeface="+mn-ea"/>
                <a:ea typeface="+mn-ea"/>
              </a:rPr>
              <a:t>x*2 for x in range(5)]</a:t>
            </a:r>
          </a:p>
          <a:p>
            <a:pPr algn="l"/>
            <a:r>
              <a:rPr lang="zh-CN" altLang="en-US" sz="3000" b="1" dirty="0">
                <a:solidFill>
                  <a:schemeClr val="bg2"/>
                </a:solidFill>
                <a:latin typeface="+mn-ea"/>
                <a:ea typeface="+mn-ea"/>
              </a:rPr>
              <a:t>排序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sz="3000" dirty="0">
                <a:solidFill>
                  <a:schemeClr val="bg2"/>
                </a:solidFill>
                <a:latin typeface="+mn-ea"/>
                <a:ea typeface="+mn-ea"/>
              </a:rPr>
              <a:t>.</a:t>
            </a:r>
            <a:r>
              <a:rPr lang="en-US" sz="3000" dirty="0">
                <a:solidFill>
                  <a:schemeClr val="bg2"/>
                </a:solidFill>
                <a:latin typeface="+mn-ea"/>
                <a:ea typeface="+mn-ea"/>
              </a:rPr>
              <a:t>sort(), sorted()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65D284-C10C-C0CD-5AD8-B0252A141CDE}"/>
              </a:ext>
            </a:extLst>
          </p:cNvPr>
          <p:cNvSpPr txBox="1"/>
          <p:nvPr/>
        </p:nvSpPr>
        <p:spPr>
          <a:xfrm>
            <a:off x="101600" y="846748"/>
            <a:ext cx="7874715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2. Python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基本数据类型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5C46F24-2C17-DA83-F552-5DC1CB9788B3}"/>
              </a:ext>
            </a:extLst>
          </p:cNvPr>
          <p:cNvGrpSpPr/>
          <p:nvPr/>
        </p:nvGrpSpPr>
        <p:grpSpPr>
          <a:xfrm>
            <a:off x="6516911" y="2081840"/>
            <a:ext cx="5662726" cy="1996154"/>
            <a:chOff x="6881215" y="2569389"/>
            <a:chExt cx="3748258" cy="118431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6779B2-3F40-7108-55B9-BE9A7E99C48D}"/>
                </a:ext>
              </a:extLst>
            </p:cNvPr>
            <p:cNvSpPr txBox="1"/>
            <p:nvPr/>
          </p:nvSpPr>
          <p:spPr>
            <a:xfrm>
              <a:off x="6881215" y="2569389"/>
              <a:ext cx="3748258" cy="3447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2"/>
                  </a:solidFill>
                  <a:latin typeface="+mj-ea"/>
                  <a:ea typeface="+mj-ea"/>
                </a:rPr>
                <a:t>创建列表</a:t>
              </a:r>
              <a:endParaRPr lang="en-US" altLang="zh-CN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  <p:pic>
          <p:nvPicPr>
            <p:cNvPr id="4" name="Picture 3" descr="A black background with colorful text&#10;&#10;AI-generated content may be incorrect.">
              <a:extLst>
                <a:ext uri="{FF2B5EF4-FFF2-40B4-BE49-F238E27FC236}">
                  <a16:creationId xmlns:a16="http://schemas.microsoft.com/office/drawing/2014/main" id="{2A114E0F-9F1D-7730-87C6-D29AA7A54B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81215" y="2945141"/>
              <a:ext cx="3717944" cy="808563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EAF2EC4F-BB6D-2024-54E3-B740D456D460}"/>
              </a:ext>
            </a:extLst>
          </p:cNvPr>
          <p:cNvGrpSpPr/>
          <p:nvPr/>
        </p:nvGrpSpPr>
        <p:grpSpPr>
          <a:xfrm>
            <a:off x="6510782" y="4355784"/>
            <a:ext cx="5616928" cy="2062317"/>
            <a:chOff x="6394670" y="4239672"/>
            <a:chExt cx="5616928" cy="2062317"/>
          </a:xfrm>
        </p:grpSpPr>
        <p:pic>
          <p:nvPicPr>
            <p:cNvPr id="26" name="Picture 25" descr="A black background with text and symbols&#10;&#10;AI-generated content may be incorrect.">
              <a:extLst>
                <a:ext uri="{FF2B5EF4-FFF2-40B4-BE49-F238E27FC236}">
                  <a16:creationId xmlns:a16="http://schemas.microsoft.com/office/drawing/2014/main" id="{A1071639-2C12-F929-A901-0FDA40604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94670" y="4845005"/>
              <a:ext cx="5616928" cy="1456984"/>
            </a:xfrm>
            <a:prstGeom prst="rect">
              <a:avLst/>
            </a:prstGeom>
          </p:spPr>
        </p:pic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81930D2-72E1-D563-32DF-27FB7C894E7A}"/>
                </a:ext>
              </a:extLst>
            </p:cNvPr>
            <p:cNvSpPr txBox="1"/>
            <p:nvPr/>
          </p:nvSpPr>
          <p:spPr>
            <a:xfrm>
              <a:off x="6422570" y="4239672"/>
              <a:ext cx="5566130" cy="5810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2"/>
                  </a:solidFill>
                  <a:latin typeface="+mj-ea"/>
                  <a:ea typeface="+mj-ea"/>
                </a:rPr>
                <a:t>要素追加</a:t>
              </a:r>
              <a:endParaRPr lang="en-US" altLang="zh-CN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083823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6C8C2-879B-1C42-62A4-FF83DC6F2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712A3BC-FB54-BA84-AB15-1107FAC7D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数据类型</a:t>
            </a:r>
            <a:endParaRPr lang="zh-CN" altLang="en-US" dirty="0"/>
          </a:p>
        </p:txBody>
      </p:sp>
      <p:sp>
        <p:nvSpPr>
          <p:cNvPr id="28" name="文本框 6">
            <a:extLst>
              <a:ext uri="{FF2B5EF4-FFF2-40B4-BE49-F238E27FC236}">
                <a16:creationId xmlns:a16="http://schemas.microsoft.com/office/drawing/2014/main" id="{4B434E8B-994E-FF12-A112-95EEF5534324}"/>
              </a:ext>
            </a:extLst>
          </p:cNvPr>
          <p:cNvSpPr txBox="1"/>
          <p:nvPr/>
        </p:nvSpPr>
        <p:spPr>
          <a:xfrm>
            <a:off x="397491" y="1476557"/>
            <a:ext cx="7012052" cy="70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000" b="1" dirty="0">
                <a:solidFill>
                  <a:schemeClr val="accent2"/>
                </a:solidFill>
                <a:latin typeface="+mn-ea"/>
                <a:ea typeface="+mn-ea"/>
              </a:rPr>
              <a:t>元组：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圆括号（）标识，不可变序列</a:t>
            </a:r>
            <a:endParaRPr lang="en-US" altLang="zh-CN" sz="3000" b="1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597FAA60-864C-2DCE-0D75-CD521688C878}"/>
              </a:ext>
            </a:extLst>
          </p:cNvPr>
          <p:cNvGraphicFramePr>
            <a:graphicFrameLocks noGrp="1"/>
          </p:cNvGraphicFramePr>
          <p:nvPr/>
        </p:nvGraphicFramePr>
        <p:xfrm>
          <a:off x="419263" y="2283167"/>
          <a:ext cx="6170223" cy="1638110"/>
        </p:xfrm>
        <a:graphic>
          <a:graphicData uri="http://schemas.openxmlformats.org/drawingml/2006/table">
            <a:tbl>
              <a:tblPr/>
              <a:tblGrid>
                <a:gridCol w="1519932">
                  <a:extLst>
                    <a:ext uri="{9D8B030D-6E8A-4147-A177-3AD203B41FA5}">
                      <a16:colId xmlns:a16="http://schemas.microsoft.com/office/drawing/2014/main" val="1888596248"/>
                    </a:ext>
                  </a:extLst>
                </a:gridCol>
                <a:gridCol w="2176398">
                  <a:extLst>
                    <a:ext uri="{9D8B030D-6E8A-4147-A177-3AD203B41FA5}">
                      <a16:colId xmlns:a16="http://schemas.microsoft.com/office/drawing/2014/main" val="2269919096"/>
                    </a:ext>
                  </a:extLst>
                </a:gridCol>
                <a:gridCol w="2473893">
                  <a:extLst>
                    <a:ext uri="{9D8B030D-6E8A-4147-A177-3AD203B41FA5}">
                      <a16:colId xmlns:a16="http://schemas.microsoft.com/office/drawing/2014/main" val="557186763"/>
                    </a:ext>
                  </a:extLst>
                </a:gridCol>
              </a:tblGrid>
              <a:tr h="5904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特性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列表（</a:t>
                      </a:r>
                      <a:r>
                        <a:rPr lang="en-US" sz="2400" b="1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List）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元组（</a:t>
                      </a:r>
                      <a:r>
                        <a:rPr lang="en-US" sz="2400" b="1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Tuple）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03503"/>
                  </a:ext>
                </a:extLst>
              </a:tr>
              <a:tr h="3967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可变性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✔️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71285"/>
                  </a:ext>
                </a:extLst>
              </a:tr>
              <a:tr h="5904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语法符号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[]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()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93682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AC38D09-AF00-9C56-67B2-34EC455226D5}"/>
              </a:ext>
            </a:extLst>
          </p:cNvPr>
          <p:cNvSpPr txBox="1"/>
          <p:nvPr/>
        </p:nvSpPr>
        <p:spPr>
          <a:xfrm>
            <a:off x="397492" y="3936299"/>
            <a:ext cx="603233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常用操作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解包：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a, b, c = t</a:t>
            </a:r>
          </a:p>
          <a:p>
            <a:pPr algn="l"/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索引：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t[0]</a:t>
            </a:r>
          </a:p>
          <a:p>
            <a:pPr algn="l"/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转换：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list(t)（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元组转列表）</a:t>
            </a:r>
            <a:b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</a:b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注意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：单元素元组需加逗号，如 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(5,)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E2C2C5-9306-D0BD-9B7D-DF4D33153BBB}"/>
              </a:ext>
            </a:extLst>
          </p:cNvPr>
          <p:cNvSpPr txBox="1"/>
          <p:nvPr/>
        </p:nvSpPr>
        <p:spPr>
          <a:xfrm>
            <a:off x="79829" y="846748"/>
            <a:ext cx="7896486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2. Python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基本数据类型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873F06E-8232-3EB3-364A-84DA55E38A69}"/>
              </a:ext>
            </a:extLst>
          </p:cNvPr>
          <p:cNvGrpSpPr/>
          <p:nvPr/>
        </p:nvGrpSpPr>
        <p:grpSpPr>
          <a:xfrm>
            <a:off x="7522279" y="1808285"/>
            <a:ext cx="3666509" cy="1289701"/>
            <a:chOff x="7369879" y="2016530"/>
            <a:chExt cx="3666509" cy="1289701"/>
          </a:xfrm>
        </p:grpSpPr>
        <p:pic>
          <p:nvPicPr>
            <p:cNvPr id="5" name="Picture 4" descr="A close up of a logo&#10;&#10;AI-generated content may be incorrect.">
              <a:extLst>
                <a:ext uri="{FF2B5EF4-FFF2-40B4-BE49-F238E27FC236}">
                  <a16:creationId xmlns:a16="http://schemas.microsoft.com/office/drawing/2014/main" id="{A580F05C-789D-9008-EE21-F352AEE8D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69879" y="2718352"/>
              <a:ext cx="3666509" cy="587879"/>
            </a:xfrm>
            <a:prstGeom prst="rect">
              <a:avLst/>
            </a:prstGeom>
          </p:spPr>
        </p:pic>
        <p:sp>
          <p:nvSpPr>
            <p:cNvPr id="2" name="TextBox 5">
              <a:extLst>
                <a:ext uri="{FF2B5EF4-FFF2-40B4-BE49-F238E27FC236}">
                  <a16:creationId xmlns:a16="http://schemas.microsoft.com/office/drawing/2014/main" id="{4B2AEB21-A791-1E48-857B-2E234498B361}"/>
                </a:ext>
              </a:extLst>
            </p:cNvPr>
            <p:cNvSpPr txBox="1"/>
            <p:nvPr/>
          </p:nvSpPr>
          <p:spPr>
            <a:xfrm>
              <a:off x="7369879" y="2016530"/>
              <a:ext cx="3666509" cy="662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800" dirty="0">
                  <a:solidFill>
                    <a:schemeClr val="bg2"/>
                  </a:solidFill>
                  <a:latin typeface="+mj-ea"/>
                  <a:ea typeface="+mj-ea"/>
                </a:rPr>
                <a:t>创建元组</a:t>
              </a:r>
              <a:endParaRPr lang="en-US" altLang="zh-CN" sz="2800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EEE53071-AC0F-4AEF-8B30-390F5A97B627}"/>
              </a:ext>
            </a:extLst>
          </p:cNvPr>
          <p:cNvGrpSpPr/>
          <p:nvPr/>
        </p:nvGrpSpPr>
        <p:grpSpPr>
          <a:xfrm>
            <a:off x="7163307" y="3572958"/>
            <a:ext cx="4384451" cy="2780642"/>
            <a:chOff x="7010907" y="3275415"/>
            <a:chExt cx="4384451" cy="2780642"/>
          </a:xfrm>
        </p:grpSpPr>
        <p:pic>
          <p:nvPicPr>
            <p:cNvPr id="11" name="Picture 10" descr="A black background with colorful text&#10;&#10;AI-generated content may be incorrect.">
              <a:extLst>
                <a:ext uri="{FF2B5EF4-FFF2-40B4-BE49-F238E27FC236}">
                  <a16:creationId xmlns:a16="http://schemas.microsoft.com/office/drawing/2014/main" id="{B7F7D177-0D90-A860-CFC5-A0B8B9AD3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10907" y="3927795"/>
              <a:ext cx="4384451" cy="212826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B5F1A34-C6F4-F068-B725-35269AD6480C}"/>
                </a:ext>
              </a:extLst>
            </p:cNvPr>
            <p:cNvSpPr txBox="1"/>
            <p:nvPr/>
          </p:nvSpPr>
          <p:spPr>
            <a:xfrm>
              <a:off x="7010907" y="3275415"/>
              <a:ext cx="4384451" cy="662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800" dirty="0">
                  <a:solidFill>
                    <a:schemeClr val="bg2"/>
                  </a:solidFill>
                  <a:latin typeface="+mj-ea"/>
                  <a:ea typeface="+mj-ea"/>
                </a:rPr>
                <a:t>元组解包与类型转换</a:t>
              </a:r>
              <a:endParaRPr lang="en-US" altLang="zh-CN" sz="2800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558923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4F787-CB35-B8F1-01D2-CCD994E28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2D7B14C-F165-DFCC-F64B-D231C8394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7" y="8526"/>
            <a:ext cx="10479315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数据类型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62DBF6-98A5-1A50-E883-A4DC53AB52B9}"/>
              </a:ext>
            </a:extLst>
          </p:cNvPr>
          <p:cNvSpPr txBox="1"/>
          <p:nvPr/>
        </p:nvSpPr>
        <p:spPr>
          <a:xfrm>
            <a:off x="406401" y="1566206"/>
            <a:ext cx="9013369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字典：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大括号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{}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标识，</a:t>
            </a:r>
            <a:r>
              <a:rPr lang="zh-CN" altLang="en-CN" sz="3200" dirty="0">
                <a:solidFill>
                  <a:schemeClr val="bg2"/>
                </a:solidFill>
                <a:latin typeface="+mn-ea"/>
                <a:ea typeface="+mn-ea"/>
              </a:rPr>
              <a:t>键值对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集合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71F8D0-9532-1E96-C4F6-8A0EDF6E7293}"/>
              </a:ext>
            </a:extLst>
          </p:cNvPr>
          <p:cNvSpPr txBox="1"/>
          <p:nvPr/>
        </p:nvSpPr>
        <p:spPr>
          <a:xfrm>
            <a:off x="406401" y="2373798"/>
            <a:ext cx="11139714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bg2"/>
                </a:solidFill>
                <a:latin typeface="+mn-ea"/>
                <a:ea typeface="+mn-ea"/>
              </a:rPr>
              <a:t>常用操作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30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增删改查：</a:t>
            </a:r>
            <a:r>
              <a:rPr lang="en-US" sz="3000" dirty="0">
                <a:solidFill>
                  <a:schemeClr val="bg2"/>
                </a:solidFill>
                <a:latin typeface="+mn-ea"/>
                <a:ea typeface="+mn-ea"/>
              </a:rPr>
              <a:t>student['grade'] = 'A', del student['age']</a:t>
            </a:r>
          </a:p>
          <a:p>
            <a:pPr algn="l"/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方法：</a:t>
            </a:r>
            <a:r>
              <a:rPr lang="en-US" altLang="zh-CN" sz="3000" dirty="0">
                <a:solidFill>
                  <a:schemeClr val="bg2"/>
                </a:solidFill>
                <a:latin typeface="+mn-ea"/>
                <a:ea typeface="+mn-ea"/>
              </a:rPr>
              <a:t>.</a:t>
            </a:r>
            <a:r>
              <a:rPr lang="en-US" sz="3000" dirty="0">
                <a:solidFill>
                  <a:schemeClr val="bg2"/>
                </a:solidFill>
                <a:latin typeface="+mn-ea"/>
                <a:ea typeface="+mn-ea"/>
              </a:rPr>
              <a:t>keys(), .values(), .get('key', default)</a:t>
            </a:r>
          </a:p>
          <a:p>
            <a:pPr algn="l"/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字典推导式：</a:t>
            </a:r>
            <a:r>
              <a:rPr lang="en-US" altLang="zh-CN" sz="3000" dirty="0">
                <a:solidFill>
                  <a:schemeClr val="bg2"/>
                </a:solidFill>
                <a:latin typeface="+mn-ea"/>
                <a:ea typeface="+mn-ea"/>
              </a:rPr>
              <a:t>{</a:t>
            </a:r>
            <a:r>
              <a:rPr lang="en-US" sz="3000" dirty="0">
                <a:solidFill>
                  <a:schemeClr val="bg2"/>
                </a:solidFill>
                <a:latin typeface="+mn-ea"/>
                <a:ea typeface="+mn-ea"/>
              </a:rPr>
              <a:t>k: v*2 for k, v in </a:t>
            </a:r>
            <a:r>
              <a:rPr lang="en-US" sz="3000" dirty="0" err="1">
                <a:solidFill>
                  <a:schemeClr val="bg2"/>
                </a:solidFill>
                <a:latin typeface="+mn-ea"/>
                <a:ea typeface="+mn-ea"/>
              </a:rPr>
              <a:t>original.items</a:t>
            </a:r>
            <a:r>
              <a:rPr lang="en-US" sz="3000" dirty="0">
                <a:solidFill>
                  <a:schemeClr val="bg2"/>
                </a:solidFill>
                <a:latin typeface="+mn-ea"/>
                <a:ea typeface="+mn-ea"/>
              </a:rPr>
              <a:t>()}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17620-5CAB-C979-1223-0509A3267583}"/>
              </a:ext>
            </a:extLst>
          </p:cNvPr>
          <p:cNvSpPr txBox="1"/>
          <p:nvPr/>
        </p:nvSpPr>
        <p:spPr>
          <a:xfrm>
            <a:off x="319314" y="846748"/>
            <a:ext cx="765700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2. Python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基本数据类型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9CE6FF6-193A-917E-2C09-560C210ABDED}"/>
              </a:ext>
            </a:extLst>
          </p:cNvPr>
          <p:cNvGrpSpPr/>
          <p:nvPr/>
        </p:nvGrpSpPr>
        <p:grpSpPr>
          <a:xfrm>
            <a:off x="1342572" y="5157687"/>
            <a:ext cx="9405259" cy="1542866"/>
            <a:chOff x="1130854" y="2540023"/>
            <a:chExt cx="8031850" cy="118770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6A2CE6-BB08-6E71-1478-0D19605E2814}"/>
                </a:ext>
              </a:extLst>
            </p:cNvPr>
            <p:cNvSpPr txBox="1"/>
            <p:nvPr/>
          </p:nvSpPr>
          <p:spPr>
            <a:xfrm>
              <a:off x="1130854" y="2763141"/>
              <a:ext cx="1718787" cy="940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600" dirty="0">
                  <a:solidFill>
                    <a:schemeClr val="bg2"/>
                  </a:solidFill>
                  <a:latin typeface="+mj-ea"/>
                  <a:ea typeface="+mj-ea"/>
                </a:rPr>
                <a:t>创建字典及基本操作</a:t>
              </a:r>
              <a:endParaRPr lang="en-US" altLang="zh-CN" sz="2600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  <p:pic>
          <p:nvPicPr>
            <p:cNvPr id="8" name="Picture 7" descr="A black background with colorful writing&#10;&#10;AI-generated content may be incorrect.">
              <a:extLst>
                <a:ext uri="{FF2B5EF4-FFF2-40B4-BE49-F238E27FC236}">
                  <a16:creationId xmlns:a16="http://schemas.microsoft.com/office/drawing/2014/main" id="{FA73ED5B-854A-2F4C-7D91-C361AF3B2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78667" y="2540023"/>
              <a:ext cx="6284037" cy="11877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59375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D5BB4-C5FD-0E13-F193-875AAE911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EA95603-A604-7E8E-DC04-AC94EE389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数据类型</a:t>
            </a:r>
            <a:endParaRPr lang="zh-CN" altLang="en-US" dirty="0"/>
          </a:p>
        </p:txBody>
      </p:sp>
      <p:sp>
        <p:nvSpPr>
          <p:cNvPr id="29" name="文本框 6">
            <a:extLst>
              <a:ext uri="{FF2B5EF4-FFF2-40B4-BE49-F238E27FC236}">
                <a16:creationId xmlns:a16="http://schemas.microsoft.com/office/drawing/2014/main" id="{C3C7DEEF-CB33-9609-2342-79E398CCF783}"/>
              </a:ext>
            </a:extLst>
          </p:cNvPr>
          <p:cNvSpPr txBox="1"/>
          <p:nvPr/>
        </p:nvSpPr>
        <p:spPr>
          <a:xfrm>
            <a:off x="493487" y="1561605"/>
            <a:ext cx="10958284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集合：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无序且元素唯一，大括号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{}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或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set()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创建。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98EE4A-49FF-8E82-8F12-CFB14161AEAD}"/>
              </a:ext>
            </a:extLst>
          </p:cNvPr>
          <p:cNvSpPr txBox="1"/>
          <p:nvPr/>
        </p:nvSpPr>
        <p:spPr>
          <a:xfrm>
            <a:off x="493488" y="3395941"/>
            <a:ext cx="79828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bg2"/>
                </a:solidFill>
                <a:latin typeface="+mn-ea"/>
                <a:ea typeface="+mn-ea"/>
              </a:rPr>
              <a:t>常用操作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30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集合运算：</a:t>
            </a:r>
            <a:r>
              <a:rPr lang="en-US" altLang="zh-CN" sz="3000" dirty="0">
                <a:solidFill>
                  <a:schemeClr val="bg2"/>
                </a:solidFill>
                <a:latin typeface="+mn-ea"/>
                <a:ea typeface="+mn-ea"/>
              </a:rPr>
              <a:t>&amp;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（交集）</a:t>
            </a:r>
            <a:r>
              <a:rPr lang="en-US" altLang="zh-CN" sz="3000" dirty="0">
                <a:solidFill>
                  <a:schemeClr val="bg2"/>
                </a:solidFill>
                <a:latin typeface="+mn-ea"/>
                <a:ea typeface="+mn-ea"/>
              </a:rPr>
              <a:t>, |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（并集）</a:t>
            </a:r>
            <a:r>
              <a:rPr lang="en-US" altLang="zh-CN" sz="3000" dirty="0">
                <a:solidFill>
                  <a:schemeClr val="bg2"/>
                </a:solidFill>
                <a:latin typeface="+mn-ea"/>
                <a:ea typeface="+mn-ea"/>
              </a:rPr>
              <a:t>, -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（差集）</a:t>
            </a:r>
            <a:endParaRPr lang="en-US" altLang="zh-CN" sz="30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方法：</a:t>
            </a:r>
            <a:r>
              <a:rPr lang="en-US" altLang="zh-CN" sz="3000" dirty="0">
                <a:solidFill>
                  <a:schemeClr val="bg2"/>
                </a:solidFill>
                <a:latin typeface="+mn-ea"/>
                <a:ea typeface="+mn-ea"/>
              </a:rPr>
              <a:t>.</a:t>
            </a:r>
            <a:r>
              <a:rPr lang="en-US" sz="3000" dirty="0">
                <a:solidFill>
                  <a:schemeClr val="bg2"/>
                </a:solidFill>
                <a:latin typeface="+mn-ea"/>
                <a:ea typeface="+mn-ea"/>
              </a:rPr>
              <a:t>add(), .remove(), .union()</a:t>
            </a:r>
            <a:endParaRPr lang="zh-CN" altLang="en-US" sz="30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11" name="Picture 10" descr="A group of white text&#10;&#10;AI-generated content may be incorrect.">
            <a:extLst>
              <a:ext uri="{FF2B5EF4-FFF2-40B4-BE49-F238E27FC236}">
                <a16:creationId xmlns:a16="http://schemas.microsoft.com/office/drawing/2014/main" id="{D999077A-EE1E-21E8-BDFE-6EE24E456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547" y="5711938"/>
            <a:ext cx="5736334" cy="10357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30A56F-3447-7677-5981-F588A1B11316}"/>
              </a:ext>
            </a:extLst>
          </p:cNvPr>
          <p:cNvSpPr txBox="1"/>
          <p:nvPr/>
        </p:nvSpPr>
        <p:spPr>
          <a:xfrm>
            <a:off x="341717" y="817408"/>
            <a:ext cx="613465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2. Python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基本数据类型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5EE58EE-4B5B-2B1C-2808-F35FCEFD6E42}"/>
              </a:ext>
            </a:extLst>
          </p:cNvPr>
          <p:cNvGrpSpPr/>
          <p:nvPr/>
        </p:nvGrpSpPr>
        <p:grpSpPr>
          <a:xfrm>
            <a:off x="3645985" y="2408241"/>
            <a:ext cx="7537273" cy="1316534"/>
            <a:chOff x="687612" y="2054284"/>
            <a:chExt cx="7104303" cy="115477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C1F2FAF-BD55-6D73-089D-A444A2F90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7613" y="2674008"/>
              <a:ext cx="7104302" cy="535052"/>
            </a:xfrm>
            <a:prstGeom prst="rect">
              <a:avLst/>
            </a:prstGeom>
          </p:spPr>
        </p:pic>
        <p:sp>
          <p:nvSpPr>
            <p:cNvPr id="2" name="TextBox 4">
              <a:extLst>
                <a:ext uri="{FF2B5EF4-FFF2-40B4-BE49-F238E27FC236}">
                  <a16:creationId xmlns:a16="http://schemas.microsoft.com/office/drawing/2014/main" id="{00F09495-817D-9252-FBD7-8E2FF20F7D98}"/>
                </a:ext>
              </a:extLst>
            </p:cNvPr>
            <p:cNvSpPr txBox="1"/>
            <p:nvPr/>
          </p:nvSpPr>
          <p:spPr>
            <a:xfrm>
              <a:off x="687612" y="2054284"/>
              <a:ext cx="7104301" cy="5810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800" dirty="0">
                  <a:solidFill>
                    <a:schemeClr val="bg2"/>
                  </a:solidFill>
                  <a:latin typeface="+mj-ea"/>
                  <a:ea typeface="+mj-ea"/>
                </a:rPr>
                <a:t>创建集合</a:t>
              </a:r>
              <a:endParaRPr lang="en-US" altLang="zh-CN" sz="2800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93FE06DA-1BC0-1546-7A49-B382EF4441F9}"/>
              </a:ext>
            </a:extLst>
          </p:cNvPr>
          <p:cNvSpPr txBox="1"/>
          <p:nvPr/>
        </p:nvSpPr>
        <p:spPr>
          <a:xfrm>
            <a:off x="493487" y="5446697"/>
            <a:ext cx="5602513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accent3"/>
                </a:solidFill>
                <a:latin typeface="+mn-ea"/>
                <a:ea typeface="+mn-ea"/>
              </a:rPr>
              <a:t>集合运算与位运算具有相同运算符，但本质上并不相同！</a:t>
            </a:r>
          </a:p>
        </p:txBody>
      </p:sp>
    </p:spTree>
    <p:extLst>
      <p:ext uri="{BB962C8B-B14F-4D97-AF65-F5344CB8AC3E}">
        <p14:creationId xmlns:p14="http://schemas.microsoft.com/office/powerpoint/2010/main" val="53871873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9050" y="3529013"/>
            <a:ext cx="121539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sz="32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8115" y="3926042"/>
            <a:ext cx="875305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800" b="1" dirty="0">
                <a:latin typeface="微软雅黑" pitchFamily="34" charset="-122"/>
                <a:ea typeface="微软雅黑" pitchFamily="34" charset="-122"/>
              </a:rPr>
              <a:t>一、变量命名、赋值与运算</a:t>
            </a:r>
          </a:p>
        </p:txBody>
      </p:sp>
      <p:sp>
        <p:nvSpPr>
          <p:cNvPr id="8" name="矩形 7"/>
          <p:cNvSpPr/>
          <p:nvPr/>
        </p:nvSpPr>
        <p:spPr>
          <a:xfrm>
            <a:off x="19050" y="5072061"/>
            <a:ext cx="12153900" cy="102281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590120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0D4BC-A0A2-3939-2C6F-FC340D329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D9BC452-13E2-26AE-1D4E-3F9E7D53B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变量命名、赋值与运算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C63F67-9AAB-CE6E-C7E5-38F577238B01}"/>
              </a:ext>
            </a:extLst>
          </p:cNvPr>
          <p:cNvSpPr txBox="1"/>
          <p:nvPr/>
        </p:nvSpPr>
        <p:spPr>
          <a:xfrm>
            <a:off x="95250" y="872803"/>
            <a:ext cx="8820150" cy="5494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4000" b="1" dirty="0">
                <a:solidFill>
                  <a:srgbClr val="333333"/>
                </a:solidFill>
                <a:latin typeface="+mn-ea"/>
                <a:ea typeface="+mn-ea"/>
              </a:rPr>
              <a:t>1. </a:t>
            </a:r>
            <a:r>
              <a:rPr lang="zh-CN" altLang="en-US" sz="4000" b="1" dirty="0">
                <a:solidFill>
                  <a:srgbClr val="333333"/>
                </a:solidFill>
                <a:latin typeface="+mn-ea"/>
                <a:ea typeface="+mn-ea"/>
              </a:rPr>
              <a:t>变量命名</a:t>
            </a:r>
            <a:endParaRPr lang="en-US" altLang="zh-CN" sz="40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概念：</a:t>
            </a:r>
            <a:r>
              <a:rPr lang="en-US" altLang="zh-CN" sz="3200" dirty="0">
                <a:solidFill>
                  <a:srgbClr val="151515"/>
                </a:solidFill>
                <a:latin typeface="+mn-ea"/>
                <a:ea typeface="+mn-ea"/>
              </a:rPr>
              <a:t>Python</a:t>
            </a:r>
            <a:r>
              <a:rPr lang="zh-CN" altLang="en-US" sz="3200" dirty="0">
                <a:solidFill>
                  <a:srgbClr val="151515"/>
                </a:solidFill>
                <a:latin typeface="+mn-ea"/>
                <a:ea typeface="+mn-ea"/>
              </a:rPr>
              <a:t>中，变量是用来存储数据的容器</a:t>
            </a:r>
            <a:endParaRPr lang="en-US" altLang="zh-CN" sz="3200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变量作用：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151515"/>
                </a:solidFill>
                <a:latin typeface="+mn-ea"/>
                <a:ea typeface="+mn-ea"/>
              </a:rPr>
              <a:t>存储数据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：临时保存程序运行中的信息</a:t>
            </a:r>
            <a:endParaRPr lang="en-US" altLang="zh-CN" sz="2800" dirty="0">
              <a:solidFill>
                <a:srgbClr val="151515"/>
              </a:solidFill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151515"/>
                </a:solidFill>
                <a:latin typeface="+mn-ea"/>
                <a:ea typeface="+mn-ea"/>
              </a:rPr>
              <a:t>标识数据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：通过名称快速访问和修改数据</a:t>
            </a:r>
            <a:endParaRPr lang="en-US" altLang="zh-CN" sz="2800" dirty="0">
              <a:solidFill>
                <a:srgbClr val="151515"/>
              </a:solidFill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151515"/>
                </a:solidFill>
                <a:latin typeface="+mn-ea"/>
                <a:ea typeface="+mn-ea"/>
              </a:rPr>
              <a:t>提高可读性</a:t>
            </a:r>
            <a:r>
              <a:rPr lang="zh-CN" altLang="en-US" sz="2800" dirty="0">
                <a:solidFill>
                  <a:srgbClr val="151515"/>
                </a:solidFill>
                <a:latin typeface="+mn-ea"/>
                <a:ea typeface="+mn-ea"/>
              </a:rPr>
              <a:t>：有意义的名称让代码更易懂</a:t>
            </a:r>
          </a:p>
        </p:txBody>
      </p:sp>
      <p:pic>
        <p:nvPicPr>
          <p:cNvPr id="5" name="Picture 4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88DD1C61-3773-EAD5-BA14-53FA4DEA3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490" y="4714709"/>
            <a:ext cx="4957260" cy="1582844"/>
          </a:xfrm>
          <a:prstGeom prst="rect">
            <a:avLst/>
          </a:prstGeom>
        </p:spPr>
      </p:pic>
      <p:pic>
        <p:nvPicPr>
          <p:cNvPr id="9" name="Picture 8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449B9F92-196A-7E4D-877F-A2B6A500C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490" y="3052415"/>
            <a:ext cx="4957260" cy="1203110"/>
          </a:xfrm>
          <a:prstGeom prst="rect">
            <a:avLst/>
          </a:prstGeom>
          <a:ln w="19050"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3982732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47ED8-4CEA-5DA0-0B93-FC3FB95A5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58EA445-8D73-2A6D-E8D8-1E94A2452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变量命名、赋值与运算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B47652-ADE6-1A19-DBC2-8FB12A86429C}"/>
              </a:ext>
            </a:extLst>
          </p:cNvPr>
          <p:cNvSpPr txBox="1"/>
          <p:nvPr/>
        </p:nvSpPr>
        <p:spPr>
          <a:xfrm>
            <a:off x="341086" y="912062"/>
            <a:ext cx="5515428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AutoNum type="arabicPeriod"/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变量命名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000" b="1" dirty="0">
                <a:solidFill>
                  <a:schemeClr val="accent2"/>
                </a:solidFill>
                <a:latin typeface="+mn-ea"/>
                <a:ea typeface="+mn-ea"/>
              </a:rPr>
              <a:t>命名规则：</a:t>
            </a:r>
            <a:endParaRPr lang="en-US" altLang="zh-CN" sz="30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99E83B8-BC53-3905-04CF-E68D4C6D7284}"/>
              </a:ext>
            </a:extLst>
          </p:cNvPr>
          <p:cNvSpPr txBox="1"/>
          <p:nvPr/>
        </p:nvSpPr>
        <p:spPr>
          <a:xfrm>
            <a:off x="5856514" y="1211384"/>
            <a:ext cx="6270173" cy="53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000" b="1" dirty="0">
                <a:solidFill>
                  <a:srgbClr val="151515"/>
                </a:solidFill>
                <a:latin typeface="+mn-ea"/>
                <a:ea typeface="+mn-ea"/>
              </a:rPr>
              <a:t>（</a:t>
            </a:r>
            <a:r>
              <a:rPr lang="en-US" altLang="zh-CN" sz="3000" b="1" dirty="0">
                <a:solidFill>
                  <a:srgbClr val="151515"/>
                </a:solidFill>
                <a:latin typeface="+mn-ea"/>
                <a:ea typeface="+mn-ea"/>
              </a:rPr>
              <a:t>3</a:t>
            </a:r>
            <a:r>
              <a:rPr lang="zh-CN" altLang="en-US" sz="3000" b="1" dirty="0">
                <a:solidFill>
                  <a:srgbClr val="151515"/>
                </a:solidFill>
                <a:latin typeface="+mn-ea"/>
                <a:ea typeface="+mn-ea"/>
              </a:rPr>
              <a:t>）字符限制：</a:t>
            </a:r>
            <a:endParaRPr lang="en-US" altLang="zh-CN" sz="3000" b="1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（</a:t>
            </a:r>
            <a:r>
              <a:rPr lang="en-US" altLang="zh-CN" sz="3000" dirty="0">
                <a:solidFill>
                  <a:srgbClr val="151515"/>
                </a:solidFill>
                <a:latin typeface="+mn-ea"/>
                <a:ea typeface="+mn-ea"/>
              </a:rPr>
              <a:t>1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）只能包含字母、数字、下划线</a:t>
            </a:r>
            <a:endParaRPr lang="en-US" altLang="zh-CN" sz="3000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（</a:t>
            </a:r>
            <a:r>
              <a:rPr lang="en-US" altLang="zh-CN" sz="3000" dirty="0">
                <a:solidFill>
                  <a:srgbClr val="151515"/>
                </a:solidFill>
                <a:latin typeface="+mn-ea"/>
                <a:ea typeface="+mn-ea"/>
              </a:rPr>
              <a:t>2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）禁止特殊符号：</a:t>
            </a:r>
            <a:r>
              <a:rPr lang="en-US" altLang="zh-CN" sz="3000" dirty="0">
                <a:solidFill>
                  <a:srgbClr val="151515"/>
                </a:solidFill>
                <a:latin typeface="+mn-ea"/>
                <a:ea typeface="+mn-ea"/>
              </a:rPr>
              <a:t>@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、</a:t>
            </a:r>
            <a:r>
              <a:rPr lang="en-US" altLang="zh-CN" sz="3000" dirty="0">
                <a:solidFill>
                  <a:srgbClr val="151515"/>
                </a:solidFill>
                <a:latin typeface="+mn-ea"/>
                <a:ea typeface="+mn-ea"/>
              </a:rPr>
              <a:t>$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、</a:t>
            </a:r>
            <a:r>
              <a:rPr lang="en-US" altLang="zh-CN" sz="3000" dirty="0">
                <a:solidFill>
                  <a:srgbClr val="151515"/>
                </a:solidFill>
                <a:latin typeface="+mn-ea"/>
                <a:ea typeface="+mn-ea"/>
              </a:rPr>
              <a:t>% 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等</a:t>
            </a:r>
            <a:endParaRPr lang="en-US" altLang="zh-CN" sz="3000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b="1" dirty="0">
                <a:solidFill>
                  <a:srgbClr val="151515"/>
                </a:solidFill>
                <a:latin typeface="+mn-ea"/>
                <a:ea typeface="+mn-ea"/>
              </a:rPr>
              <a:t>（</a:t>
            </a:r>
            <a:r>
              <a:rPr lang="en-US" altLang="zh-CN" sz="3000" b="1" dirty="0">
                <a:solidFill>
                  <a:srgbClr val="151515"/>
                </a:solidFill>
                <a:latin typeface="+mn-ea"/>
                <a:ea typeface="+mn-ea"/>
              </a:rPr>
              <a:t>4</a:t>
            </a:r>
            <a:r>
              <a:rPr lang="zh-CN" altLang="en-US" sz="3000" b="1" dirty="0">
                <a:solidFill>
                  <a:srgbClr val="151515"/>
                </a:solidFill>
                <a:latin typeface="+mn-ea"/>
                <a:ea typeface="+mn-ea"/>
              </a:rPr>
              <a:t>）开头字符：</a:t>
            </a:r>
            <a:endParaRPr lang="en-US" altLang="zh-CN" sz="3000" b="1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（</a:t>
            </a:r>
            <a:r>
              <a:rPr lang="en-US" altLang="zh-CN" sz="3000" dirty="0">
                <a:solidFill>
                  <a:srgbClr val="151515"/>
                </a:solidFill>
                <a:latin typeface="+mn-ea"/>
                <a:ea typeface="+mn-ea"/>
              </a:rPr>
              <a:t>1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）必须以字母或下划线开头</a:t>
            </a:r>
            <a:endParaRPr lang="en-US" altLang="zh-CN" sz="3000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（</a:t>
            </a:r>
            <a:r>
              <a:rPr lang="en-US" altLang="zh-CN" sz="3000" dirty="0">
                <a:solidFill>
                  <a:srgbClr val="151515"/>
                </a:solidFill>
                <a:latin typeface="+mn-ea"/>
                <a:ea typeface="+mn-ea"/>
              </a:rPr>
              <a:t>2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）</a:t>
            </a:r>
            <a:r>
              <a:rPr lang="zh-CN" altLang="en-US" sz="3000" u="sng" dirty="0">
                <a:solidFill>
                  <a:srgbClr val="151515"/>
                </a:solidFill>
                <a:latin typeface="+mn-ea"/>
                <a:ea typeface="+mn-ea"/>
              </a:rPr>
              <a:t>禁止以数字开头</a:t>
            </a:r>
            <a:endParaRPr lang="en-US" altLang="zh-CN" sz="3000" u="sng" dirty="0">
              <a:solidFill>
                <a:srgbClr val="151515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CBBBC9-95AF-1FDD-6FA3-954BAD4CBD7D}"/>
              </a:ext>
            </a:extLst>
          </p:cNvPr>
          <p:cNvSpPr txBox="1"/>
          <p:nvPr/>
        </p:nvSpPr>
        <p:spPr>
          <a:xfrm>
            <a:off x="304800" y="2300709"/>
            <a:ext cx="5791200" cy="416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000" b="1" dirty="0">
                <a:solidFill>
                  <a:srgbClr val="151515"/>
                </a:solidFill>
                <a:latin typeface="+mn-ea"/>
                <a:ea typeface="+mn-ea"/>
              </a:rPr>
              <a:t>（</a:t>
            </a:r>
            <a:r>
              <a:rPr lang="en-US" altLang="zh-CN" sz="3000" b="1" dirty="0">
                <a:solidFill>
                  <a:srgbClr val="151515"/>
                </a:solidFill>
                <a:latin typeface="+mn-ea"/>
                <a:ea typeface="+mn-ea"/>
              </a:rPr>
              <a:t>1</a:t>
            </a:r>
            <a:r>
              <a:rPr lang="zh-CN" altLang="en-US" sz="3000" b="1" dirty="0">
                <a:solidFill>
                  <a:srgbClr val="151515"/>
                </a:solidFill>
                <a:latin typeface="+mn-ea"/>
                <a:ea typeface="+mn-ea"/>
              </a:rPr>
              <a:t>）区分大小写：</a:t>
            </a:r>
            <a:endParaRPr lang="en-US" altLang="zh-CN" sz="3000" b="1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en-US" sz="3000" dirty="0">
                <a:solidFill>
                  <a:srgbClr val="151515"/>
                </a:solidFill>
                <a:latin typeface="+mn-ea"/>
                <a:ea typeface="+mn-ea"/>
              </a:rPr>
              <a:t>age 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和 </a:t>
            </a:r>
            <a:r>
              <a:rPr lang="en-US" sz="3000" dirty="0">
                <a:solidFill>
                  <a:srgbClr val="151515"/>
                </a:solidFill>
                <a:latin typeface="+mn-ea"/>
                <a:ea typeface="+mn-ea"/>
              </a:rPr>
              <a:t>Age 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是两个不同的变量</a:t>
            </a:r>
            <a:endParaRPr lang="en-US" altLang="zh-CN" sz="3000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b="1" dirty="0">
                <a:solidFill>
                  <a:srgbClr val="151515"/>
                </a:solidFill>
                <a:latin typeface="+mn-ea"/>
                <a:ea typeface="+mn-ea"/>
              </a:rPr>
              <a:t>（</a:t>
            </a:r>
            <a:r>
              <a:rPr lang="en-US" altLang="zh-CN" sz="3000" b="1" dirty="0">
                <a:solidFill>
                  <a:srgbClr val="151515"/>
                </a:solidFill>
                <a:latin typeface="+mn-ea"/>
                <a:ea typeface="+mn-ea"/>
              </a:rPr>
              <a:t>2</a:t>
            </a:r>
            <a:r>
              <a:rPr lang="zh-CN" altLang="en-US" sz="3000" b="1" dirty="0">
                <a:solidFill>
                  <a:srgbClr val="151515"/>
                </a:solidFill>
                <a:latin typeface="+mn-ea"/>
                <a:ea typeface="+mn-ea"/>
              </a:rPr>
              <a:t>）禁止关键字：</a:t>
            </a:r>
            <a:endParaRPr lang="en-US" altLang="zh-CN" sz="3000" b="1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不能使用</a:t>
            </a:r>
            <a:r>
              <a:rPr lang="en-US" sz="3000" dirty="0">
                <a:solidFill>
                  <a:srgbClr val="151515"/>
                </a:solidFill>
                <a:latin typeface="+mn-ea"/>
                <a:ea typeface="+mn-ea"/>
              </a:rPr>
              <a:t>Python</a:t>
            </a:r>
            <a:r>
              <a:rPr lang="zh-CN" altLang="en-US" sz="3000" dirty="0">
                <a:solidFill>
                  <a:srgbClr val="151515"/>
                </a:solidFill>
                <a:latin typeface="+mn-ea"/>
                <a:ea typeface="+mn-ea"/>
              </a:rPr>
              <a:t>保留字（如 </a:t>
            </a:r>
            <a:r>
              <a:rPr lang="en-US" sz="3000" dirty="0" err="1">
                <a:solidFill>
                  <a:srgbClr val="151515"/>
                </a:solidFill>
                <a:latin typeface="+mn-ea"/>
                <a:ea typeface="+mn-ea"/>
              </a:rPr>
              <a:t>if、for、class</a:t>
            </a:r>
            <a:r>
              <a:rPr lang="en-US" sz="3000" dirty="0">
                <a:solidFill>
                  <a:srgbClr val="151515"/>
                </a:solidFill>
                <a:latin typeface="+mn-ea"/>
                <a:ea typeface="+mn-ea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496547457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0C043-D7F5-5EC4-835A-9580B8D2F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F11642B-0E97-3F4F-C77A-F3C5A56ED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变量命名、赋值与运算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6A4876-2007-A214-A357-C912FABB9A38}"/>
              </a:ext>
            </a:extLst>
          </p:cNvPr>
          <p:cNvSpPr txBox="1"/>
          <p:nvPr/>
        </p:nvSpPr>
        <p:spPr>
          <a:xfrm>
            <a:off x="312057" y="846748"/>
            <a:ext cx="9755868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1. 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变量命名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434931A-A9F6-297A-CC1B-7C3DC3470DB2}"/>
              </a:ext>
            </a:extLst>
          </p:cNvPr>
          <p:cNvSpPr txBox="1"/>
          <p:nvPr/>
        </p:nvSpPr>
        <p:spPr>
          <a:xfrm>
            <a:off x="680523" y="1704141"/>
            <a:ext cx="5152405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0" hangingPunct="0">
              <a:lnSpc>
                <a:spcPct val="15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命名规则：</a:t>
            </a:r>
            <a:endParaRPr lang="en-US" altLang="zh-CN" sz="28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5026F3-BB96-9A25-DE88-F9C139715DAF}"/>
              </a:ext>
            </a:extLst>
          </p:cNvPr>
          <p:cNvSpPr txBox="1"/>
          <p:nvPr/>
        </p:nvSpPr>
        <p:spPr>
          <a:xfrm>
            <a:off x="2736396" y="2514407"/>
            <a:ext cx="7331529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判断哪些是正确命名，哪些是错误命名？</a:t>
            </a:r>
            <a:endParaRPr lang="en-US" altLang="zh-CN" sz="3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C68DFA-EAEC-1169-61BF-3E918856D5A6}"/>
              </a:ext>
            </a:extLst>
          </p:cNvPr>
          <p:cNvSpPr txBox="1"/>
          <p:nvPr/>
        </p:nvSpPr>
        <p:spPr>
          <a:xfrm>
            <a:off x="358127" y="3799782"/>
            <a:ext cx="612465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3200" b="1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Student_name</a:t>
            </a:r>
            <a:r>
              <a:rPr lang="en-US" altLang="zh-CN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lang="en-US" altLang="zh-CN" sz="3200" b="1" dirty="0">
                <a:solidFill>
                  <a:srgbClr val="A3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"Hello, World!"</a:t>
            </a:r>
            <a:r>
              <a:rPr lang="en-US" altLang="zh-CN" sz="32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endParaRPr lang="en-US" altLang="zh-CN" sz="32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altLang="zh-CN" sz="3200" b="1" dirty="0">
                <a:solidFill>
                  <a:srgbClr val="001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2year = 2023</a:t>
            </a:r>
          </a:p>
          <a:p>
            <a:pPr algn="l">
              <a:buNone/>
            </a:pPr>
            <a:r>
              <a:rPr lang="en-US" altLang="zh-CN" sz="3200" b="1" dirty="0">
                <a:solidFill>
                  <a:srgbClr val="001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First-name = </a:t>
            </a:r>
            <a:r>
              <a:rPr lang="en-US" altLang="zh-CN" sz="3200" b="1" dirty="0">
                <a:solidFill>
                  <a:srgbClr val="A3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“Alice"</a:t>
            </a:r>
            <a:endParaRPr lang="en-US" altLang="zh-CN" sz="3200" b="1" dirty="0">
              <a:solidFill>
                <a:srgbClr val="00108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188880-46D2-3B54-7DC5-27E0BB7E916D}"/>
              </a:ext>
            </a:extLst>
          </p:cNvPr>
          <p:cNvSpPr txBox="1"/>
          <p:nvPr/>
        </p:nvSpPr>
        <p:spPr>
          <a:xfrm>
            <a:off x="6779172" y="3799782"/>
            <a:ext cx="495338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3200" b="1" dirty="0">
                <a:solidFill>
                  <a:srgbClr val="001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_count</a:t>
            </a:r>
            <a:r>
              <a:rPr lang="en-US" altLang="zh-CN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10</a:t>
            </a:r>
          </a:p>
          <a:p>
            <a:pPr algn="l">
              <a:buNone/>
            </a:pPr>
            <a:r>
              <a:rPr lang="en-US" altLang="zh-CN" sz="32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total_price_2023</a:t>
            </a:r>
            <a:r>
              <a:rPr lang="en-US" altLang="zh-CN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lang="en-US" altLang="zh-CN" sz="3200" b="1" dirty="0">
                <a:solidFill>
                  <a:srgbClr val="09865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100.5</a:t>
            </a:r>
          </a:p>
          <a:p>
            <a:pPr algn="l">
              <a:buNone/>
            </a:pPr>
            <a:r>
              <a:rPr lang="en-US" altLang="zh-CN" sz="3200" b="1" dirty="0">
                <a:solidFill>
                  <a:srgbClr val="001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altLang="zh-CN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lang="en-US" altLang="zh-CN" sz="3200" b="1" dirty="0">
                <a:solidFill>
                  <a:srgbClr val="A3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“cs101"</a:t>
            </a:r>
            <a:endParaRPr lang="en-US" altLang="zh-CN" sz="32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18559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EFFDD-BE38-62E2-8ECA-8CD1FAC4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4184C65-D287-3A63-3DC9-746DECE25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5" y="8526"/>
            <a:ext cx="10472058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变量命名、赋值与运算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81A8D4-261D-7555-40EB-7FAE0C2E1CBF}"/>
              </a:ext>
            </a:extLst>
          </p:cNvPr>
          <p:cNvSpPr txBox="1"/>
          <p:nvPr/>
        </p:nvSpPr>
        <p:spPr>
          <a:xfrm>
            <a:off x="391886" y="846748"/>
            <a:ext cx="9676039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1. 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变量命名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7361566-7FEF-4779-6E17-AA0F3264FA78}"/>
              </a:ext>
            </a:extLst>
          </p:cNvPr>
          <p:cNvSpPr txBox="1"/>
          <p:nvPr/>
        </p:nvSpPr>
        <p:spPr>
          <a:xfrm>
            <a:off x="580572" y="1582604"/>
            <a:ext cx="3788230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0" hangingPunct="0">
              <a:lnSpc>
                <a:spcPct val="15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命名规范：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A7E8AB-12B2-395F-8F0C-49A577C75A90}"/>
              </a:ext>
            </a:extLst>
          </p:cNvPr>
          <p:cNvSpPr txBox="1"/>
          <p:nvPr/>
        </p:nvSpPr>
        <p:spPr>
          <a:xfrm>
            <a:off x="391886" y="2444308"/>
            <a:ext cx="8186057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3200" b="1" dirty="0">
                <a:solidFill>
                  <a:schemeClr val="bg2"/>
                </a:solidFill>
                <a:latin typeface="+mn-ea"/>
                <a:ea typeface="+mn-ea"/>
              </a:rPr>
              <a:t>1</a:t>
            </a:r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）</a:t>
            </a:r>
            <a:r>
              <a:rPr lang="en-CN" sz="3200" b="1" dirty="0">
                <a:solidFill>
                  <a:schemeClr val="bg2"/>
                </a:solidFill>
                <a:latin typeface="+mn-ea"/>
                <a:ea typeface="+mn-ea"/>
              </a:rPr>
              <a:t>见名知意</a:t>
            </a:r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32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用英文单词描述数据含义（如 </a:t>
            </a:r>
            <a:r>
              <a:rPr lang="en-US" sz="2800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user_age</a:t>
            </a:r>
            <a:r>
              <a:rPr 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 </a:t>
            </a:r>
            <a:r>
              <a:rPr lang="zh-CN" alt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而非 </a:t>
            </a:r>
            <a:r>
              <a:rPr 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a）</a:t>
            </a:r>
          </a:p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32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32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）蛇形命名法</a:t>
            </a:r>
            <a:r>
              <a:rPr lang="en-US" sz="32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  <a:p>
            <a:pPr algn="l"/>
            <a:r>
              <a:rPr lang="zh-CN" alt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多个单词用下划线连接（如 </a:t>
            </a:r>
            <a:r>
              <a:rPr lang="en-US" sz="2800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student_id</a:t>
            </a:r>
            <a:r>
              <a:rPr 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32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32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）全大写常量</a:t>
            </a:r>
            <a:r>
              <a:rPr lang="zh-CN" altLang="en-US" sz="32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32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lang="zh-CN" alt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固定值的变量名全大写（如 </a:t>
            </a:r>
            <a:r>
              <a:rPr lang="en-US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MAX_SIZE = 100）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328991-94D5-E0AD-BD8B-741638E997DB}"/>
              </a:ext>
            </a:extLst>
          </p:cNvPr>
          <p:cNvSpPr txBox="1"/>
          <p:nvPr/>
        </p:nvSpPr>
        <p:spPr>
          <a:xfrm>
            <a:off x="8412494" y="2444308"/>
            <a:ext cx="3310861" cy="375487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28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不推荐</a:t>
            </a:r>
            <a:endParaRPr lang="en-US" altLang="zh-CN" sz="2800" b="1" dirty="0">
              <a:solidFill>
                <a:srgbClr val="00108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altLang="zh-CN" sz="28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10</a:t>
            </a:r>
          </a:p>
          <a:p>
            <a:pPr algn="l"/>
            <a:r>
              <a:rPr lang="en-US" altLang="zh-CN" sz="2800" b="1" dirty="0">
                <a:solidFill>
                  <a:srgbClr val="001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b="1" dirty="0">
                <a:solidFill>
                  <a:srgbClr val="A3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“Tom"</a:t>
            </a:r>
            <a:endParaRPr lang="en-US" altLang="zh-CN" sz="2800" b="1" dirty="0">
              <a:solidFill>
                <a:srgbClr val="00108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zh-CN" altLang="en-US" sz="2800" b="1" dirty="0">
                <a:solidFill>
                  <a:srgbClr val="001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推荐</a:t>
            </a:r>
            <a:r>
              <a:rPr lang="zh-CN" altLang="en-US" sz="28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endParaRPr lang="en-US" altLang="zh-CN" sz="2800" b="1" dirty="0">
              <a:solidFill>
                <a:srgbClr val="00108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altLang="zh-CN" sz="2800" b="1" dirty="0" err="1">
                <a:solidFill>
                  <a:srgbClr val="001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800" b="1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tem_count</a:t>
            </a:r>
            <a:r>
              <a:rPr lang="en-US" altLang="zh-CN" sz="28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10</a:t>
            </a:r>
          </a:p>
          <a:p>
            <a:pPr algn="l">
              <a:buNone/>
            </a:pPr>
            <a:r>
              <a:rPr lang="en-US" altLang="zh-CN" sz="2800" b="1" dirty="0" err="1">
                <a:solidFill>
                  <a:srgbClr val="001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r>
              <a:rPr lang="en-US" altLang="zh-CN" sz="2800" b="1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ser_name</a:t>
            </a:r>
            <a:r>
              <a:rPr lang="en-US" altLang="zh-CN" sz="2800" b="1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lang="en-US" altLang="zh-CN" sz="2800" b="1" dirty="0">
                <a:solidFill>
                  <a:srgbClr val="A3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“Tom"</a:t>
            </a:r>
            <a:endParaRPr lang="en-US" altLang="zh-CN" sz="2800" b="1" dirty="0">
              <a:solidFill>
                <a:srgbClr val="00108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70828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365369E-D40A-4C74-68E6-B5533B01E980}"/>
              </a:ext>
            </a:extLst>
          </p:cNvPr>
          <p:cNvSpPr/>
          <p:nvPr/>
        </p:nvSpPr>
        <p:spPr>
          <a:xfrm>
            <a:off x="5718495" y="4304105"/>
            <a:ext cx="6350313" cy="2467944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变量命名、赋值与运算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123370" y="667019"/>
            <a:ext cx="11945439" cy="3637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4000" b="1" dirty="0">
                <a:solidFill>
                  <a:srgbClr val="333333"/>
                </a:solidFill>
                <a:latin typeface="+mn-ea"/>
                <a:ea typeface="+mn-ea"/>
              </a:rPr>
              <a:t>2. </a:t>
            </a:r>
            <a:r>
              <a:rPr lang="zh-CN" altLang="en-US" sz="4000" b="1" dirty="0">
                <a:solidFill>
                  <a:srgbClr val="333333"/>
                </a:solidFill>
                <a:latin typeface="+mn-ea"/>
                <a:ea typeface="+mn-ea"/>
              </a:rPr>
              <a:t>变量赋值</a:t>
            </a:r>
            <a:endParaRPr lang="en-US" altLang="zh-CN" sz="40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概念：</a:t>
            </a:r>
            <a:r>
              <a:rPr lang="zh-CN" altLang="en-US" sz="3200" dirty="0">
                <a:solidFill>
                  <a:srgbClr val="151515"/>
                </a:solidFill>
                <a:latin typeface="+mn-ea"/>
                <a:ea typeface="+mn-ea"/>
              </a:rPr>
              <a:t>变量的赋值是将一个值或表达式赋给一个变量。</a:t>
            </a:r>
            <a:r>
              <a:rPr lang="en-US" altLang="zh-CN" sz="3200" dirty="0">
                <a:solidFill>
                  <a:srgbClr val="151515"/>
                </a:solidFill>
                <a:latin typeface="+mn-ea"/>
                <a:ea typeface="+mn-ea"/>
              </a:rPr>
              <a:t>Python</a:t>
            </a:r>
            <a:r>
              <a:rPr lang="zh-CN" altLang="en-US" sz="3200" dirty="0">
                <a:solidFill>
                  <a:srgbClr val="151515"/>
                </a:solidFill>
                <a:latin typeface="+mn-ea"/>
                <a:ea typeface="+mn-ea"/>
              </a:rPr>
              <a:t>中的变量赋值是动态的，即可将不同类型的值赋给同一个变量。</a:t>
            </a:r>
            <a:endParaRPr lang="en-US" altLang="zh-CN" sz="3200" dirty="0">
              <a:solidFill>
                <a:srgbClr val="151515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核心概念</a:t>
            </a:r>
            <a:r>
              <a:rPr lang="zh-CN" altLang="en-US" sz="3200" dirty="0">
                <a:solidFill>
                  <a:srgbClr val="151515"/>
                </a:solidFill>
                <a:latin typeface="+mn-ea"/>
                <a:ea typeface="+mn-ea"/>
              </a:rPr>
              <a:t>：变量是对象（数据）的标签（引用），而非数据本身。</a:t>
            </a:r>
            <a:endParaRPr lang="en-US" altLang="zh-CN" sz="3200" dirty="0">
              <a:solidFill>
                <a:srgbClr val="151515"/>
              </a:solidFill>
              <a:latin typeface="+mn-ea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530B1E-7EC6-E9E0-75AA-CAD3281128F7}"/>
              </a:ext>
            </a:extLst>
          </p:cNvPr>
          <p:cNvSpPr txBox="1"/>
          <p:nvPr/>
        </p:nvSpPr>
        <p:spPr>
          <a:xfrm>
            <a:off x="174172" y="5145625"/>
            <a:ext cx="4689658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x=10, </a:t>
            </a:r>
            <a:r>
              <a:rPr lang="en-US" altLang="zh-CN" u="sng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u="sng" dirty="0">
                <a:solidFill>
                  <a:schemeClr val="bg2"/>
                </a:solidFill>
                <a:latin typeface="+mn-ea"/>
                <a:ea typeface="+mn-ea"/>
              </a:rPr>
              <a:t>会先在内存中创建对象</a:t>
            </a:r>
            <a:r>
              <a:rPr lang="en-US" altLang="zh-CN" u="sng" dirty="0">
                <a:solidFill>
                  <a:schemeClr val="bg2"/>
                </a:solidFill>
                <a:latin typeface="+mn-ea"/>
                <a:ea typeface="+mn-ea"/>
              </a:rPr>
              <a:t>10</a:t>
            </a:r>
            <a:r>
              <a:rPr lang="zh-CN" altLang="en-US" u="sng" dirty="0">
                <a:solidFill>
                  <a:schemeClr val="bg2"/>
                </a:solidFill>
                <a:latin typeface="+mn-ea"/>
                <a:ea typeface="+mn-ea"/>
              </a:rPr>
              <a:t>，再将变量</a:t>
            </a:r>
            <a:r>
              <a:rPr lang="en-US" altLang="zh-CN" u="sng" dirty="0">
                <a:solidFill>
                  <a:schemeClr val="bg2"/>
                </a:solidFill>
                <a:latin typeface="+mn-ea"/>
                <a:ea typeface="+mn-ea"/>
              </a:rPr>
              <a:t>x</a:t>
            </a:r>
            <a:r>
              <a:rPr lang="zh-CN" altLang="en-US" u="sng" dirty="0">
                <a:solidFill>
                  <a:schemeClr val="bg2"/>
                </a:solidFill>
                <a:latin typeface="+mn-ea"/>
                <a:ea typeface="+mn-ea"/>
              </a:rPr>
              <a:t>绑定（引用）到</a:t>
            </a:r>
            <a:r>
              <a:rPr lang="en-US" altLang="zh-CN" u="sng" dirty="0">
                <a:solidFill>
                  <a:schemeClr val="bg2"/>
                </a:solidFill>
                <a:latin typeface="+mn-ea"/>
                <a:ea typeface="+mn-ea"/>
              </a:rPr>
              <a:t>10</a:t>
            </a:r>
            <a:r>
              <a:rPr lang="zh-CN" altLang="en-US" u="sng" dirty="0">
                <a:solidFill>
                  <a:schemeClr val="bg2"/>
                </a:solidFill>
                <a:latin typeface="+mn-ea"/>
                <a:ea typeface="+mn-ea"/>
              </a:rPr>
              <a:t>这个对象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1C920C3-8595-0D50-8CDC-0DC885751374}"/>
              </a:ext>
            </a:extLst>
          </p:cNvPr>
          <p:cNvGrpSpPr/>
          <p:nvPr/>
        </p:nvGrpSpPr>
        <p:grpSpPr>
          <a:xfrm>
            <a:off x="324441" y="4476938"/>
            <a:ext cx="4588094" cy="643463"/>
            <a:chOff x="4698125" y="1191873"/>
            <a:chExt cx="4389120" cy="64346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A96F3F6-9A0A-D2C4-DDB1-F1B1F0DF090B}"/>
                </a:ext>
              </a:extLst>
            </p:cNvPr>
            <p:cNvSpPr/>
            <p:nvPr/>
          </p:nvSpPr>
          <p:spPr>
            <a:xfrm>
              <a:off x="4704431" y="1191873"/>
              <a:ext cx="4382814" cy="643463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D94F4C8-7A51-2570-9A90-0C20EA6C5620}"/>
                </a:ext>
              </a:extLst>
            </p:cNvPr>
            <p:cNvSpPr txBox="1"/>
            <p:nvPr/>
          </p:nvSpPr>
          <p:spPr>
            <a:xfrm>
              <a:off x="4698125" y="1337537"/>
              <a:ext cx="4385929" cy="4091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ts val="2400"/>
                </a:lnSpc>
                <a:buNone/>
              </a:pPr>
              <a:r>
                <a:rPr lang="en-US" altLang="zh-CN" sz="2800" b="1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a</a:t>
              </a:r>
              <a:r>
                <a:rPr lang="en-US" altLang="zh-CN" sz="2800" b="1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 = </a:t>
              </a:r>
              <a:r>
                <a:rPr lang="en-US" altLang="zh-CN" sz="2800" b="1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10</a:t>
              </a:r>
              <a:r>
                <a:rPr lang="en-US" altLang="zh-CN" sz="2800" b="1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  </a:t>
              </a:r>
              <a:r>
                <a:rPr lang="en-US" altLang="zh-CN" sz="2800" b="1" dirty="0">
                  <a:solidFill>
                    <a:srgbClr val="008000"/>
                  </a:solidFill>
                  <a:effectLst/>
                  <a:latin typeface="Consolas" panose="020B0609020204030204" pitchFamily="49" charset="0"/>
                </a:rPr>
                <a:t># a —&gt; </a:t>
              </a:r>
              <a:r>
                <a:rPr lang="zh-CN" altLang="en-US" sz="2800" b="1" dirty="0">
                  <a:solidFill>
                    <a:srgbClr val="008000"/>
                  </a:solidFill>
                  <a:latin typeface="Consolas" panose="020B0609020204030204" pitchFamily="49" charset="0"/>
                </a:rPr>
                <a:t>对象</a:t>
              </a:r>
              <a:r>
                <a:rPr lang="en-US" altLang="zh-CN" sz="2800" b="1" dirty="0">
                  <a:solidFill>
                    <a:srgbClr val="008000"/>
                  </a:solidFill>
                  <a:effectLst/>
                  <a:latin typeface="Consolas" panose="020B0609020204030204" pitchFamily="49" charset="0"/>
                </a:rPr>
                <a:t>10</a:t>
              </a:r>
              <a:endParaRPr lang="en-US" altLang="zh-CN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76842210-6E84-5A69-E234-18234FB9DE5C}"/>
              </a:ext>
            </a:extLst>
          </p:cNvPr>
          <p:cNvSpPr txBox="1"/>
          <p:nvPr/>
        </p:nvSpPr>
        <p:spPr>
          <a:xfrm>
            <a:off x="5763864" y="4401417"/>
            <a:ext cx="6186398" cy="23391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n-US" altLang="zh-CN" sz="28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2800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[1,2,3]</a:t>
            </a:r>
            <a:r>
              <a:rPr lang="en-US" altLang="zh-CN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zh-CN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a</a:t>
            </a:r>
            <a:r>
              <a:rPr lang="zh-CN" altLang="en-US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引用列表对象</a:t>
            </a:r>
            <a:endParaRPr lang="en-US" altLang="zh-CN" sz="2800" b="1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altLang="zh-CN" sz="2800" b="1" dirty="0">
                <a:solidFill>
                  <a:srgbClr val="001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b="1" dirty="0">
                <a:solidFill>
                  <a:srgbClr val="001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altLang="zh-CN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# b</a:t>
            </a:r>
            <a:r>
              <a:rPr lang="zh-CN" alt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与</a:t>
            </a:r>
            <a:r>
              <a:rPr lang="en-US" altLang="zh-CN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a</a:t>
            </a:r>
            <a:r>
              <a:rPr lang="zh-CN" alt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指向同一对象</a:t>
            </a:r>
            <a:endParaRPr lang="en-US" altLang="zh-CN" sz="2800" b="1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zh-CN" sz="2800" b="1" dirty="0" err="1">
                <a:solidFill>
                  <a:srgbClr val="001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b.append</a:t>
            </a:r>
            <a:r>
              <a:rPr lang="en-US" altLang="zh-CN" sz="2800" b="1" dirty="0">
                <a:solidFill>
                  <a:srgbClr val="001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        </a:t>
            </a:r>
            <a:r>
              <a:rPr lang="en-US" altLang="zh-CN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修改</a:t>
            </a:r>
            <a:r>
              <a:rPr lang="en-US" altLang="zh-CN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a</a:t>
            </a:r>
            <a:r>
              <a:rPr lang="zh-CN" alt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也会影响</a:t>
            </a:r>
            <a:r>
              <a:rPr lang="en-US" altLang="zh-CN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b</a:t>
            </a:r>
          </a:p>
          <a:p>
            <a:pPr algn="l"/>
            <a:r>
              <a:rPr lang="en-US" altLang="zh-CN" sz="2800" b="1" dirty="0">
                <a:solidFill>
                  <a:srgbClr val="001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print(n)               </a:t>
            </a:r>
            <a:r>
              <a:rPr lang="en-US" altLang="zh-CN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输出</a:t>
            </a:r>
            <a:r>
              <a:rPr lang="en-US" altLang="zh-CN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[1,2,3,4]</a:t>
            </a:r>
          </a:p>
        </p:txBody>
      </p:sp>
    </p:spTree>
    <p:extLst>
      <p:ext uri="{BB962C8B-B14F-4D97-AF65-F5344CB8AC3E}">
        <p14:creationId xmlns:p14="http://schemas.microsoft.com/office/powerpoint/2010/main" val="965496355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829CE-67EE-A9AB-D842-8C2811AB1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C118951-D4A5-20CD-F22A-F909B672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" y="8526"/>
            <a:ext cx="10428515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变量命名、赋值与运算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B7ACDF-1E1D-A97F-35E4-C48B20886982}"/>
              </a:ext>
            </a:extLst>
          </p:cNvPr>
          <p:cNvSpPr txBox="1"/>
          <p:nvPr/>
        </p:nvSpPr>
        <p:spPr>
          <a:xfrm>
            <a:off x="174171" y="846749"/>
            <a:ext cx="101548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2. 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变量赋值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可变对象与不可变对象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D305C4-842E-F06A-EEE2-294456E6E0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617886"/>
              </p:ext>
            </p:extLst>
          </p:nvPr>
        </p:nvGraphicFramePr>
        <p:xfrm>
          <a:off x="943427" y="2349865"/>
          <a:ext cx="10617200" cy="2475702"/>
        </p:xfrm>
        <a:graphic>
          <a:graphicData uri="http://schemas.openxmlformats.org/drawingml/2006/table">
            <a:tbl>
              <a:tblPr/>
              <a:tblGrid>
                <a:gridCol w="2289464">
                  <a:extLst>
                    <a:ext uri="{9D8B030D-6E8A-4147-A177-3AD203B41FA5}">
                      <a16:colId xmlns:a16="http://schemas.microsoft.com/office/drawing/2014/main" val="1900554652"/>
                    </a:ext>
                  </a:extLst>
                </a:gridCol>
                <a:gridCol w="2442194">
                  <a:extLst>
                    <a:ext uri="{9D8B030D-6E8A-4147-A177-3AD203B41FA5}">
                      <a16:colId xmlns:a16="http://schemas.microsoft.com/office/drawing/2014/main" val="2247705889"/>
                    </a:ext>
                  </a:extLst>
                </a:gridCol>
                <a:gridCol w="5885542">
                  <a:extLst>
                    <a:ext uri="{9D8B030D-6E8A-4147-A177-3AD203B41FA5}">
                      <a16:colId xmlns:a16="http://schemas.microsoft.com/office/drawing/2014/main" val="579228908"/>
                    </a:ext>
                  </a:extLst>
                </a:gridCol>
              </a:tblGrid>
              <a:tr h="55111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类型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示例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赋值特性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98481"/>
                  </a:ext>
                </a:extLst>
              </a:tr>
              <a:tr h="9938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可变对象</a:t>
                      </a:r>
                      <a:endParaRPr lang="zh-CN" altLang="en-US" sz="280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list, </a:t>
                      </a:r>
                      <a:r>
                        <a:rPr lang="en-US" sz="2800" dirty="0" err="1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dict</a:t>
                      </a: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, set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修改时原地更新，所有引用同步变化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470928"/>
                  </a:ext>
                </a:extLst>
              </a:tr>
              <a:tr h="8258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不可变对象</a:t>
                      </a:r>
                      <a:endParaRPr lang="zh-CN" altLang="en-US" sz="280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int, str, tuple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修改时创建新对象，原引用不变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661659"/>
                  </a:ext>
                </a:extLst>
              </a:tr>
            </a:tbl>
          </a:graphicData>
        </a:graphic>
      </p:graphicFrame>
      <p:pic>
        <p:nvPicPr>
          <p:cNvPr id="11" name="Picture 10" descr="A black background with green text&#10;&#10;AI-generated content may be incorrect.">
            <a:extLst>
              <a:ext uri="{FF2B5EF4-FFF2-40B4-BE49-F238E27FC236}">
                <a16:creationId xmlns:a16="http://schemas.microsoft.com/office/drawing/2014/main" id="{C1A7862F-2B29-0E19-58B6-E78DC3649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09" y="5042181"/>
            <a:ext cx="4579171" cy="1347901"/>
          </a:xfrm>
          <a:prstGeom prst="rect">
            <a:avLst/>
          </a:prstGeom>
        </p:spPr>
      </p:pic>
      <p:pic>
        <p:nvPicPr>
          <p:cNvPr id="13" name="Picture 12" descr="A black background with green text&#10;&#10;AI-generated content may be incorrect.">
            <a:extLst>
              <a:ext uri="{FF2B5EF4-FFF2-40B4-BE49-F238E27FC236}">
                <a16:creationId xmlns:a16="http://schemas.microsoft.com/office/drawing/2014/main" id="{0222EE34-F09D-7027-0003-CE3BBCC3C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676" y="5042182"/>
            <a:ext cx="5936301" cy="13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6941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2BFBCA-9573-0586-F7F4-02CC91863D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858056"/>
              </p:ext>
            </p:extLst>
          </p:nvPr>
        </p:nvGraphicFramePr>
        <p:xfrm>
          <a:off x="564349" y="3070742"/>
          <a:ext cx="10793462" cy="33714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8081">
                  <a:extLst>
                    <a:ext uri="{9D8B030D-6E8A-4147-A177-3AD203B41FA5}">
                      <a16:colId xmlns:a16="http://schemas.microsoft.com/office/drawing/2014/main" val="1043003000"/>
                    </a:ext>
                  </a:extLst>
                </a:gridCol>
                <a:gridCol w="1240262">
                  <a:extLst>
                    <a:ext uri="{9D8B030D-6E8A-4147-A177-3AD203B41FA5}">
                      <a16:colId xmlns:a16="http://schemas.microsoft.com/office/drawing/2014/main" val="1098686767"/>
                    </a:ext>
                  </a:extLst>
                </a:gridCol>
                <a:gridCol w="1334172">
                  <a:extLst>
                    <a:ext uri="{9D8B030D-6E8A-4147-A177-3AD203B41FA5}">
                      <a16:colId xmlns:a16="http://schemas.microsoft.com/office/drawing/2014/main" val="2521600211"/>
                    </a:ext>
                  </a:extLst>
                </a:gridCol>
                <a:gridCol w="1334172">
                  <a:extLst>
                    <a:ext uri="{9D8B030D-6E8A-4147-A177-3AD203B41FA5}">
                      <a16:colId xmlns:a16="http://schemas.microsoft.com/office/drawing/2014/main" val="3117822586"/>
                    </a:ext>
                  </a:extLst>
                </a:gridCol>
                <a:gridCol w="1190702">
                  <a:extLst>
                    <a:ext uri="{9D8B030D-6E8A-4147-A177-3AD203B41FA5}">
                      <a16:colId xmlns:a16="http://schemas.microsoft.com/office/drawing/2014/main" val="1742883527"/>
                    </a:ext>
                  </a:extLst>
                </a:gridCol>
                <a:gridCol w="1477640">
                  <a:extLst>
                    <a:ext uri="{9D8B030D-6E8A-4147-A177-3AD203B41FA5}">
                      <a16:colId xmlns:a16="http://schemas.microsoft.com/office/drawing/2014/main" val="2368683226"/>
                    </a:ext>
                  </a:extLst>
                </a:gridCol>
                <a:gridCol w="1407802">
                  <a:extLst>
                    <a:ext uri="{9D8B030D-6E8A-4147-A177-3AD203B41FA5}">
                      <a16:colId xmlns:a16="http://schemas.microsoft.com/office/drawing/2014/main" val="23541908"/>
                    </a:ext>
                  </a:extLst>
                </a:gridCol>
                <a:gridCol w="1380631">
                  <a:extLst>
                    <a:ext uri="{9D8B030D-6E8A-4147-A177-3AD203B41FA5}">
                      <a16:colId xmlns:a16="http://schemas.microsoft.com/office/drawing/2014/main" val="460495524"/>
                    </a:ext>
                  </a:extLst>
                </a:gridCol>
              </a:tblGrid>
              <a:tr h="48641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200" b="1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算术运算符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bg2"/>
                          </a:solidFill>
                          <a:effectLst/>
                        </a:rPr>
                        <a:t>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bg2"/>
                          </a:solidFill>
                          <a:effectLst/>
                        </a:rPr>
                        <a:t>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bg2"/>
                          </a:solidFill>
                          <a:effectLst/>
                        </a:rPr>
                        <a:t>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bg2"/>
                          </a:solidFill>
                          <a:effectLst/>
                        </a:rPr>
                        <a:t>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bg2"/>
                          </a:solidFill>
                          <a:effectLst/>
                        </a:rPr>
                        <a:t>取模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bg2"/>
                          </a:solidFill>
                          <a:effectLst/>
                        </a:rPr>
                        <a:t>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bg2"/>
                          </a:solidFill>
                          <a:effectLst/>
                        </a:rPr>
                        <a:t>取整除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590707"/>
                  </a:ext>
                </a:extLst>
              </a:tr>
              <a:tr h="474679">
                <a:tc vMerge="1">
                  <a:txBody>
                    <a:bodyPr/>
                    <a:lstStyle/>
                    <a:p>
                      <a:endParaRPr lang="en-CN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dirty="0">
                          <a:solidFill>
                            <a:schemeClr val="bg2"/>
                          </a:solidFill>
                          <a:effectLst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dirty="0">
                          <a:solidFill>
                            <a:schemeClr val="bg2"/>
                          </a:solidFill>
                          <a:effectLst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dirty="0">
                          <a:solidFill>
                            <a:schemeClr val="bg2"/>
                          </a:solidFill>
                          <a:effectLst/>
                        </a:rPr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dirty="0">
                          <a:solidFill>
                            <a:schemeClr val="bg2"/>
                          </a:solidFill>
                          <a:effectLst/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dirty="0">
                          <a:solidFill>
                            <a:schemeClr val="bg2"/>
                          </a:solidFill>
                          <a:effectLst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dirty="0">
                          <a:solidFill>
                            <a:schemeClr val="bg2"/>
                          </a:solidFill>
                          <a:effectLst/>
                        </a:rPr>
                        <a:t>**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dirty="0">
                          <a:solidFill>
                            <a:schemeClr val="bg2"/>
                          </a:solidFill>
                          <a:effectLst/>
                        </a:rPr>
                        <a:t>//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3213"/>
                  </a:ext>
                </a:extLst>
              </a:tr>
              <a:tr h="476639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CN" sz="2200" b="1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比较运算符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等于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不等于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小于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小于等于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大于等于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CN" sz="2000" b="1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6111669"/>
                  </a:ext>
                </a:extLst>
              </a:tr>
              <a:tr h="476639">
                <a:tc vMerge="1">
                  <a:txBody>
                    <a:bodyPr/>
                    <a:lstStyle/>
                    <a:p>
                      <a:endParaRPr lang="en-CN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==</a:t>
                      </a: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！</a:t>
                      </a:r>
                      <a:r>
                        <a:rPr lang="en-US" altLang="zh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&lt;=</a:t>
                      </a: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CN" sz="2000" b="1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76082"/>
                  </a:ext>
                </a:extLst>
              </a:tr>
              <a:tr h="676100">
                <a:tc>
                  <a:txBody>
                    <a:bodyPr/>
                    <a:lstStyle/>
                    <a:p>
                      <a:pPr algn="ctr"/>
                      <a:r>
                        <a:rPr lang="en-CN" sz="2200" b="1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逻辑运算符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nd</a:t>
                      </a:r>
                      <a:r>
                        <a:rPr lang="zh-CN" alt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与</a:t>
                      </a:r>
                      <a:r>
                        <a:rPr lang="zh-CN" alt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r(或)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ot(非)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CN" sz="2000" b="1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040626"/>
                  </a:ext>
                </a:extLst>
              </a:tr>
              <a:tr h="4766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CN" sz="2200" b="1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位运算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  <a:r>
                        <a:rPr lang="zh-CN" alt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（与）</a:t>
                      </a: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｜（或）</a:t>
                      </a: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～（非）</a:t>
                      </a: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20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CN" sz="2000" b="1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36043"/>
                  </a:ext>
                </a:extLst>
              </a:tr>
            </a:tbl>
          </a:graphicData>
        </a:graphic>
      </p:graphicFrame>
      <p:sp>
        <p:nvSpPr>
          <p:cNvPr id="2" name="文本框 7">
            <a:extLst>
              <a:ext uri="{FF2B5EF4-FFF2-40B4-BE49-F238E27FC236}">
                <a16:creationId xmlns:a16="http://schemas.microsoft.com/office/drawing/2014/main" id="{E67421A5-F4D3-85F6-4790-B2725F3418B5}"/>
              </a:ext>
            </a:extLst>
          </p:cNvPr>
          <p:cNvSpPr txBox="1"/>
          <p:nvPr/>
        </p:nvSpPr>
        <p:spPr>
          <a:xfrm>
            <a:off x="412124" y="896552"/>
            <a:ext cx="11481515" cy="2078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bg2"/>
                </a:solidFill>
                <a:latin typeface="+mn-ea"/>
                <a:ea typeface="+mn-ea"/>
              </a:rPr>
              <a:t>3. </a:t>
            </a:r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变量基本运算</a:t>
            </a:r>
            <a:endParaRPr lang="en-US" altLang="zh-CN" sz="36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运算是编程语言的基本功能，通过运算程序可以执行各种操作，变量运算主要包括：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算术运算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比较运算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逻辑运算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位运算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等。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55420E-8943-4352-9AE5-5BF721103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变量命名、赋值与运算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20377756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变量命名、赋值与运算</a:t>
            </a:r>
          </a:p>
        </p:txBody>
      </p:sp>
      <p:pic>
        <p:nvPicPr>
          <p:cNvPr id="7" name="Picture 6" descr="A group of symbols on a black background&#10;&#10;AI-generated content may be incorrect.">
            <a:extLst>
              <a:ext uri="{FF2B5EF4-FFF2-40B4-BE49-F238E27FC236}">
                <a16:creationId xmlns:a16="http://schemas.microsoft.com/office/drawing/2014/main" id="{7FD567E0-DDD9-BB2A-29C4-EA9A5DEBA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540" y="4102457"/>
            <a:ext cx="4016828" cy="16067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AF043E7-806D-383D-FE81-C07896C99E2B}"/>
              </a:ext>
            </a:extLst>
          </p:cNvPr>
          <p:cNvSpPr txBox="1"/>
          <p:nvPr/>
        </p:nvSpPr>
        <p:spPr>
          <a:xfrm>
            <a:off x="290007" y="4634688"/>
            <a:ext cx="17057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3"/>
                </a:solidFill>
                <a:highlight>
                  <a:srgbClr val="FFFFFF"/>
                </a:highlight>
                <a:latin typeface="+mn-ea"/>
                <a:ea typeface="+mn-ea"/>
              </a:rPr>
              <a:t>算术运算</a:t>
            </a:r>
            <a:endParaRPr lang="en-CN" sz="2800" b="1" dirty="0">
              <a:solidFill>
                <a:schemeClr val="accent3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DE0536-8EB6-A10C-4EE4-56706277832B}"/>
              </a:ext>
            </a:extLst>
          </p:cNvPr>
          <p:cNvSpPr txBox="1"/>
          <p:nvPr/>
        </p:nvSpPr>
        <p:spPr>
          <a:xfrm>
            <a:off x="412124" y="896552"/>
            <a:ext cx="11481515" cy="2078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bg2"/>
                </a:solidFill>
                <a:latin typeface="+mn-ea"/>
                <a:ea typeface="+mn-ea"/>
              </a:rPr>
              <a:t>3. </a:t>
            </a:r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变量基本运算</a:t>
            </a:r>
            <a:endParaRPr lang="en-US" altLang="zh-CN" sz="36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运算是编程语言的基本功能，通过运算程序可以执行各种操作，变量运算主要包括：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算术运算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比较运算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逻辑运算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位运算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等。</a:t>
            </a:r>
          </a:p>
        </p:txBody>
      </p:sp>
      <p:graphicFrame>
        <p:nvGraphicFramePr>
          <p:cNvPr id="9" name="Table 1">
            <a:extLst>
              <a:ext uri="{FF2B5EF4-FFF2-40B4-BE49-F238E27FC236}">
                <a16:creationId xmlns:a16="http://schemas.microsoft.com/office/drawing/2014/main" id="{2702D41F-2DB7-C7A4-570B-4A5842D74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708794"/>
              </p:ext>
            </p:extLst>
          </p:nvPr>
        </p:nvGraphicFramePr>
        <p:xfrm>
          <a:off x="1929040" y="3077023"/>
          <a:ext cx="6045200" cy="3657600"/>
        </p:xfrm>
        <a:graphic>
          <a:graphicData uri="http://schemas.openxmlformats.org/drawingml/2006/table">
            <a:tbl>
              <a:tblPr/>
              <a:tblGrid>
                <a:gridCol w="1511300">
                  <a:extLst>
                    <a:ext uri="{9D8B030D-6E8A-4147-A177-3AD203B41FA5}">
                      <a16:colId xmlns:a16="http://schemas.microsoft.com/office/drawing/2014/main" val="1284844550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1603605262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3731756157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3702267183"/>
                    </a:ext>
                  </a:extLst>
                </a:gridCol>
              </a:tblGrid>
              <a:tr h="4495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运算符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描述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示例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结果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637771"/>
                  </a:ext>
                </a:extLst>
              </a:tr>
              <a:tr h="449595">
                <a:tc>
                  <a:txBody>
                    <a:bodyPr/>
                    <a:lstStyle/>
                    <a:p>
                      <a:pPr algn="ctr"/>
                      <a:r>
                        <a:rPr lang="en-CN" sz="2400" b="1" dirty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加法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3 + 2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976069"/>
                  </a:ext>
                </a:extLst>
              </a:tr>
              <a:tr h="449595">
                <a:tc>
                  <a:txBody>
                    <a:bodyPr/>
                    <a:lstStyle/>
                    <a:p>
                      <a:pPr algn="ctr"/>
                      <a:r>
                        <a:rPr lang="en-CN" sz="2400" b="1" dirty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减法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5 - 3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790149"/>
                  </a:ext>
                </a:extLst>
              </a:tr>
              <a:tr h="449595">
                <a:tc>
                  <a:txBody>
                    <a:bodyPr/>
                    <a:lstStyle/>
                    <a:p>
                      <a:pPr algn="ctr"/>
                      <a:r>
                        <a:rPr lang="en-CN" sz="2400" b="1" dirty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*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乘法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2 * 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108595"/>
                  </a:ext>
                </a:extLst>
              </a:tr>
              <a:tr h="449595">
                <a:tc>
                  <a:txBody>
                    <a:bodyPr/>
                    <a:lstStyle/>
                    <a:p>
                      <a:pPr algn="ctr"/>
                      <a:r>
                        <a:rPr lang="en-CN" sz="2400" b="1" dirty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除法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10 / 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3.333...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675381"/>
                  </a:ext>
                </a:extLst>
              </a:tr>
              <a:tr h="449595">
                <a:tc>
                  <a:txBody>
                    <a:bodyPr/>
                    <a:lstStyle/>
                    <a:p>
                      <a:pPr algn="ctr"/>
                      <a:r>
                        <a:rPr lang="en-CN" sz="2400" b="1" dirty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//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整除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10 // 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124482"/>
                  </a:ext>
                </a:extLst>
              </a:tr>
              <a:tr h="449595">
                <a:tc>
                  <a:txBody>
                    <a:bodyPr/>
                    <a:lstStyle/>
                    <a:p>
                      <a:pPr algn="ctr"/>
                      <a:r>
                        <a:rPr lang="en-CN" sz="2400" b="1" dirty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取模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10 % 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251116"/>
                  </a:ext>
                </a:extLst>
              </a:tr>
              <a:tr h="449595">
                <a:tc>
                  <a:txBody>
                    <a:bodyPr/>
                    <a:lstStyle/>
                    <a:p>
                      <a:pPr algn="ctr"/>
                      <a:r>
                        <a:rPr lang="en-CN" sz="2400" b="1" dirty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**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幂运算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2 ** 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 dirty="0">
                          <a:solidFill>
                            <a:schemeClr val="bg2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5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38082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ED0F6-3099-B6BC-DCD1-60F0776EA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BDAF7BC-987F-5B89-1A7B-3768858F9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变量命名、赋值与运算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69FDFF-6380-1BDB-6F1D-1D23348AA310}"/>
              </a:ext>
            </a:extLst>
          </p:cNvPr>
          <p:cNvSpPr txBox="1"/>
          <p:nvPr/>
        </p:nvSpPr>
        <p:spPr>
          <a:xfrm>
            <a:off x="290007" y="4587063"/>
            <a:ext cx="17057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3"/>
                </a:solidFill>
                <a:highlight>
                  <a:srgbClr val="FFFFFF"/>
                </a:highlight>
                <a:latin typeface="+mn-ea"/>
                <a:ea typeface="+mn-ea"/>
              </a:rPr>
              <a:t>比较运算</a:t>
            </a:r>
            <a:endParaRPr lang="en-CN" sz="2800" b="1" dirty="0">
              <a:solidFill>
                <a:schemeClr val="accent3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84BC78-07E8-62F3-AAB5-5E2B8AB81208}"/>
              </a:ext>
            </a:extLst>
          </p:cNvPr>
          <p:cNvSpPr txBox="1"/>
          <p:nvPr/>
        </p:nvSpPr>
        <p:spPr>
          <a:xfrm>
            <a:off x="412124" y="915602"/>
            <a:ext cx="11481515" cy="2078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bg2"/>
                </a:solidFill>
                <a:latin typeface="+mn-ea"/>
                <a:ea typeface="+mn-ea"/>
              </a:rPr>
              <a:t>3. </a:t>
            </a:r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变量基本运算</a:t>
            </a:r>
            <a:endParaRPr lang="en-US" altLang="zh-CN" sz="36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运算是编程语言的基本功能，通过运算程序可以执行各种操作，变量运算主要包括：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算术运算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比较运算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逻辑运算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位运算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等。</a:t>
            </a:r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F6E9ECB6-91FE-B3CA-7963-3AD862242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881937"/>
              </p:ext>
            </p:extLst>
          </p:nvPr>
        </p:nvGraphicFramePr>
        <p:xfrm>
          <a:off x="1929040" y="3040483"/>
          <a:ext cx="6045200" cy="3616380"/>
        </p:xfrm>
        <a:graphic>
          <a:graphicData uri="http://schemas.openxmlformats.org/drawingml/2006/table">
            <a:tbl>
              <a:tblPr/>
              <a:tblGrid>
                <a:gridCol w="1511300">
                  <a:extLst>
                    <a:ext uri="{9D8B030D-6E8A-4147-A177-3AD203B41FA5}">
                      <a16:colId xmlns:a16="http://schemas.microsoft.com/office/drawing/2014/main" val="3737082072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70873351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43820404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1034331548"/>
                    </a:ext>
                  </a:extLst>
                </a:gridCol>
              </a:tblGrid>
              <a:tr h="42352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chemeClr val="bg2"/>
                          </a:solidFill>
                          <a:effectLst/>
                        </a:rPr>
                        <a:t>运算符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</a:rPr>
                        <a:t>描述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chemeClr val="bg2"/>
                          </a:solidFill>
                          <a:effectLst/>
                        </a:rPr>
                        <a:t>示例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chemeClr val="bg2"/>
                          </a:solidFill>
                          <a:effectLst/>
                        </a:rPr>
                        <a:t>结果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052075"/>
                  </a:ext>
                </a:extLst>
              </a:tr>
              <a:tr h="423521">
                <a:tc>
                  <a:txBody>
                    <a:bodyPr/>
                    <a:lstStyle/>
                    <a:p>
                      <a:pPr algn="ctr"/>
                      <a:r>
                        <a:rPr lang="en-CN" sz="2400" b="1" dirty="0">
                          <a:solidFill>
                            <a:schemeClr val="accent2"/>
                          </a:solidFill>
                          <a:effectLst/>
                        </a:rPr>
                        <a:t>==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等于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>
                          <a:solidFill>
                            <a:schemeClr val="bg2"/>
                          </a:solidFill>
                          <a:effectLst/>
                        </a:rPr>
                        <a:t>5 == 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</a:rPr>
                        <a:t>True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575112"/>
                  </a:ext>
                </a:extLst>
              </a:tr>
              <a:tr h="423521">
                <a:tc>
                  <a:txBody>
                    <a:bodyPr/>
                    <a:lstStyle/>
                    <a:p>
                      <a:pPr algn="ctr"/>
                      <a:r>
                        <a:rPr lang="en-CN" sz="2400" b="1" dirty="0">
                          <a:solidFill>
                            <a:schemeClr val="accent2"/>
                          </a:solidFill>
                          <a:effectLst/>
                        </a:rPr>
                        <a:t>!=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不等于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>
                          <a:solidFill>
                            <a:schemeClr val="bg2"/>
                          </a:solidFill>
                          <a:effectLst/>
                        </a:rPr>
                        <a:t>5 != 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</a:rPr>
                        <a:t>True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668473"/>
                  </a:ext>
                </a:extLst>
              </a:tr>
              <a:tr h="423521">
                <a:tc>
                  <a:txBody>
                    <a:bodyPr/>
                    <a:lstStyle/>
                    <a:p>
                      <a:pPr algn="ctr"/>
                      <a:r>
                        <a:rPr lang="en-CN" sz="2400" b="1" dirty="0">
                          <a:solidFill>
                            <a:schemeClr val="accent2"/>
                          </a:solidFill>
                          <a:effectLst/>
                        </a:rPr>
                        <a:t>&gt;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大于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>
                          <a:solidFill>
                            <a:schemeClr val="bg2"/>
                          </a:solidFill>
                          <a:effectLst/>
                        </a:rPr>
                        <a:t>5 &gt; 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</a:rPr>
                        <a:t>True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446667"/>
                  </a:ext>
                </a:extLst>
              </a:tr>
              <a:tr h="423521">
                <a:tc>
                  <a:txBody>
                    <a:bodyPr/>
                    <a:lstStyle/>
                    <a:p>
                      <a:pPr algn="ctr"/>
                      <a:r>
                        <a:rPr lang="en-CN" sz="2400" b="1" dirty="0">
                          <a:solidFill>
                            <a:schemeClr val="accent2"/>
                          </a:solidFill>
                          <a:effectLst/>
                        </a:rPr>
                        <a:t>&lt;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小于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>
                          <a:solidFill>
                            <a:schemeClr val="bg2"/>
                          </a:solidFill>
                          <a:effectLst/>
                        </a:rPr>
                        <a:t>5 &lt; 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</a:rPr>
                        <a:t>False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648251"/>
                  </a:ext>
                </a:extLst>
              </a:tr>
              <a:tr h="665190">
                <a:tc>
                  <a:txBody>
                    <a:bodyPr/>
                    <a:lstStyle/>
                    <a:p>
                      <a:pPr algn="ctr"/>
                      <a:r>
                        <a:rPr lang="en-CN" sz="2400" b="1" dirty="0">
                          <a:solidFill>
                            <a:schemeClr val="accent2"/>
                          </a:solidFill>
                          <a:effectLst/>
                        </a:rPr>
                        <a:t>&gt;=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大于等于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>
                          <a:solidFill>
                            <a:schemeClr val="bg2"/>
                          </a:solidFill>
                          <a:effectLst/>
                        </a:rPr>
                        <a:t>5 &gt;= 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True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578532"/>
                  </a:ext>
                </a:extLst>
              </a:tr>
              <a:tr h="665190">
                <a:tc>
                  <a:txBody>
                    <a:bodyPr/>
                    <a:lstStyle/>
                    <a:p>
                      <a:pPr algn="ctr"/>
                      <a:r>
                        <a:rPr lang="en-CN" sz="2400" b="1" dirty="0">
                          <a:solidFill>
                            <a:schemeClr val="accent2"/>
                          </a:solidFill>
                          <a:effectLst/>
                        </a:rPr>
                        <a:t>&lt;=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小于等于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400">
                          <a:solidFill>
                            <a:schemeClr val="bg2"/>
                          </a:solidFill>
                          <a:effectLst/>
                        </a:rPr>
                        <a:t>5 &lt;= 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False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981563"/>
                  </a:ext>
                </a:extLst>
              </a:tr>
            </a:tbl>
          </a:graphicData>
        </a:graphic>
      </p:graphicFrame>
      <p:pic>
        <p:nvPicPr>
          <p:cNvPr id="6" name="Picture 7" descr="A group of symbols on a black background&#10;&#10;AI-generated content may be incorrect.">
            <a:extLst>
              <a:ext uri="{FF2B5EF4-FFF2-40B4-BE49-F238E27FC236}">
                <a16:creationId xmlns:a16="http://schemas.microsoft.com/office/drawing/2014/main" id="{95FCB800-49F6-2B06-BBE4-3F5E119E6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027" y="4278909"/>
            <a:ext cx="3816978" cy="152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637525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37773-E5CC-1339-074C-CA79A9AB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F4EF1E7-684D-964B-A381-A883C0767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变量命名、赋值与运算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DF7EA9-D756-3F82-04ED-917BA97519A4}"/>
              </a:ext>
            </a:extLst>
          </p:cNvPr>
          <p:cNvSpPr txBox="1"/>
          <p:nvPr/>
        </p:nvSpPr>
        <p:spPr>
          <a:xfrm>
            <a:off x="-55823" y="4552823"/>
            <a:ext cx="18788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3"/>
                </a:solidFill>
                <a:highlight>
                  <a:srgbClr val="FFFFFF"/>
                </a:highlight>
                <a:latin typeface="+mn-ea"/>
                <a:ea typeface="+mn-ea"/>
              </a:rPr>
              <a:t>逻辑运算</a:t>
            </a:r>
            <a:endParaRPr lang="en-CN" sz="2800" b="1" dirty="0">
              <a:solidFill>
                <a:schemeClr val="accent3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89071B-A380-DEDF-A3BF-1E6AE5CA6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005183"/>
              </p:ext>
            </p:extLst>
          </p:nvPr>
        </p:nvGraphicFramePr>
        <p:xfrm>
          <a:off x="1712686" y="3108842"/>
          <a:ext cx="5516789" cy="3504652"/>
        </p:xfrm>
        <a:graphic>
          <a:graphicData uri="http://schemas.openxmlformats.org/drawingml/2006/table">
            <a:tbl>
              <a:tblPr/>
              <a:tblGrid>
                <a:gridCol w="1182171">
                  <a:extLst>
                    <a:ext uri="{9D8B030D-6E8A-4147-A177-3AD203B41FA5}">
                      <a16:colId xmlns:a16="http://schemas.microsoft.com/office/drawing/2014/main" val="3950374018"/>
                    </a:ext>
                  </a:extLst>
                </a:gridCol>
                <a:gridCol w="1283860">
                  <a:extLst>
                    <a:ext uri="{9D8B030D-6E8A-4147-A177-3AD203B41FA5}">
                      <a16:colId xmlns:a16="http://schemas.microsoft.com/office/drawing/2014/main" val="2950506611"/>
                    </a:ext>
                  </a:extLst>
                </a:gridCol>
                <a:gridCol w="1671560">
                  <a:extLst>
                    <a:ext uri="{9D8B030D-6E8A-4147-A177-3AD203B41FA5}">
                      <a16:colId xmlns:a16="http://schemas.microsoft.com/office/drawing/2014/main" val="4224026267"/>
                    </a:ext>
                  </a:extLst>
                </a:gridCol>
                <a:gridCol w="1379198">
                  <a:extLst>
                    <a:ext uri="{9D8B030D-6E8A-4147-A177-3AD203B41FA5}">
                      <a16:colId xmlns:a16="http://schemas.microsoft.com/office/drawing/2014/main" val="1236266824"/>
                    </a:ext>
                  </a:extLst>
                </a:gridCol>
              </a:tblGrid>
              <a:tr h="85189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</a:rPr>
                        <a:t>运算符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</a:rPr>
                        <a:t>描述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chemeClr val="bg2"/>
                          </a:solidFill>
                          <a:effectLst/>
                        </a:rPr>
                        <a:t>示例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chemeClr val="bg2"/>
                          </a:solidFill>
                          <a:effectLst/>
                        </a:rPr>
                        <a:t>结果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206586"/>
                  </a:ext>
                </a:extLst>
              </a:tr>
              <a:tr h="923994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</a:rPr>
                        <a:t>and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逻辑与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True and False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</a:rPr>
                        <a:t>False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98812"/>
                  </a:ext>
                </a:extLst>
              </a:tr>
              <a:tr h="876876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</a:rPr>
                        <a:t>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逻辑或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</a:rPr>
                        <a:t>True or False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</a:rPr>
                        <a:t>True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586785"/>
                  </a:ext>
                </a:extLst>
              </a:tr>
              <a:tr h="85189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not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chemeClr val="bg2"/>
                          </a:solidFill>
                          <a:effectLst/>
                        </a:rPr>
                        <a:t>逻辑非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</a:rPr>
                        <a:t>not True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False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846831"/>
                  </a:ext>
                </a:extLst>
              </a:tr>
            </a:tbl>
          </a:graphicData>
        </a:graphic>
      </p:graphicFrame>
      <p:pic>
        <p:nvPicPr>
          <p:cNvPr id="7" name="Picture 6" descr="A group of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410ADC27-A8FA-2E3E-9C6A-5A42BE8F7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706" y="4229005"/>
            <a:ext cx="4106649" cy="154967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8F2F97B-9AEA-D3D6-726B-026AFFC77E41}"/>
              </a:ext>
            </a:extLst>
          </p:cNvPr>
          <p:cNvSpPr txBox="1"/>
          <p:nvPr/>
        </p:nvSpPr>
        <p:spPr>
          <a:xfrm>
            <a:off x="412124" y="915602"/>
            <a:ext cx="11481515" cy="2078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bg2"/>
                </a:solidFill>
                <a:latin typeface="+mn-ea"/>
                <a:ea typeface="+mn-ea"/>
              </a:rPr>
              <a:t>3. </a:t>
            </a:r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变量基本运算</a:t>
            </a:r>
            <a:endParaRPr lang="en-US" altLang="zh-CN" sz="36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运算是编程语言的基本功能，通过运算程序可以执行各种操作，变量运算主要包括：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算术运算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比较运算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逻辑运算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位运算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等。</a:t>
            </a:r>
          </a:p>
        </p:txBody>
      </p:sp>
    </p:spTree>
    <p:extLst>
      <p:ext uri="{BB962C8B-B14F-4D97-AF65-F5344CB8AC3E}">
        <p14:creationId xmlns:p14="http://schemas.microsoft.com/office/powerpoint/2010/main" val="2890079731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CFA5E-E628-EE26-04BB-7E57FED58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8B30701-AD4D-6823-D328-DC1047C14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1" y="8526"/>
            <a:ext cx="104865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变量命名、赋值与运算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98076-590D-2107-40A8-BB49CF7C1410}"/>
              </a:ext>
            </a:extLst>
          </p:cNvPr>
          <p:cNvSpPr txBox="1"/>
          <p:nvPr/>
        </p:nvSpPr>
        <p:spPr>
          <a:xfrm>
            <a:off x="361950" y="3285550"/>
            <a:ext cx="11325225" cy="1308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3"/>
                </a:solidFill>
                <a:highlight>
                  <a:srgbClr val="FFFFFF"/>
                </a:highlight>
                <a:latin typeface="+mn-ea"/>
                <a:ea typeface="+mn-ea"/>
              </a:rPr>
              <a:t>位运算</a:t>
            </a:r>
            <a:r>
              <a:rPr lang="zh-CN" altLang="en-US" sz="2800" b="1" dirty="0">
                <a:solidFill>
                  <a:schemeClr val="bg2"/>
                </a:solidFill>
                <a:highlight>
                  <a:srgbClr val="FFFFFF"/>
                </a:highlight>
                <a:latin typeface="+mn-ea"/>
                <a:ea typeface="+mn-ea"/>
              </a:rPr>
              <a:t>：</a:t>
            </a:r>
            <a:r>
              <a:rPr lang="zh-CN" altLang="en-US" sz="2800" dirty="0">
                <a:solidFill>
                  <a:schemeClr val="bg2"/>
                </a:solidFill>
                <a:highlight>
                  <a:srgbClr val="FFFFFF"/>
                </a:highlight>
                <a:latin typeface="+mn-ea"/>
                <a:ea typeface="+mn-ea"/>
              </a:rPr>
              <a:t>是直接对整数在内存中的二进制位进行操作。</a:t>
            </a:r>
            <a:r>
              <a:rPr lang="en-US" sz="2800" dirty="0">
                <a:solidFill>
                  <a:schemeClr val="bg2"/>
                </a:solidFill>
                <a:highlight>
                  <a:srgbClr val="FFFFFF"/>
                </a:highlight>
                <a:latin typeface="+mn-ea"/>
                <a:ea typeface="+mn-ea"/>
              </a:rPr>
              <a:t>Python</a:t>
            </a:r>
            <a:r>
              <a:rPr lang="zh-CN" altLang="en-US" sz="2800" dirty="0">
                <a:solidFill>
                  <a:schemeClr val="bg2"/>
                </a:solidFill>
                <a:highlight>
                  <a:srgbClr val="FFFFFF"/>
                </a:highlight>
                <a:latin typeface="+mn-ea"/>
                <a:ea typeface="+mn-ea"/>
              </a:rPr>
              <a:t>中的位运算符包括：</a:t>
            </a:r>
            <a:r>
              <a:rPr lang="en-US" altLang="zh-CN" sz="2800" dirty="0">
                <a:solidFill>
                  <a:schemeClr val="bg2"/>
                </a:solidFill>
                <a:highlight>
                  <a:srgbClr val="FFFFFF"/>
                </a:highlight>
                <a:latin typeface="+mn-ea"/>
                <a:ea typeface="+mn-ea"/>
              </a:rPr>
              <a:t>&amp;</a:t>
            </a:r>
            <a:r>
              <a:rPr lang="zh-CN" altLang="en-US" sz="2800" dirty="0">
                <a:solidFill>
                  <a:schemeClr val="bg2"/>
                </a:solidFill>
                <a:highlight>
                  <a:srgbClr val="FFFFFF"/>
                </a:highlight>
                <a:latin typeface="+mn-ea"/>
                <a:ea typeface="+mn-ea"/>
              </a:rPr>
              <a:t>（与）、｜（或）、～（非）等。</a:t>
            </a:r>
            <a:endParaRPr lang="en-US" sz="2800" dirty="0">
              <a:solidFill>
                <a:schemeClr val="bg2"/>
              </a:solidFill>
              <a:highlight>
                <a:srgbClr val="FFFFFF"/>
              </a:highlight>
              <a:latin typeface="+mn-ea"/>
              <a:ea typeface="+mn-ea"/>
            </a:endParaRPr>
          </a:p>
        </p:txBody>
      </p:sp>
      <p:pic>
        <p:nvPicPr>
          <p:cNvPr id="14" name="Picture 13" descr="A black background with green writing&#10;&#10;AI-generated content may be incorrect.">
            <a:extLst>
              <a:ext uri="{FF2B5EF4-FFF2-40B4-BE49-F238E27FC236}">
                <a16:creationId xmlns:a16="http://schemas.microsoft.com/office/drawing/2014/main" id="{693EC964-78C5-0417-1DDA-39FADE614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32" y="4832234"/>
            <a:ext cx="11742579" cy="162571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CEDC17E-5366-A420-5868-590D63645C62}"/>
              </a:ext>
            </a:extLst>
          </p:cNvPr>
          <p:cNvSpPr txBox="1"/>
          <p:nvPr/>
        </p:nvSpPr>
        <p:spPr>
          <a:xfrm>
            <a:off x="412124" y="915602"/>
            <a:ext cx="11481515" cy="2078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bg2"/>
                </a:solidFill>
                <a:latin typeface="+mn-ea"/>
                <a:ea typeface="+mn-ea"/>
              </a:rPr>
              <a:t>3. </a:t>
            </a:r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变量基本运算</a:t>
            </a:r>
            <a:endParaRPr lang="en-US" altLang="zh-CN" sz="36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运算是编程语言的基本功能，通过运算程序可以执行各种操作，变量运算主要包括：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算术运算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比较运算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逻辑运算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chemeClr val="bg2"/>
                </a:solidFill>
                <a:latin typeface="+mn-ea"/>
                <a:ea typeface="+mn-ea"/>
              </a:rPr>
              <a:t>位运算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等。</a:t>
            </a:r>
          </a:p>
        </p:txBody>
      </p:sp>
    </p:spTree>
    <p:extLst>
      <p:ext uri="{BB962C8B-B14F-4D97-AF65-F5344CB8AC3E}">
        <p14:creationId xmlns:p14="http://schemas.microsoft.com/office/powerpoint/2010/main" val="278932848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变量命名、赋值与运算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730294" y="1022545"/>
            <a:ext cx="10744529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实验练习及要求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D10A89-5E0E-5D73-1D4F-9E11D943B29C}"/>
              </a:ext>
            </a:extLst>
          </p:cNvPr>
          <p:cNvSpPr txBox="1"/>
          <p:nvPr/>
        </p:nvSpPr>
        <p:spPr>
          <a:xfrm>
            <a:off x="730294" y="1866676"/>
            <a:ext cx="10744529" cy="3224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变量与数据类型代码学习</a:t>
            </a:r>
            <a:endParaRPr lang="en-US" altLang="zh-CN" sz="36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根据第二章节提供代码，</a:t>
            </a:r>
            <a:r>
              <a:rPr lang="zh-CN" altLang="en-US" sz="2800" b="1" u="sng" dirty="0">
                <a:solidFill>
                  <a:srgbClr val="333333"/>
                </a:solidFill>
                <a:latin typeface="+mn-ea"/>
                <a:ea typeface="+mn-ea"/>
              </a:rPr>
              <a:t>学习变量赋值与不同数据类型基本操作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800" b="1" u="sng">
                <a:solidFill>
                  <a:srgbClr val="333333"/>
                </a:solidFill>
                <a:latin typeface="+mn-ea"/>
                <a:ea typeface="+mn-ea"/>
              </a:rPr>
              <a:t>对比不同数据类型</a:t>
            </a:r>
            <a:r>
              <a:rPr lang="zh-CN" altLang="en-US" sz="2800" b="1" u="sng" dirty="0">
                <a:solidFill>
                  <a:srgbClr val="333333"/>
                </a:solidFill>
                <a:latin typeface="+mn-ea"/>
                <a:ea typeface="+mn-ea"/>
              </a:rPr>
              <a:t>差异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07004688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2571" y="8526"/>
            <a:ext cx="1046480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变量命名、赋值与运算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A7E693-8098-76C4-CD5D-47166ABEB164}"/>
              </a:ext>
            </a:extLst>
          </p:cNvPr>
          <p:cNvSpPr txBox="1"/>
          <p:nvPr/>
        </p:nvSpPr>
        <p:spPr>
          <a:xfrm>
            <a:off x="137887" y="881630"/>
            <a:ext cx="1011556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课后思考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A98275-75F9-BBF3-2BC6-FAB8125C1A01}"/>
              </a:ext>
            </a:extLst>
          </p:cNvPr>
          <p:cNvSpPr txBox="1"/>
          <p:nvPr/>
        </p:nvSpPr>
        <p:spPr>
          <a:xfrm>
            <a:off x="395916" y="1799787"/>
            <a:ext cx="11135683" cy="172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1.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 变量名 </a:t>
            </a:r>
            <a:r>
              <a:rPr lang="en-US" sz="3200" dirty="0" err="1">
                <a:solidFill>
                  <a:schemeClr val="bg2"/>
                </a:solidFill>
                <a:latin typeface="+mn-ea"/>
                <a:ea typeface="+mn-ea"/>
              </a:rPr>
              <a:t>first_name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 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和 </a:t>
            </a:r>
            <a:r>
              <a:rPr lang="en-US" sz="3200" dirty="0" err="1">
                <a:solidFill>
                  <a:schemeClr val="bg2"/>
                </a:solidFill>
                <a:latin typeface="+mn-ea"/>
                <a:ea typeface="+mn-ea"/>
              </a:rPr>
              <a:t>firstName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 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哪个更符合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风格？</a:t>
            </a:r>
          </a:p>
          <a:p>
            <a:pPr algn="l">
              <a:lnSpc>
                <a:spcPct val="150000"/>
              </a:lnSpc>
            </a:pP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2. 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列举数据类型中的标量类型和容器类型。</a:t>
            </a:r>
            <a:endParaRPr lang="en-US" altLang="zh-CN" sz="3200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518398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3051</TotalTime>
  <Words>2111</Words>
  <Application>Microsoft Macintosh PowerPoint</Application>
  <PresentationFormat>Widescreen</PresentationFormat>
  <Paragraphs>348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Microsoft YaHei</vt:lpstr>
      <vt:lpstr>Microsoft YaHei</vt:lpstr>
      <vt:lpstr>黑体</vt:lpstr>
      <vt:lpstr>Arial</vt:lpstr>
      <vt:lpstr>Calibri</vt:lpstr>
      <vt:lpstr>Consolas</vt:lpstr>
      <vt:lpstr>Times New Roman</vt:lpstr>
      <vt:lpstr>Wingdings</vt:lpstr>
      <vt:lpstr>2_Global</vt:lpstr>
      <vt:lpstr>1_Copyright (c) 2007-2010 NordriDesign™ _light</vt:lpstr>
      <vt:lpstr>PowerPoint Presentation</vt:lpstr>
      <vt:lpstr>PowerPoint Presentation</vt:lpstr>
      <vt:lpstr>PowerPoint Presentation</vt:lpstr>
      <vt:lpstr>二、数据类型</vt:lpstr>
      <vt:lpstr>二、数据类型</vt:lpstr>
      <vt:lpstr>一、数据类型</vt:lpstr>
      <vt:lpstr>一、数据类型</vt:lpstr>
      <vt:lpstr>二、数据类型</vt:lpstr>
      <vt:lpstr>二、数据类型</vt:lpstr>
      <vt:lpstr>二、数据类型</vt:lpstr>
      <vt:lpstr>二、数据类型</vt:lpstr>
      <vt:lpstr>二、数据类型</vt:lpstr>
      <vt:lpstr>二、数据类型</vt:lpstr>
      <vt:lpstr>二、数据类型</vt:lpstr>
      <vt:lpstr>PowerPoint Presentation</vt:lpstr>
      <vt:lpstr>二、变量命名、赋值与运算</vt:lpstr>
      <vt:lpstr>二、变量命名、赋值与运算</vt:lpstr>
      <vt:lpstr>二、变量命名、赋值与运算</vt:lpstr>
      <vt:lpstr>二、变量命名、赋值与运算</vt:lpstr>
      <vt:lpstr>二、变量命名、赋值与运算</vt:lpstr>
      <vt:lpstr>二、变量命名、赋值与运算</vt:lpstr>
      <vt:lpstr>二、变量命名、赋值与运算</vt:lpstr>
      <vt:lpstr>二、变量命名、赋值与运算</vt:lpstr>
      <vt:lpstr>二、变量命名、赋值与运算</vt:lpstr>
      <vt:lpstr>二、变量命名、赋值与运算</vt:lpstr>
      <vt:lpstr>二、变量命名、赋值与运算</vt:lpstr>
      <vt:lpstr>二、变量命名、赋值与运算</vt:lpstr>
      <vt:lpstr>二、变量命名、赋值与运算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Xin Luo</cp:lastModifiedBy>
  <cp:revision>23</cp:revision>
  <dcterms:created xsi:type="dcterms:W3CDTF">2004-07-09T11:40:27Z</dcterms:created>
  <dcterms:modified xsi:type="dcterms:W3CDTF">2026-03-23T03:54:46Z</dcterms:modified>
</cp:coreProperties>
</file>