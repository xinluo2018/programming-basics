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30"/>
  </p:notesMasterIdLst>
  <p:handoutMasterIdLst>
    <p:handoutMasterId r:id="rId31"/>
  </p:handoutMasterIdLst>
  <p:sldIdLst>
    <p:sldId id="2708" r:id="rId3"/>
    <p:sldId id="2387" r:id="rId4"/>
    <p:sldId id="2447" r:id="rId5"/>
    <p:sldId id="2729" r:id="rId6"/>
    <p:sldId id="2769" r:id="rId7"/>
    <p:sldId id="2771" r:id="rId8"/>
    <p:sldId id="2772" r:id="rId9"/>
    <p:sldId id="2773" r:id="rId10"/>
    <p:sldId id="2774" r:id="rId11"/>
    <p:sldId id="2784" r:id="rId12"/>
    <p:sldId id="2785" r:id="rId13"/>
    <p:sldId id="2789" r:id="rId14"/>
    <p:sldId id="2709" r:id="rId15"/>
    <p:sldId id="2787" r:id="rId16"/>
    <p:sldId id="2767" r:id="rId17"/>
    <p:sldId id="2768" r:id="rId18"/>
    <p:sldId id="2775" r:id="rId19"/>
    <p:sldId id="2720" r:id="rId20"/>
    <p:sldId id="2778" r:id="rId21"/>
    <p:sldId id="2779" r:id="rId22"/>
    <p:sldId id="2790" r:id="rId23"/>
    <p:sldId id="2791" r:id="rId24"/>
    <p:sldId id="2792" r:id="rId25"/>
    <p:sldId id="2793" r:id="rId26"/>
    <p:sldId id="2741" r:id="rId27"/>
    <p:sldId id="2788" r:id="rId28"/>
    <p:sldId id="2742" r:id="rId29"/>
  </p:sldIdLst>
  <p:sldSz cx="12192000" cy="6858000"/>
  <p:notesSz cx="7099300" cy="10234613"/>
  <p:custDataLst>
    <p:tags r:id="rId32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B050"/>
    <a:srgbClr val="FF00DF"/>
    <a:srgbClr val="0000CC"/>
    <a:srgbClr val="C3E8CC"/>
    <a:srgbClr val="7A81FF"/>
    <a:srgbClr val="FF00FF"/>
    <a:srgbClr val="269FA0"/>
    <a:srgbClr val="FFC000"/>
    <a:srgbClr val="333399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11"/>
    <p:restoredTop sz="88288" autoAdjust="0"/>
  </p:normalViewPr>
  <p:slideViewPr>
    <p:cSldViewPr snapToGrid="0">
      <p:cViewPr>
        <p:scale>
          <a:sx n="75" d="100"/>
          <a:sy n="75" d="100"/>
        </p:scale>
        <p:origin x="252" y="99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40" d="100"/>
        <a:sy n="14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B16E866-FFF1-585A-8670-68209B92BFC1}"/>
    <pc:docChg chg="modSld">
      <pc:chgData name="Xin Luo" userId="82312ee5779919a4" providerId="LiveId" clId="{4B16E866-FFF1-585A-8670-68209B92BFC1}" dt="2026-08-27T06:20:42.853" v="159" actId="20577"/>
      <pc:docMkLst>
        <pc:docMk/>
      </pc:docMkLst>
      <pc:sldChg chg="modSp mod">
        <pc:chgData name="Xin Luo" userId="82312ee5779919a4" providerId="LiveId" clId="{4B16E866-FFF1-585A-8670-68209B92BFC1}" dt="2026-08-27T06:20:42.853" v="159" actId="20577"/>
        <pc:sldMkLst>
          <pc:docMk/>
          <pc:sldMk cId="940880124" sldId="2742"/>
        </pc:sldMkLst>
        <pc:spChg chg="mod">
          <ac:chgData name="Xin Luo" userId="82312ee5779919a4" providerId="LiveId" clId="{4B16E866-FFF1-585A-8670-68209B92BFC1}" dt="2026-08-27T06:20:42.853" v="159" actId="20577"/>
          <ac:spMkLst>
            <pc:docMk/>
            <pc:sldMk cId="940880124" sldId="2742"/>
            <ac:spMk id="4" creationId="{F17BA0C2-A265-EE38-7F87-B0E3E08CDBEB}"/>
          </ac:spMkLst>
        </pc:spChg>
        <pc:spChg chg="mod">
          <ac:chgData name="Xin Luo" userId="82312ee5779919a4" providerId="LiveId" clId="{4B16E866-FFF1-585A-8670-68209B92BFC1}" dt="2026-08-27T06:19:00.765" v="104" actId="20577"/>
          <ac:spMkLst>
            <pc:docMk/>
            <pc:sldMk cId="940880124" sldId="2742"/>
            <ac:spMk id="13" creationId="{303BC878-BC57-D350-27A3-F03AE48213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函数提高程序可读性，文章段落类比。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5234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777E4-9677-9C6A-DEA2-C842B6F9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EAB7CD-F4B8-7010-7355-03B68BA35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59F745-73B4-D85D-35B6-C56F6C215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函数也可以没有返回值与参数。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函数提高程序可读性，文章段落类比。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166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79B7-AA6B-B3A4-B1BB-3106C875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018E3C-78EB-5715-8952-104D1F9A1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D3FDEB-5B20-2E23-0BA0-0CBA79EE5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512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4C3F-C5F3-376D-0F0F-BDE3C28F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639994-5536-2EB5-A169-9BB488A5E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E137D7-0561-2996-0397-6D1C6D3E3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832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D390-849D-CDDA-7553-BD5D34A4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3778F4-D56B-8637-85AD-F9962869D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CDAE5E-C9EB-18ED-89A8-B807217FE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435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07DB-D99B-1D48-7106-EA3CC41B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CC89CF-96A5-4666-56EF-815CD2DCA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B3372F-FF67-742E-F6E1-638D4510E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7578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6505-7061-46DA-41BC-E001DF00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9664E1-4B13-1A47-ADFB-8870BF00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79B938-84C3-A2A6-FCAC-1C2B1506A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7046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1E2E-D236-0F84-7704-E2DB43DC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61A98B-E45F-1EF2-4B4B-C2398F241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B1264B-1121-CAC5-D61F-0E18986AD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89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BC85-094F-83CB-3179-CAA1B02B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A7B485-B1CD-D406-4DF2-C6A6B77E4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3BB245-17A4-FF81-2343-E70A174B9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2595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55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E18C-5440-8F88-91D0-EE686E9E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2EF0D3-2517-48CE-1289-210D30737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1A99FA-8CF9-C866-E01B-0C8542F7A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734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9768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package0</a:t>
            </a:r>
            <a:r>
              <a:rPr lang="zh-CN" altLang="en-US" dirty="0"/>
              <a:t>中加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__.</a:t>
            </a:r>
            <a:r>
              <a:rPr lang="en-US" altLang="zh-CN" dirty="0" err="1"/>
              <a:t>py</a:t>
            </a:r>
            <a:r>
              <a:rPr lang="zh-CN" altLang="en-US" dirty="0"/>
              <a:t>不讲，感兴趣自行学习。</a:t>
            </a:r>
          </a:p>
        </p:txBody>
      </p:sp>
    </p:spTree>
    <p:extLst>
      <p:ext uri="{BB962C8B-B14F-4D97-AF65-F5344CB8AC3E}">
        <p14:creationId xmlns:p14="http://schemas.microsoft.com/office/powerpoint/2010/main" val="3483827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4B01-E098-DB32-574A-4A5B592F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E7EDAB-980F-67B4-62EB-C6586D906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F1717B-7FBF-E3FF-2E60-2BDD2D9FA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2539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70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6917-8DBE-626B-3823-D49C7407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3866F9-6CFF-63A4-850C-AF47AE8F0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498654-4561-8F5B-F275-62948034C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4420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8538F-A32C-5859-F928-F70921E0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04B06F-9C28-98BF-68BF-C5389818A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96564E-1866-5211-32B5-9D829922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4582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3E48-4FE0-323B-BF49-2B871D74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BA8899-142E-EBDA-E290-C15A22142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515F90-0CD1-583B-8200-9994A5457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6435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85EE1-20A6-B84A-DE8A-6446A68E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7012A0-04FC-DEAB-A63B-228D473B8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542019-AA03-CC0E-20B0-1C4A732B4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9989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F107C-4B73-F527-120D-1B731AC8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A43166-1C72-47E2-1576-F25D6BA31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237B0D-A842-0522-1B19-2ECC0A264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44019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46C0E-44D4-112E-2669-727D7173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CEB13E-6FC9-2E95-1A6C-6C33ED028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E16379-D646-7BDF-7AA6-67BC85A15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75323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6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174D8-6A28-C8E3-1C21-02AFB080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897E9F-012B-C372-40C0-176255E5E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EB4E98-EF28-6EE4-04E1-2BD7E0634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93637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0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第四章 函数与模块化编程</a:t>
            </a:r>
            <a:endParaRPr lang="zh-CN" altLang="zh-CN" sz="48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512862" y="243144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1800" b="1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四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6495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1941801" y="4583174"/>
            <a:ext cx="6916338" cy="772176"/>
            <a:chOff x="2121802" y="2115450"/>
            <a:chExt cx="5430801" cy="576000"/>
          </a:xfrm>
        </p:grpSpPr>
        <p:sp>
          <p:nvSpPr>
            <p:cNvPr id="10" name="椭圆 9"/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三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697802" y="2173517"/>
              <a:ext cx="4854801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标准库以及第三方库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41802" y="3327048"/>
            <a:ext cx="6403721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60440"/>
              <a:ext cx="5062803" cy="46912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模块与</a:t>
              </a:r>
              <a:r>
                <a:rPr lang="zh-CN" altLang="en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包</a:t>
              </a:r>
              <a:endParaRPr lang="en-US" altLang="zh-CN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696373" y="260648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41802" y="2040781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73516"/>
              <a:ext cx="4645533" cy="4362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函数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2"/>
            <a:ext cx="102119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函数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96592" y="846749"/>
            <a:ext cx="59994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函数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为什么要有函数？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05599-F767-1D4A-7A1E-F5482318851B}"/>
              </a:ext>
            </a:extLst>
          </p:cNvPr>
          <p:cNvSpPr txBox="1"/>
          <p:nvPr/>
        </p:nvSpPr>
        <p:spPr>
          <a:xfrm>
            <a:off x="167425" y="2393799"/>
            <a:ext cx="6326681" cy="3032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代码复用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zh-CN" altLang="en-US" sz="2800" u="sng" dirty="0">
                <a:solidFill>
                  <a:schemeClr val="bg2"/>
                </a:solidFill>
                <a:latin typeface="+mn-ea"/>
                <a:ea typeface="+mn-ea"/>
              </a:rPr>
              <a:t>避免重复代码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（对比有无函数的代码量）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逻辑封装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：隐藏实现细节，提升可读性</a:t>
            </a:r>
          </a:p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模块化设计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：分治思想解决复杂问题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E18CFE-79D6-6452-B9AD-80E68D47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26" y="1268794"/>
            <a:ext cx="5076380" cy="507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5048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BCA41-C79F-D50F-5BDF-59F372C1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0054C84-A7DB-95A0-368B-8468B05E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7F650C-D6A5-2A28-2193-4BDEAA5F1FAE}"/>
              </a:ext>
            </a:extLst>
          </p:cNvPr>
          <p:cNvSpPr txBox="1"/>
          <p:nvPr/>
        </p:nvSpPr>
        <p:spPr>
          <a:xfrm>
            <a:off x="328412" y="1679426"/>
            <a:ext cx="6265572" cy="369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函数是组织好的，可重复使用的，用来实现单一，或相关联功能的代码块。函数包括声明</a:t>
            </a:r>
            <a:r>
              <a:rPr lang="zh-CN" altLang="en-US" sz="3200" b="1" u="sng" dirty="0">
                <a:solidFill>
                  <a:srgbClr val="FF0000"/>
                </a:solidFill>
                <a:latin typeface="+mn-ea"/>
                <a:ea typeface="+mn-ea"/>
              </a:rPr>
              <a:t>关键字、函数名、函数体、返回值、参数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五部分。</a:t>
            </a:r>
            <a:endParaRPr lang="en-US" altLang="zh-CN" sz="3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7EA321-7060-7FBC-0110-A92F708D84F4}"/>
              </a:ext>
            </a:extLst>
          </p:cNvPr>
          <p:cNvSpPr txBox="1"/>
          <p:nvPr/>
        </p:nvSpPr>
        <p:spPr>
          <a:xfrm>
            <a:off x="1144193" y="5622394"/>
            <a:ext cx="9903614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作用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：函数能提高我们程序的模块性与代码的重复利用率。</a:t>
            </a:r>
          </a:p>
        </p:txBody>
      </p:sp>
      <p:pic>
        <p:nvPicPr>
          <p:cNvPr id="6" name="Picture 5" descr="A black background with white and green writing&#10;&#10;AI-generated content may be incorrect.">
            <a:extLst>
              <a:ext uri="{FF2B5EF4-FFF2-40B4-BE49-F238E27FC236}">
                <a16:creationId xmlns:a16="http://schemas.microsoft.com/office/drawing/2014/main" id="{DCF3723A-4CCC-F4E4-4E30-039450E8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522" y="2199824"/>
            <a:ext cx="5162066" cy="27971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BA420E-12F9-A29E-14CB-E950F779FCD8}"/>
              </a:ext>
            </a:extLst>
          </p:cNvPr>
          <p:cNvSpPr txBox="1"/>
          <p:nvPr/>
        </p:nvSpPr>
        <p:spPr>
          <a:xfrm>
            <a:off x="328412" y="854007"/>
            <a:ext cx="6150428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函数概念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73405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9966-F7ED-7573-90EF-6727525E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D528DEB-0FCF-9476-B7A2-CC8A243F95C6}"/>
              </a:ext>
            </a:extLst>
          </p:cNvPr>
          <p:cNvSpPr/>
          <p:nvPr/>
        </p:nvSpPr>
        <p:spPr>
          <a:xfrm>
            <a:off x="482210" y="4818742"/>
            <a:ext cx="11445600" cy="1952172"/>
          </a:xfrm>
          <a:prstGeom prst="rect">
            <a:avLst/>
          </a:prstGeom>
          <a:solidFill>
            <a:schemeClr val="tx1"/>
          </a:solidFill>
          <a:ln w="38100">
            <a:solidFill>
              <a:srgbClr val="0000CC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7EB2F9-C23A-907E-D597-2E60696D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13B40-C84C-2F60-4479-4A9B587DE96A}"/>
              </a:ext>
            </a:extLst>
          </p:cNvPr>
          <p:cNvSpPr txBox="1"/>
          <p:nvPr/>
        </p:nvSpPr>
        <p:spPr>
          <a:xfrm>
            <a:off x="264018" y="933832"/>
            <a:ext cx="354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函数参数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232443-C70F-2CA6-EEAE-FE6DF71B4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707460"/>
              </p:ext>
            </p:extLst>
          </p:nvPr>
        </p:nvGraphicFramePr>
        <p:xfrm>
          <a:off x="3023239" y="1584293"/>
          <a:ext cx="8904571" cy="3141026"/>
        </p:xfrm>
        <a:graphic>
          <a:graphicData uri="http://schemas.openxmlformats.org/drawingml/2006/table">
            <a:tbl>
              <a:tblPr/>
              <a:tblGrid>
                <a:gridCol w="1756083">
                  <a:extLst>
                    <a:ext uri="{9D8B030D-6E8A-4147-A177-3AD203B41FA5}">
                      <a16:colId xmlns:a16="http://schemas.microsoft.com/office/drawing/2014/main" val="3675882594"/>
                    </a:ext>
                  </a:extLst>
                </a:gridCol>
                <a:gridCol w="3715313">
                  <a:extLst>
                    <a:ext uri="{9D8B030D-6E8A-4147-A177-3AD203B41FA5}">
                      <a16:colId xmlns:a16="http://schemas.microsoft.com/office/drawing/2014/main" val="3818600901"/>
                    </a:ext>
                  </a:extLst>
                </a:gridCol>
                <a:gridCol w="3433175">
                  <a:extLst>
                    <a:ext uri="{9D8B030D-6E8A-4147-A177-3AD203B41FA5}">
                      <a16:colId xmlns:a16="http://schemas.microsoft.com/office/drawing/2014/main" val="1558079673"/>
                    </a:ext>
                  </a:extLst>
                </a:gridCol>
              </a:tblGrid>
              <a:tr h="5991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>
                          <a:solidFill>
                            <a:schemeClr val="bg2"/>
                          </a:solidFill>
                          <a:effectLst/>
                        </a:rPr>
                        <a:t>语法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b="1" dirty="0">
                          <a:solidFill>
                            <a:schemeClr val="bg2"/>
                          </a:solidFill>
                          <a:effectLst/>
                        </a:rPr>
                        <a:t>示例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80310"/>
                  </a:ext>
                </a:extLst>
              </a:tr>
              <a:tr h="7673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位置参数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(a, b, </a:t>
                      </a:r>
                      <a:r>
                        <a:rPr lang="en-US" sz="2400" b="1" dirty="0">
                          <a:solidFill>
                            <a:schemeClr val="accent2"/>
                          </a:solidFill>
                          <a:effectLst/>
                        </a:rPr>
                        <a:t>/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subs(3, 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565303"/>
                  </a:ext>
                </a:extLst>
              </a:tr>
              <a:tr h="766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关键字参数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(a, b) / </a:t>
                      </a:r>
                      <a:r>
                        <a:rPr lang="en-US" altLang="zh-CN" sz="2400" dirty="0" err="1">
                          <a:solidFill>
                            <a:schemeClr val="bg2"/>
                          </a:solidFill>
                          <a:effectLst/>
                        </a:rPr>
                        <a:t>func</a:t>
                      </a:r>
                      <a:r>
                        <a:rPr lang="en-US" altLang="zh-CN" sz="2400" dirty="0">
                          <a:solidFill>
                            <a:schemeClr val="bg2"/>
                          </a:solidFill>
                          <a:effectLst/>
                        </a:rPr>
                        <a:t>(a=3, b=5)</a:t>
                      </a:r>
                      <a:endParaRPr lang="en-US" sz="24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subs(b=5, a=3)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22408"/>
                  </a:ext>
                </a:extLst>
              </a:tr>
              <a:tr h="10078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可变参数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*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args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位置参数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 / **</a:t>
                      </a:r>
                      <a:r>
                        <a:rPr lang="en-US" sz="2400" dirty="0" err="1">
                          <a:solidFill>
                            <a:schemeClr val="bg2"/>
                          </a:solidFill>
                          <a:effectLst/>
                        </a:rPr>
                        <a:t>kwargs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(</a:t>
                      </a:r>
                      <a:r>
                        <a:rPr lang="zh-CN" altLang="en-US" sz="2400" dirty="0">
                          <a:solidFill>
                            <a:schemeClr val="bg2"/>
                          </a:solidFill>
                          <a:effectLst/>
                        </a:rPr>
                        <a:t>关键字参数</a:t>
                      </a: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solidFill>
                            <a:schemeClr val="bg2"/>
                          </a:solidFill>
                          <a:effectLst/>
                        </a:rPr>
                        <a:t>sum(*numbers)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7735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88DE62E-DE01-15B7-8441-DA6ADE444AF2}"/>
              </a:ext>
            </a:extLst>
          </p:cNvPr>
          <p:cNvSpPr txBox="1"/>
          <p:nvPr/>
        </p:nvSpPr>
        <p:spPr>
          <a:xfrm>
            <a:off x="482210" y="2008608"/>
            <a:ext cx="1706449" cy="9837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参数传递机制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C4DA50D-4C81-B299-C95D-050983ED566E}"/>
              </a:ext>
            </a:extLst>
          </p:cNvPr>
          <p:cNvSpPr/>
          <p:nvPr/>
        </p:nvSpPr>
        <p:spPr>
          <a:xfrm>
            <a:off x="2294527" y="2212314"/>
            <a:ext cx="622844" cy="576330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B77980-A6A3-2B7D-0DD7-01B9336AD27A}"/>
              </a:ext>
            </a:extLst>
          </p:cNvPr>
          <p:cNvSpPr txBox="1"/>
          <p:nvPr/>
        </p:nvSpPr>
        <p:spPr>
          <a:xfrm>
            <a:off x="482210" y="3567777"/>
            <a:ext cx="1760247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示例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4CCEDF6-DBFA-D0EA-CB24-B16A74D2300C}"/>
              </a:ext>
            </a:extLst>
          </p:cNvPr>
          <p:cNvSpPr/>
          <p:nvPr/>
        </p:nvSpPr>
        <p:spPr>
          <a:xfrm rot="5400000">
            <a:off x="1056941" y="4186398"/>
            <a:ext cx="556985" cy="576330"/>
          </a:xfrm>
          <a:prstGeom prst="rightArrow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131BBFB-3E68-2DD4-7C59-67D607843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26" y="4912164"/>
            <a:ext cx="2978147" cy="17653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071D53-1A24-D887-4CDD-EBBF8B4685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43"/>
          <a:stretch>
            <a:fillRect/>
          </a:stretch>
        </p:blipFill>
        <p:spPr>
          <a:xfrm>
            <a:off x="607957" y="4912711"/>
            <a:ext cx="3873223" cy="176532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D204602-67AB-202C-A448-C992B4251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06" y="4946886"/>
            <a:ext cx="4059670" cy="174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7407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C2770-CE6B-F4B4-9D85-ADFDE108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297984B-D4B1-BEE2-FA9A-5C3A65B7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8329C-6B09-8210-DCDA-259B2AEEE7E0}"/>
              </a:ext>
            </a:extLst>
          </p:cNvPr>
          <p:cNvSpPr txBox="1"/>
          <p:nvPr/>
        </p:nvSpPr>
        <p:spPr>
          <a:xfrm>
            <a:off x="515257" y="1094418"/>
            <a:ext cx="7380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函数返回值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3F480-B000-E3AE-A0E6-A842326BE159}"/>
              </a:ext>
            </a:extLst>
          </p:cNvPr>
          <p:cNvSpPr txBox="1"/>
          <p:nvPr/>
        </p:nvSpPr>
        <p:spPr>
          <a:xfrm>
            <a:off x="515257" y="1903247"/>
            <a:ext cx="74282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单返回值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return result</a:t>
            </a: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多返回值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：返回元组，自动解包</a:t>
            </a:r>
          </a:p>
        </p:txBody>
      </p:sp>
      <p:pic>
        <p:nvPicPr>
          <p:cNvPr id="10" name="Picture 9" descr="A black background with white text and numbers&#10;&#10;AI-generated content may be incorrect.">
            <a:extLst>
              <a:ext uri="{FF2B5EF4-FFF2-40B4-BE49-F238E27FC236}">
                <a16:creationId xmlns:a16="http://schemas.microsoft.com/office/drawing/2014/main" id="{9EE211B1-E2D1-536C-EBDE-F1BD66BCB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02" y="3429000"/>
            <a:ext cx="11362995" cy="275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8621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C903E-7671-17FA-9F15-C03F7BDE1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C5526F9-E76C-9D68-3BF6-42099A20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6F831-395E-A588-0658-D31DD7974716}"/>
              </a:ext>
            </a:extLst>
          </p:cNvPr>
          <p:cNvSpPr txBox="1"/>
          <p:nvPr/>
        </p:nvSpPr>
        <p:spPr>
          <a:xfrm>
            <a:off x="463393" y="1024795"/>
            <a:ext cx="802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匿名函数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A9660-8245-9219-CA05-0260E20BC25A}"/>
              </a:ext>
            </a:extLst>
          </p:cNvPr>
          <p:cNvSpPr txBox="1"/>
          <p:nvPr/>
        </p:nvSpPr>
        <p:spPr>
          <a:xfrm>
            <a:off x="463393" y="1855449"/>
            <a:ext cx="95732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语法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lambda 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参数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表达式</a:t>
            </a:r>
          </a:p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适用场景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：简单逻辑、高阶函数参数</a:t>
            </a:r>
          </a:p>
        </p:txBody>
      </p:sp>
      <p:pic>
        <p:nvPicPr>
          <p:cNvPr id="5" name="Picture 4" descr="A black background with green and white text&#10;&#10;AI-generated content may be incorrect.">
            <a:extLst>
              <a:ext uri="{FF2B5EF4-FFF2-40B4-BE49-F238E27FC236}">
                <a16:creationId xmlns:a16="http://schemas.microsoft.com/office/drawing/2014/main" id="{22C37E78-90FB-E7C1-723C-6FEAC9AE2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52" y="3290757"/>
            <a:ext cx="10000634" cy="31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184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A592-614A-C0AD-7841-91D0CD44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43C74BE-B879-97AF-F00C-0DB0718E9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578" y="4278930"/>
            <a:ext cx="7196782" cy="2480878"/>
          </a:xfrm>
          <a:prstGeom prst="rect">
            <a:avLst/>
          </a:prstGeom>
          <a:ln w="19050">
            <a:solidFill>
              <a:schemeClr val="bg2"/>
            </a:solidFill>
          </a:ln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58E7B7A-0ADF-9CF8-5B9C-00EB26E2F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12191999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BDA0A-CB6D-C7AF-C978-8BF4C2F3B344}"/>
              </a:ext>
            </a:extLst>
          </p:cNvPr>
          <p:cNvSpPr txBox="1"/>
          <p:nvPr/>
        </p:nvSpPr>
        <p:spPr>
          <a:xfrm>
            <a:off x="369052" y="967638"/>
            <a:ext cx="8020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递归函数：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调用自身函数的方法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9ECC1-FD08-5BCA-D032-F62CB02D7C14}"/>
              </a:ext>
            </a:extLst>
          </p:cNvPr>
          <p:cNvSpPr txBox="1"/>
          <p:nvPr/>
        </p:nvSpPr>
        <p:spPr>
          <a:xfrm>
            <a:off x="369053" y="1833285"/>
            <a:ext cx="704567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递归函数主要包含两部分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基线条件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：递归终止的条件；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递归条件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：函数调用自身的条件。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3E551BF-445A-D584-949B-C493CA6D96D7}"/>
              </a:ext>
            </a:extLst>
          </p:cNvPr>
          <p:cNvGrpSpPr/>
          <p:nvPr/>
        </p:nvGrpSpPr>
        <p:grpSpPr>
          <a:xfrm>
            <a:off x="5457372" y="4925738"/>
            <a:ext cx="4213537" cy="1236638"/>
            <a:chOff x="5457372" y="5011656"/>
            <a:chExt cx="4213537" cy="12366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8DB233-A4B3-AE96-02A1-7398870AF2BF}"/>
                </a:ext>
              </a:extLst>
            </p:cNvPr>
            <p:cNvSpPr/>
            <p:nvPr/>
          </p:nvSpPr>
          <p:spPr>
            <a:xfrm>
              <a:off x="5457372" y="5039270"/>
              <a:ext cx="2155372" cy="461664"/>
            </a:xfrm>
            <a:prstGeom prst="rect">
              <a:avLst/>
            </a:prstGeom>
            <a:noFill/>
            <a:ln w="38100">
              <a:solidFill>
                <a:srgbClr val="FF00DF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200A41-1CA0-AF5C-77E7-C987B042295D}"/>
                </a:ext>
              </a:extLst>
            </p:cNvPr>
            <p:cNvSpPr txBox="1"/>
            <p:nvPr/>
          </p:nvSpPr>
          <p:spPr>
            <a:xfrm>
              <a:off x="8008006" y="5011656"/>
              <a:ext cx="16629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N" dirty="0">
                  <a:solidFill>
                    <a:srgbClr val="FF00DF"/>
                  </a:solidFill>
                  <a:latin typeface="+mj-ea"/>
                  <a:ea typeface="+mj-ea"/>
                </a:rPr>
                <a:t>基线条件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D492B7-FE46-F4F0-804E-338BD5233C5E}"/>
                </a:ext>
              </a:extLst>
            </p:cNvPr>
            <p:cNvSpPr txBox="1"/>
            <p:nvPr/>
          </p:nvSpPr>
          <p:spPr>
            <a:xfrm>
              <a:off x="7104156" y="5786629"/>
              <a:ext cx="17568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CN" dirty="0">
                  <a:solidFill>
                    <a:srgbClr val="00B050"/>
                  </a:solidFill>
                  <a:latin typeface="+mj-ea"/>
                  <a:ea typeface="+mj-ea"/>
                </a:rPr>
                <a:t>递归条件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E8CC5E-3AF7-5F91-A9AD-BE35862F1672}"/>
                </a:ext>
              </a:extLst>
            </p:cNvPr>
            <p:cNvSpPr/>
            <p:nvPr/>
          </p:nvSpPr>
          <p:spPr>
            <a:xfrm>
              <a:off x="5457894" y="5757601"/>
              <a:ext cx="1436915" cy="4777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en-CN" b="1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67C743E6-15AF-4BE7-B76F-142392CC441C}"/>
              </a:ext>
            </a:extLst>
          </p:cNvPr>
          <p:cNvSpPr txBox="1"/>
          <p:nvPr/>
        </p:nvSpPr>
        <p:spPr>
          <a:xfrm>
            <a:off x="389629" y="4376212"/>
            <a:ext cx="3506249" cy="2123658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斐波那契数列：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F(0) = 0</a:t>
            </a: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F(1) = 1</a:t>
            </a:r>
          </a:p>
          <a:p>
            <a:pPr algn="l"/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F(n) = F(n-1) + F(n-2)</a:t>
            </a:r>
            <a:endParaRPr lang="zh-CN" alt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380F129-0556-78F3-66AD-B40B8C9F9040}"/>
              </a:ext>
            </a:extLst>
          </p:cNvPr>
          <p:cNvSpPr/>
          <p:nvPr/>
        </p:nvSpPr>
        <p:spPr>
          <a:xfrm>
            <a:off x="4013199" y="5140339"/>
            <a:ext cx="926379" cy="595405"/>
          </a:xfrm>
          <a:prstGeom prst="rightArrow">
            <a:avLst/>
          </a:prstGeom>
          <a:noFill/>
          <a:ln w="28575">
            <a:solidFill>
              <a:srgbClr val="FF00DF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483066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38CF-5453-C971-C110-4D74AC60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8C3C4E0-E845-62E0-EDE3-DB4CB7CD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一、</a:t>
            </a:r>
            <a:r>
              <a:rPr lang="en-US" altLang="zh-CN" sz="4000" dirty="0">
                <a:latin typeface="+mn-ea"/>
              </a:rPr>
              <a:t>Python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5386D-7324-4F34-CC8B-0F504A25F80A}"/>
              </a:ext>
            </a:extLst>
          </p:cNvPr>
          <p:cNvSpPr txBox="1"/>
          <p:nvPr/>
        </p:nvSpPr>
        <p:spPr>
          <a:xfrm>
            <a:off x="202291" y="938418"/>
            <a:ext cx="6381450" cy="4518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4000" b="1" dirty="0">
                <a:solidFill>
                  <a:schemeClr val="accent2"/>
                </a:solidFill>
                <a:latin typeface="+mn-ea"/>
                <a:ea typeface="+mn-ea"/>
              </a:rPr>
              <a:t>函数的装饰器语法</a:t>
            </a:r>
            <a:endParaRPr lang="en-US" altLang="zh-CN" sz="40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装饰器是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修改或扩展函数功能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的一种方式，通常用于增强代码的可读性和复用性、日志记录、权限控制等任务。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24CCAD-3AAE-B85A-CE24-100219306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55" y="990580"/>
            <a:ext cx="5429290" cy="5524540"/>
          </a:xfrm>
          <a:prstGeom prst="rect">
            <a:avLst/>
          </a:prstGeom>
          <a:ln w="19050"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14136658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B4E3-FC76-3BD7-FB86-4E588AF0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BFABF4-A7E4-19A0-E8ED-C8194424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20C777-DB56-581F-2E86-B3DA95296857}"/>
              </a:ext>
            </a:extLst>
          </p:cNvPr>
          <p:cNvSpPr txBox="1"/>
          <p:nvPr/>
        </p:nvSpPr>
        <p:spPr>
          <a:xfrm>
            <a:off x="283029" y="1000472"/>
            <a:ext cx="5588000" cy="495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特殊类型函数：生成器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当需要处理大量列表元素，</a:t>
            </a:r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为了节省内存占用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，我们不会将所有元素进行一次性生成，而是通过算法在需要使用时才生成特定元素。这种</a:t>
            </a:r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边循环边计算的机制，称为生成器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sz="3000" dirty="0">
                <a:solidFill>
                  <a:schemeClr val="bg2"/>
                </a:solidFill>
                <a:latin typeface="+mn-ea"/>
                <a:ea typeface="+mn-ea"/>
              </a:rPr>
              <a:t>generator）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CN" sz="3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DD77E1-C5F6-F01F-B127-E4F9C1C751E4}"/>
              </a:ext>
            </a:extLst>
          </p:cNvPr>
          <p:cNvSpPr txBox="1"/>
          <p:nvPr/>
        </p:nvSpPr>
        <p:spPr>
          <a:xfrm>
            <a:off x="5871029" y="5740399"/>
            <a:ext cx="6103256" cy="104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404040"/>
                </a:solidFill>
                <a:latin typeface="+mn-ea"/>
                <a:ea typeface="+mn-ea"/>
              </a:rPr>
              <a:t>生成器通常由两种方式生成，用小括号</a:t>
            </a:r>
            <a:r>
              <a:rPr lang="en-US" altLang="zh-CN" sz="2200" dirty="0">
                <a:solidFill>
                  <a:srgbClr val="404040"/>
                </a:solidFill>
                <a:latin typeface="+mn-ea"/>
                <a:ea typeface="+mn-ea"/>
              </a:rPr>
              <a:t>()</a:t>
            </a:r>
            <a:r>
              <a:rPr lang="zh-CN" altLang="en-US" sz="2200" dirty="0">
                <a:solidFill>
                  <a:srgbClr val="404040"/>
                </a:solidFill>
                <a:latin typeface="+mn-ea"/>
                <a:ea typeface="+mn-ea"/>
              </a:rPr>
              <a:t>表示的生成器表达式和生成器关键字</a:t>
            </a:r>
            <a:r>
              <a:rPr lang="en-US" altLang="zh-CN" sz="2200" dirty="0">
                <a:solidFill>
                  <a:srgbClr val="404040"/>
                </a:solidFill>
                <a:latin typeface="+mn-ea"/>
                <a:ea typeface="+mn-ea"/>
              </a:rPr>
              <a:t>yield</a:t>
            </a:r>
            <a:r>
              <a:rPr lang="en-US" sz="2200" dirty="0">
                <a:solidFill>
                  <a:srgbClr val="404040"/>
                </a:solidFill>
                <a:latin typeface="+mn-ea"/>
                <a:ea typeface="+mn-ea"/>
              </a:rPr>
              <a:t>。</a:t>
            </a:r>
            <a:endParaRPr lang="en-CN" sz="2200" dirty="0">
              <a:latin typeface="+mn-ea"/>
              <a:ea typeface="+mn-ea"/>
            </a:endParaRPr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AFB11A3-C433-2E9A-0AED-67F76F99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86" y="1344956"/>
            <a:ext cx="5479143" cy="426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6390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C16E-EDB4-E193-2C7D-5F81CE5C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3F6E130-41A8-D5C5-30C0-18A02127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FC523-CC19-B56A-03E8-4B1295A5B44F}"/>
              </a:ext>
            </a:extLst>
          </p:cNvPr>
          <p:cNvSpPr txBox="1"/>
          <p:nvPr/>
        </p:nvSpPr>
        <p:spPr>
          <a:xfrm>
            <a:off x="438671" y="1215683"/>
            <a:ext cx="5355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内置函数</a:t>
            </a:r>
            <a:endParaRPr lang="en-US" altLang="zh-CN" sz="36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767467-845C-C150-F7FD-964D2DBA8DF2}"/>
              </a:ext>
            </a:extLst>
          </p:cNvPr>
          <p:cNvSpPr txBox="1"/>
          <p:nvPr/>
        </p:nvSpPr>
        <p:spPr>
          <a:xfrm>
            <a:off x="928179" y="2277009"/>
            <a:ext cx="10850163" cy="336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print(),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  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Input(),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range(),         type()</a:t>
            </a:r>
            <a:r>
              <a:rPr lang="zh-CN" altLang="en-US" sz="4000" b="1" dirty="0">
                <a:solidFill>
                  <a:schemeClr val="bg1"/>
                </a:solidFill>
                <a:latin typeface="+mn-ea"/>
                <a:ea typeface="+mn-ea"/>
              </a:rPr>
              <a:t>， </a:t>
            </a:r>
            <a:endParaRPr lang="en-US" altLang="zh-CN" sz="4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float(),   int(),       enumerate(), list(), </a:t>
            </a:r>
          </a:p>
          <a:p>
            <a:pPr algn="just">
              <a:lnSpc>
                <a:spcPct val="150000"/>
              </a:lnSpc>
            </a:pPr>
            <a:r>
              <a:rPr lang="en-US" altLang="zh-CN" sz="4000" b="1" dirty="0" err="1">
                <a:solidFill>
                  <a:schemeClr val="bg1"/>
                </a:solidFill>
                <a:latin typeface="+mn-ea"/>
                <a:ea typeface="+mn-ea"/>
              </a:rPr>
              <a:t>len</a:t>
            </a:r>
            <a:r>
              <a:rPr lang="en-US" altLang="zh-CN" sz="4000" b="1" dirty="0">
                <a:solidFill>
                  <a:schemeClr val="bg1"/>
                </a:solidFill>
                <a:latin typeface="+mn-ea"/>
                <a:ea typeface="+mn-ea"/>
              </a:rPr>
              <a:t>(),      abs(),      round(),        zip()</a:t>
            </a:r>
            <a:endParaRPr lang="en-CN" altLang="zh-CN" sz="4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033116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112259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D30D-0F5D-EF46-4DE7-92C4B826D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43785E7-C92C-7536-CEE1-32536231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9B7FF-E4E2-4679-CAF2-ED6C24B5BA13}"/>
              </a:ext>
            </a:extLst>
          </p:cNvPr>
          <p:cNvSpPr txBox="1"/>
          <p:nvPr/>
        </p:nvSpPr>
        <p:spPr>
          <a:xfrm>
            <a:off x="300396" y="1112586"/>
            <a:ext cx="6358388" cy="553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模块概念</a:t>
            </a:r>
            <a:r>
              <a:rPr lang="zh-CN" altLang="en-US" sz="36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为了编写可重复使用的代码，通常把代码按功能分类，分别放在不同的</a:t>
            </a:r>
            <a:r>
              <a:rPr lang="en-US" altLang="zh-CN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sz="3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文件里，使得单个文件中代码相对较少。该</a:t>
            </a:r>
            <a:r>
              <a:rPr lang="en-US" altLang="zh-CN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sz="3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文件就称之为一个模块 （</a:t>
            </a:r>
            <a:r>
              <a:rPr 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module）。</a:t>
            </a:r>
            <a:r>
              <a:rPr lang="zh-CN" altLang="en-US" sz="3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模块可包含函数，类和变量。</a:t>
            </a:r>
            <a:endParaRPr lang="en-US" altLang="zh-CN" sz="34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634F49E-FF07-A664-8A5E-05AFA1967718}"/>
              </a:ext>
            </a:extLst>
          </p:cNvPr>
          <p:cNvGrpSpPr/>
          <p:nvPr/>
        </p:nvGrpSpPr>
        <p:grpSpPr>
          <a:xfrm>
            <a:off x="6661146" y="1389628"/>
            <a:ext cx="5380549" cy="5075343"/>
            <a:chOff x="6980461" y="1346085"/>
            <a:chExt cx="5380549" cy="507534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218578E-CA0A-9C5C-9F91-A4863967C81D}"/>
                </a:ext>
              </a:extLst>
            </p:cNvPr>
            <p:cNvGrpSpPr/>
            <p:nvPr/>
          </p:nvGrpSpPr>
          <p:grpSpPr>
            <a:xfrm>
              <a:off x="7097485" y="1346085"/>
              <a:ext cx="5172526" cy="4581270"/>
              <a:chOff x="4911219" y="2293825"/>
              <a:chExt cx="4220421" cy="4255083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9ABBEE5A-6CE2-4962-BB31-CCA22F395E97}"/>
                  </a:ext>
                </a:extLst>
              </p:cNvPr>
              <p:cNvGrpSpPr/>
              <p:nvPr/>
            </p:nvGrpSpPr>
            <p:grpSpPr>
              <a:xfrm>
                <a:off x="4911219" y="2293825"/>
                <a:ext cx="1227786" cy="880817"/>
                <a:chOff x="4916892" y="2293825"/>
                <a:chExt cx="1521854" cy="1030310"/>
              </a:xfrm>
            </p:grpSpPr>
            <p:sp>
              <p:nvSpPr>
                <p:cNvPr id="22" name="流程图: 文档 21">
                  <a:extLst>
                    <a:ext uri="{FF2B5EF4-FFF2-40B4-BE49-F238E27FC236}">
                      <a16:creationId xmlns:a16="http://schemas.microsoft.com/office/drawing/2014/main" id="{F50E73A3-1F20-2D86-ADE6-7E1017055533}"/>
                    </a:ext>
                  </a:extLst>
                </p:cNvPr>
                <p:cNvSpPr/>
                <p:nvPr/>
              </p:nvSpPr>
              <p:spPr>
                <a:xfrm>
                  <a:off x="4916892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4CF56CF6-6A7D-3B73-080A-D134C1C9B8CA}"/>
                    </a:ext>
                  </a:extLst>
                </p:cNvPr>
                <p:cNvSpPr/>
                <p:nvPr/>
              </p:nvSpPr>
              <p:spPr>
                <a:xfrm>
                  <a:off x="5158376" y="2467689"/>
                  <a:ext cx="1143911" cy="57311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6C7C3C16-1634-399C-A158-2AF39E25395B}"/>
                  </a:ext>
                </a:extLst>
              </p:cNvPr>
              <p:cNvGrpSpPr/>
              <p:nvPr/>
            </p:nvGrpSpPr>
            <p:grpSpPr>
              <a:xfrm>
                <a:off x="6398654" y="2293825"/>
                <a:ext cx="1227786" cy="880817"/>
                <a:chOff x="6591837" y="2293825"/>
                <a:chExt cx="1521854" cy="1030310"/>
              </a:xfrm>
            </p:grpSpPr>
            <p:sp>
              <p:nvSpPr>
                <p:cNvPr id="20" name="流程图: 文档 19">
                  <a:extLst>
                    <a:ext uri="{FF2B5EF4-FFF2-40B4-BE49-F238E27FC236}">
                      <a16:creationId xmlns:a16="http://schemas.microsoft.com/office/drawing/2014/main" id="{7F594C22-1E69-C6FF-C971-030A01134E8F}"/>
                    </a:ext>
                  </a:extLst>
                </p:cNvPr>
                <p:cNvSpPr/>
                <p:nvPr/>
              </p:nvSpPr>
              <p:spPr>
                <a:xfrm>
                  <a:off x="6591837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sz="1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54D9E802-8090-B795-1453-44B9C42E0CDF}"/>
                    </a:ext>
                  </a:extLst>
                </p:cNvPr>
                <p:cNvSpPr/>
                <p:nvPr/>
              </p:nvSpPr>
              <p:spPr>
                <a:xfrm>
                  <a:off x="6793407" y="2467688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F45E1923-FDA7-108C-C0A5-2582A420C899}"/>
                  </a:ext>
                </a:extLst>
              </p:cNvPr>
              <p:cNvGrpSpPr/>
              <p:nvPr/>
            </p:nvGrpSpPr>
            <p:grpSpPr>
              <a:xfrm>
                <a:off x="7903854" y="2293825"/>
                <a:ext cx="1227786" cy="880817"/>
                <a:chOff x="8288803" y="2295211"/>
                <a:chExt cx="1521854" cy="1030310"/>
              </a:xfrm>
            </p:grpSpPr>
            <p:sp>
              <p:nvSpPr>
                <p:cNvPr id="18" name="流程图: 文档 17">
                  <a:extLst>
                    <a:ext uri="{FF2B5EF4-FFF2-40B4-BE49-F238E27FC236}">
                      <a16:creationId xmlns:a16="http://schemas.microsoft.com/office/drawing/2014/main" id="{A2D47F6F-91A8-3219-1715-B91FB82BCE89}"/>
                    </a:ext>
                  </a:extLst>
                </p:cNvPr>
                <p:cNvSpPr/>
                <p:nvPr/>
              </p:nvSpPr>
              <p:spPr>
                <a:xfrm>
                  <a:off x="8288803" y="2295211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91DD97E5-157B-5283-21CE-A6AD47AE44EC}"/>
                    </a:ext>
                  </a:extLst>
                </p:cNvPr>
                <p:cNvSpPr/>
                <p:nvPr/>
              </p:nvSpPr>
              <p:spPr>
                <a:xfrm>
                  <a:off x="8530281" y="2469075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4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1E20D218-04C8-2A08-5326-E60F3BAF69C6}"/>
                  </a:ext>
                </a:extLst>
              </p:cNvPr>
              <p:cNvGrpSpPr/>
              <p:nvPr/>
            </p:nvGrpSpPr>
            <p:grpSpPr>
              <a:xfrm>
                <a:off x="5661467" y="3715556"/>
                <a:ext cx="2702160" cy="2833352"/>
                <a:chOff x="5546758" y="3683359"/>
                <a:chExt cx="2702160" cy="2833352"/>
              </a:xfrm>
            </p:grpSpPr>
            <p:sp>
              <p:nvSpPr>
                <p:cNvPr id="13" name="流程图: 文档 12">
                  <a:extLst>
                    <a:ext uri="{FF2B5EF4-FFF2-40B4-BE49-F238E27FC236}">
                      <a16:creationId xmlns:a16="http://schemas.microsoft.com/office/drawing/2014/main" id="{7D9CE801-4E55-0E88-8BE8-7A27AB6C1D22}"/>
                    </a:ext>
                  </a:extLst>
                </p:cNvPr>
                <p:cNvSpPr/>
                <p:nvPr/>
              </p:nvSpPr>
              <p:spPr>
                <a:xfrm>
                  <a:off x="5546758" y="3683359"/>
                  <a:ext cx="2702160" cy="2833352"/>
                </a:xfrm>
                <a:prstGeom prst="flowChartDocument">
                  <a:avLst/>
                </a:prstGeom>
                <a:solidFill>
                  <a:srgbClr val="C3E8CC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68AC5394-1485-277F-71D0-95BBD078DFA2}"/>
                    </a:ext>
                  </a:extLst>
                </p:cNvPr>
                <p:cNvSpPr/>
                <p:nvPr/>
              </p:nvSpPr>
              <p:spPr>
                <a:xfrm>
                  <a:off x="6421321" y="4159649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EDE924F0-FEEE-A8DD-C9EC-6855861DCF68}"/>
                    </a:ext>
                  </a:extLst>
                </p:cNvPr>
                <p:cNvSpPr/>
                <p:nvPr/>
              </p:nvSpPr>
              <p:spPr>
                <a:xfrm>
                  <a:off x="6422841" y="4835348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709B5B47-7F00-81C7-130A-B475271FAD63}"/>
                    </a:ext>
                  </a:extLst>
                </p:cNvPr>
                <p:cNvSpPr/>
                <p:nvPr/>
              </p:nvSpPr>
              <p:spPr>
                <a:xfrm>
                  <a:off x="6421320" y="5512160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6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7102147-8B5B-CF9F-B29D-B40751FA2949}"/>
                  </a:ext>
                </a:extLst>
              </p:cNvPr>
              <p:cNvSpPr/>
              <p:nvPr/>
            </p:nvSpPr>
            <p:spPr>
              <a:xfrm>
                <a:off x="5661467" y="3715556"/>
                <a:ext cx="2702160" cy="398918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lIns="0" rtlCol="0" anchor="ctr">
                <a:no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 模块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lang="en-US" altLang="zh-CN" sz="2000" b="1" dirty="0" err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py</a:t>
                </a:r>
                <a:endParaRPr lang="zh-CN" altLang="en-US" sz="2000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0" name="连接符: 肘形 9">
                <a:extLst>
                  <a:ext uri="{FF2B5EF4-FFF2-40B4-BE49-F238E27FC236}">
                    <a16:creationId xmlns:a16="http://schemas.microsoft.com/office/drawing/2014/main" id="{47304888-2486-09E8-70AA-498193C0CCB4}"/>
                  </a:ext>
                </a:extLst>
              </p:cNvPr>
              <p:cNvCxnSpPr>
                <a:stCxn id="22" idx="2"/>
                <a:endCxn id="9" idx="0"/>
              </p:cNvCxnSpPr>
              <p:nvPr/>
            </p:nvCxnSpPr>
            <p:spPr bwMode="auto">
              <a:xfrm rot="16200000" flipH="1">
                <a:off x="5969257" y="2672264"/>
                <a:ext cx="599146" cy="1487435"/>
              </a:xfrm>
              <a:prstGeom prst="bentConnector3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" name="连接符: 肘形 10">
                <a:extLst>
                  <a:ext uri="{FF2B5EF4-FFF2-40B4-BE49-F238E27FC236}">
                    <a16:creationId xmlns:a16="http://schemas.microsoft.com/office/drawing/2014/main" id="{DBD0C748-C8AB-3591-B5D0-F8DE2BD1AEF2}"/>
                  </a:ext>
                </a:extLst>
              </p:cNvPr>
              <p:cNvCxnSpPr>
                <a:cxnSpLocks/>
                <a:stCxn id="18" idx="2"/>
                <a:endCxn id="9" idx="0"/>
              </p:cNvCxnSpPr>
              <p:nvPr/>
            </p:nvCxnSpPr>
            <p:spPr bwMode="auto">
              <a:xfrm rot="5400000">
                <a:off x="7465575" y="2663383"/>
                <a:ext cx="599146" cy="1505200"/>
              </a:xfrm>
              <a:prstGeom prst="bent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E5FB91-349B-1B36-9DC9-806DBF4E5DD1}"/>
                  </a:ext>
                </a:extLst>
              </p:cNvPr>
              <p:cNvCxnSpPr>
                <a:cxnSpLocks/>
                <a:stCxn id="20" idx="2"/>
                <a:endCxn id="9" idx="0"/>
              </p:cNvCxnSpPr>
              <p:nvPr/>
            </p:nvCxnSpPr>
            <p:spPr bwMode="auto">
              <a:xfrm>
                <a:off x="7012547" y="3116410"/>
                <a:ext cx="0" cy="599146"/>
              </a:xfrm>
              <a:prstGeom prst="straightConnector1">
                <a:avLst/>
              </a:prstGeom>
              <a:ln w="28575">
                <a:headEnd type="none" w="med" len="me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0DC41D9-A2F2-65A5-880A-BB4A8E0091F0}"/>
                </a:ext>
              </a:extLst>
            </p:cNvPr>
            <p:cNvSpPr txBox="1"/>
            <p:nvPr/>
          </p:nvSpPr>
          <p:spPr>
            <a:xfrm>
              <a:off x="6980461" y="5959763"/>
              <a:ext cx="5380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函数、类与模块之间关系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202496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182665" y="942358"/>
            <a:ext cx="6572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模块化优势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代码可维护性、团队协作、功能隔离与测试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模块化层次</a:t>
            </a:r>
            <a:r>
              <a:rPr lang="zh-CN" altLang="en-US" sz="36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US" altLang="zh-CN" sz="3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函数 </a:t>
            </a:r>
            <a:r>
              <a:rPr lang="en-US" altLang="zh-CN" sz="3600" dirty="0">
                <a:solidFill>
                  <a:schemeClr val="bg2"/>
                </a:solidFill>
                <a:latin typeface="+mn-ea"/>
                <a:ea typeface="+mn-ea"/>
              </a:rPr>
              <a:t>-&gt;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 模块 </a:t>
            </a:r>
            <a:r>
              <a:rPr lang="en-US" altLang="zh-CN" sz="3600" dirty="0">
                <a:solidFill>
                  <a:schemeClr val="bg2"/>
                </a:solidFill>
                <a:latin typeface="+mn-ea"/>
              </a:rPr>
              <a:t>-&gt; </a:t>
            </a:r>
            <a:r>
              <a:rPr lang="zh-CN" altLang="en-US" sz="3600" dirty="0">
                <a:solidFill>
                  <a:schemeClr val="bg2"/>
                </a:solidFill>
                <a:latin typeface="+mn-ea"/>
                <a:ea typeface="+mn-ea"/>
              </a:rPr>
              <a:t>包</a:t>
            </a:r>
            <a:endParaRPr lang="en-US" altLang="zh-CN" sz="36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0" marR="0" lvl="0" indent="0" algn="just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</a:rPr>
              <a:t>模块导入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  <a:p>
            <a:pPr algn="just"/>
            <a:r>
              <a:rPr lang="en-US" altLang="zh-CN" sz="4000" dirty="0">
                <a:solidFill>
                  <a:schemeClr val="bg2"/>
                </a:solidFill>
                <a:latin typeface="+mn-ea"/>
                <a:ea typeface="+mn-ea"/>
              </a:rPr>
              <a:t>import</a:t>
            </a:r>
            <a:r>
              <a:rPr lang="zh-CN" altLang="en-US" sz="4000" dirty="0">
                <a:solidFill>
                  <a:schemeClr val="bg2"/>
                </a:solidFill>
                <a:latin typeface="+mn-ea"/>
                <a:ea typeface="+mn-ea"/>
              </a:rPr>
              <a:t>，或</a:t>
            </a:r>
            <a:r>
              <a:rPr lang="en-US" altLang="zh-CN" sz="4000" dirty="0">
                <a:solidFill>
                  <a:schemeClr val="bg2"/>
                </a:solidFill>
                <a:latin typeface="+mn-ea"/>
                <a:ea typeface="+mn-ea"/>
              </a:rPr>
              <a:t>from…import…</a:t>
            </a:r>
            <a:endParaRPr lang="zh-CN" altLang="en-US" sz="4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0052C8D-EB36-DD6A-6A88-54EDEEACFAA8}"/>
              </a:ext>
            </a:extLst>
          </p:cNvPr>
          <p:cNvGrpSpPr/>
          <p:nvPr/>
        </p:nvGrpSpPr>
        <p:grpSpPr>
          <a:xfrm>
            <a:off x="6755486" y="1142886"/>
            <a:ext cx="5380549" cy="5075343"/>
            <a:chOff x="6980461" y="1346085"/>
            <a:chExt cx="5380549" cy="5075343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BB9AAD5-C9FB-4435-771E-8D5CFF918E5E}"/>
                </a:ext>
              </a:extLst>
            </p:cNvPr>
            <p:cNvGrpSpPr/>
            <p:nvPr/>
          </p:nvGrpSpPr>
          <p:grpSpPr>
            <a:xfrm>
              <a:off x="7097485" y="1346085"/>
              <a:ext cx="5172526" cy="4581270"/>
              <a:chOff x="4911219" y="2293825"/>
              <a:chExt cx="4220421" cy="4255083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D4DA87C5-4C9B-1D60-B8EF-ED741EEEC25E}"/>
                  </a:ext>
                </a:extLst>
              </p:cNvPr>
              <p:cNvGrpSpPr/>
              <p:nvPr/>
            </p:nvGrpSpPr>
            <p:grpSpPr>
              <a:xfrm>
                <a:off x="4911219" y="2293825"/>
                <a:ext cx="1227786" cy="880817"/>
                <a:chOff x="4916892" y="2293825"/>
                <a:chExt cx="1521854" cy="1030310"/>
              </a:xfrm>
            </p:grpSpPr>
            <p:sp>
              <p:nvSpPr>
                <p:cNvPr id="44" name="流程图: 文档 43">
                  <a:extLst>
                    <a:ext uri="{FF2B5EF4-FFF2-40B4-BE49-F238E27FC236}">
                      <a16:creationId xmlns:a16="http://schemas.microsoft.com/office/drawing/2014/main" id="{8F66112F-CE1C-C66A-4631-CBD24E87028C}"/>
                    </a:ext>
                  </a:extLst>
                </p:cNvPr>
                <p:cNvSpPr/>
                <p:nvPr/>
              </p:nvSpPr>
              <p:spPr>
                <a:xfrm>
                  <a:off x="4916892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529B8D39-2371-E183-D1F4-EE1528E1D8E6}"/>
                    </a:ext>
                  </a:extLst>
                </p:cNvPr>
                <p:cNvSpPr/>
                <p:nvPr/>
              </p:nvSpPr>
              <p:spPr>
                <a:xfrm>
                  <a:off x="5158376" y="2467689"/>
                  <a:ext cx="1143911" cy="57311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0F3BB020-D06F-9231-8569-18F6D7829F51}"/>
                  </a:ext>
                </a:extLst>
              </p:cNvPr>
              <p:cNvGrpSpPr/>
              <p:nvPr/>
            </p:nvGrpSpPr>
            <p:grpSpPr>
              <a:xfrm>
                <a:off x="6398654" y="2293825"/>
                <a:ext cx="1227786" cy="880817"/>
                <a:chOff x="6591837" y="2293825"/>
                <a:chExt cx="1521854" cy="1030310"/>
              </a:xfrm>
            </p:grpSpPr>
            <p:sp>
              <p:nvSpPr>
                <p:cNvPr id="42" name="流程图: 文档 41">
                  <a:extLst>
                    <a:ext uri="{FF2B5EF4-FFF2-40B4-BE49-F238E27FC236}">
                      <a16:creationId xmlns:a16="http://schemas.microsoft.com/office/drawing/2014/main" id="{9D6ED68E-EC33-0ABD-67CD-6477508939AB}"/>
                    </a:ext>
                  </a:extLst>
                </p:cNvPr>
                <p:cNvSpPr/>
                <p:nvPr/>
              </p:nvSpPr>
              <p:spPr>
                <a:xfrm>
                  <a:off x="6591837" y="2293825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sz="1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FE7D08E2-E3AB-2245-E140-683E9B287A5A}"/>
                    </a:ext>
                  </a:extLst>
                </p:cNvPr>
                <p:cNvSpPr/>
                <p:nvPr/>
              </p:nvSpPr>
              <p:spPr>
                <a:xfrm>
                  <a:off x="6793407" y="2467688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DDA003A7-4C93-B4A1-D48E-C5CABD072166}"/>
                  </a:ext>
                </a:extLst>
              </p:cNvPr>
              <p:cNvGrpSpPr/>
              <p:nvPr/>
            </p:nvGrpSpPr>
            <p:grpSpPr>
              <a:xfrm>
                <a:off x="7903854" y="2293825"/>
                <a:ext cx="1227786" cy="880817"/>
                <a:chOff x="8288803" y="2295211"/>
                <a:chExt cx="1521854" cy="1030310"/>
              </a:xfrm>
            </p:grpSpPr>
            <p:sp>
              <p:nvSpPr>
                <p:cNvPr id="40" name="流程图: 文档 39">
                  <a:extLst>
                    <a:ext uri="{FF2B5EF4-FFF2-40B4-BE49-F238E27FC236}">
                      <a16:creationId xmlns:a16="http://schemas.microsoft.com/office/drawing/2014/main" id="{8D478ED2-E8DD-9488-EAD9-3722CF453FB6}"/>
                    </a:ext>
                  </a:extLst>
                </p:cNvPr>
                <p:cNvSpPr/>
                <p:nvPr/>
              </p:nvSpPr>
              <p:spPr>
                <a:xfrm>
                  <a:off x="8288803" y="2295211"/>
                  <a:ext cx="1521854" cy="1030310"/>
                </a:xfrm>
                <a:prstGeom prst="flowChartDocument">
                  <a:avLst/>
                </a:prstGeom>
                <a:solidFill>
                  <a:schemeClr val="accent6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080A0433-6150-9E81-E89F-64BF77CD24C2}"/>
                    </a:ext>
                  </a:extLst>
                </p:cNvPr>
                <p:cNvSpPr/>
                <p:nvPr/>
              </p:nvSpPr>
              <p:spPr>
                <a:xfrm>
                  <a:off x="8530281" y="2469075"/>
                  <a:ext cx="1143911" cy="5731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4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672B1762-3509-8909-2474-1C6FE073E659}"/>
                  </a:ext>
                </a:extLst>
              </p:cNvPr>
              <p:cNvGrpSpPr/>
              <p:nvPr/>
            </p:nvGrpSpPr>
            <p:grpSpPr>
              <a:xfrm>
                <a:off x="5661467" y="3715556"/>
                <a:ext cx="2702160" cy="2833352"/>
                <a:chOff x="5546758" y="3683359"/>
                <a:chExt cx="2702160" cy="2833352"/>
              </a:xfrm>
            </p:grpSpPr>
            <p:sp>
              <p:nvSpPr>
                <p:cNvPr id="36" name="流程图: 文档 35">
                  <a:extLst>
                    <a:ext uri="{FF2B5EF4-FFF2-40B4-BE49-F238E27FC236}">
                      <a16:creationId xmlns:a16="http://schemas.microsoft.com/office/drawing/2014/main" id="{0C8CA267-147A-F541-A704-65BC3E87DF41}"/>
                    </a:ext>
                  </a:extLst>
                </p:cNvPr>
                <p:cNvSpPr/>
                <p:nvPr/>
              </p:nvSpPr>
              <p:spPr>
                <a:xfrm>
                  <a:off x="5546758" y="3683359"/>
                  <a:ext cx="2702160" cy="2833352"/>
                </a:xfrm>
                <a:prstGeom prst="flowChartDocument">
                  <a:avLst/>
                </a:prstGeom>
                <a:solidFill>
                  <a:srgbClr val="C3E8CC"/>
                </a:solidFill>
              </p:spPr>
              <p:txBody>
                <a:bodyPr wrap="square" lIns="0" rtlCol="0" anchor="ctr">
                  <a:noAutofit/>
                </a:bodyPr>
                <a:lstStyle/>
                <a:p>
                  <a:pPr algn="l"/>
                  <a:endParaRPr lang="zh-CN" altLang="en-US" b="1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B2F10CAA-FE0D-35E7-8AAF-8909F26A533E}"/>
                    </a:ext>
                  </a:extLst>
                </p:cNvPr>
                <p:cNvSpPr/>
                <p:nvPr/>
              </p:nvSpPr>
              <p:spPr>
                <a:xfrm>
                  <a:off x="6421321" y="4159649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函数</a:t>
                  </a:r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E434F634-6D8B-270C-3299-A5D2231027EB}"/>
                    </a:ext>
                  </a:extLst>
                </p:cNvPr>
                <p:cNvSpPr/>
                <p:nvPr/>
              </p:nvSpPr>
              <p:spPr>
                <a:xfrm>
                  <a:off x="6422841" y="4835348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8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类</a:t>
                  </a:r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7A1C17FB-BA62-7BD7-DDB9-DE0EFC768C06}"/>
                    </a:ext>
                  </a:extLst>
                </p:cNvPr>
                <p:cNvSpPr/>
                <p:nvPr/>
              </p:nvSpPr>
              <p:spPr>
                <a:xfrm>
                  <a:off x="6421320" y="5512160"/>
                  <a:ext cx="985552" cy="58654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txBody>
                <a:bodyPr wrap="square" lIns="0" rtlCol="0" anchor="ctr">
                  <a:noAutofit/>
                </a:bodyPr>
                <a:lstStyle/>
                <a:p>
                  <a:r>
                    <a:rPr lang="zh-CN" altLang="en-US" sz="1600" b="1" dirty="0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rPr>
                    <a:t> 其他代码</a:t>
                  </a:r>
                </a:p>
              </p:txBody>
            </p:sp>
          </p:grp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B54B125-EB19-0981-BE87-A70EBD8D8BE4}"/>
                  </a:ext>
                </a:extLst>
              </p:cNvPr>
              <p:cNvSpPr/>
              <p:nvPr/>
            </p:nvSpPr>
            <p:spPr>
              <a:xfrm>
                <a:off x="5661467" y="3715556"/>
                <a:ext cx="2702160" cy="398918"/>
              </a:xfrm>
              <a:prstGeom prst="rect">
                <a:avLst/>
              </a:prstGeom>
              <a:solidFill>
                <a:srgbClr val="FFCC99"/>
              </a:solidFill>
            </p:spPr>
            <p:txBody>
              <a:bodyPr wrap="square" lIns="0" rtlCol="0" anchor="ctr">
                <a:no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 模块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  <a:r>
                  <a:rPr lang="en-US" altLang="zh-CN" sz="2000" b="1" dirty="0" err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py</a:t>
                </a:r>
                <a:endParaRPr lang="zh-CN" altLang="en-US" sz="2000" b="1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33" name="连接符: 肘形 32">
                <a:extLst>
                  <a:ext uri="{FF2B5EF4-FFF2-40B4-BE49-F238E27FC236}">
                    <a16:creationId xmlns:a16="http://schemas.microsoft.com/office/drawing/2014/main" id="{0CEF2548-9402-3D39-B33D-367652A16062}"/>
                  </a:ext>
                </a:extLst>
              </p:cNvPr>
              <p:cNvCxnSpPr>
                <a:stCxn id="44" idx="2"/>
                <a:endCxn id="32" idx="0"/>
              </p:cNvCxnSpPr>
              <p:nvPr/>
            </p:nvCxnSpPr>
            <p:spPr bwMode="auto">
              <a:xfrm rot="16200000" flipH="1">
                <a:off x="5969257" y="2672264"/>
                <a:ext cx="599146" cy="1487435"/>
              </a:xfrm>
              <a:prstGeom prst="bentConnector3">
                <a:avLst/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4" name="连接符: 肘形 33">
                <a:extLst>
                  <a:ext uri="{FF2B5EF4-FFF2-40B4-BE49-F238E27FC236}">
                    <a16:creationId xmlns:a16="http://schemas.microsoft.com/office/drawing/2014/main" id="{21A801DA-CA8C-511E-C72C-5E64068990EF}"/>
                  </a:ext>
                </a:extLst>
              </p:cNvPr>
              <p:cNvCxnSpPr>
                <a:cxnSpLocks/>
                <a:stCxn id="40" idx="2"/>
                <a:endCxn id="32" idx="0"/>
              </p:cNvCxnSpPr>
              <p:nvPr/>
            </p:nvCxnSpPr>
            <p:spPr bwMode="auto">
              <a:xfrm rot="5400000">
                <a:off x="7465575" y="2663383"/>
                <a:ext cx="599146" cy="1505200"/>
              </a:xfrm>
              <a:prstGeom prst="bent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69BD08FB-2AF4-8CE5-302D-14B4C4989415}"/>
                  </a:ext>
                </a:extLst>
              </p:cNvPr>
              <p:cNvCxnSpPr>
                <a:cxnSpLocks/>
                <a:stCxn id="42" idx="2"/>
                <a:endCxn id="32" idx="0"/>
              </p:cNvCxnSpPr>
              <p:nvPr/>
            </p:nvCxnSpPr>
            <p:spPr bwMode="auto">
              <a:xfrm>
                <a:off x="7012547" y="3116410"/>
                <a:ext cx="0" cy="599146"/>
              </a:xfrm>
              <a:prstGeom prst="straightConnector1">
                <a:avLst/>
              </a:prstGeom>
              <a:ln w="28575">
                <a:headEnd type="none" w="med" len="me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4DF6BB6-D573-FCEF-313C-4A0784BFE78E}"/>
                </a:ext>
              </a:extLst>
            </p:cNvPr>
            <p:cNvSpPr txBox="1"/>
            <p:nvPr/>
          </p:nvSpPr>
          <p:spPr>
            <a:xfrm>
              <a:off x="6980461" y="5959763"/>
              <a:ext cx="53805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+mn-ea"/>
                  <a:ea typeface="+mn-ea"/>
                </a:rPr>
                <a:t>函数、类与模块之间关系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11420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341087" y="717714"/>
            <a:ext cx="11633200" cy="2898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包概念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在实际的编码环境中，已经存在大量模块，并且新模块还在不停被创建，为了避免模块名冲突，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Python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又引入了按目录来组织模块的方法，称为包（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Package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）。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5" name="Picture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BCF1F0B0-16D2-2BC1-5DE7-519643BE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87" y="3846212"/>
            <a:ext cx="3987037" cy="2845966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5C4B760B-DA80-39FC-EA0E-1A45B57F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0CF43B2-8C59-89E5-8FE4-6F499110892F}"/>
              </a:ext>
            </a:extLst>
          </p:cNvPr>
          <p:cNvGrpSpPr/>
          <p:nvPr/>
        </p:nvGrpSpPr>
        <p:grpSpPr>
          <a:xfrm>
            <a:off x="4426109" y="4016852"/>
            <a:ext cx="7707719" cy="2357596"/>
            <a:chOff x="4426109" y="4016852"/>
            <a:chExt cx="7707719" cy="23575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2ED4A9-13D1-D01E-580E-7AEEB4ACE2AD}"/>
                </a:ext>
              </a:extLst>
            </p:cNvPr>
            <p:cNvSpPr txBox="1"/>
            <p:nvPr/>
          </p:nvSpPr>
          <p:spPr>
            <a:xfrm>
              <a:off x="5634476" y="4016852"/>
              <a:ext cx="49911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>
                  <a:solidFill>
                    <a:srgbClr val="333333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包的导入</a:t>
              </a:r>
              <a:endParaRPr lang="en-CN" b="1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4A22770-F61C-53B6-0D6B-58FF19176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6109" y="4641480"/>
              <a:ext cx="7707719" cy="17329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372360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DD5C-6ED2-CF6E-349F-CA4CF378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AE568CC-643F-8904-0795-959C88590FD1}"/>
              </a:ext>
            </a:extLst>
          </p:cNvPr>
          <p:cNvSpPr txBox="1"/>
          <p:nvPr/>
        </p:nvSpPr>
        <p:spPr>
          <a:xfrm>
            <a:off x="312057" y="942669"/>
            <a:ext cx="11756572" cy="26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模块或包导入</a:t>
            </a:r>
            <a:r>
              <a:rPr lang="zh-CN" altLang="en-US" sz="32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import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语句，或</a:t>
            </a:r>
            <a:r>
              <a:rPr lang="en-US" altLang="zh-CN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from…import…</a:t>
            </a:r>
            <a:r>
              <a:rPr lang="zh-CN" altLang="en-US" sz="3000" u="sng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语句。</a:t>
            </a:r>
            <a:endParaRPr lang="en-US" altLang="zh-CN" sz="30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一条 </a:t>
            </a:r>
            <a:r>
              <a:rPr 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import </a:t>
            </a: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语句可以同时导入多个包</a:t>
            </a:r>
            <a:r>
              <a:rPr lang="en-US" altLang="zh-CN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0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模块，以逗号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分隔；</a:t>
            </a:r>
            <a:endParaRPr lang="en-US" altLang="zh-CN" sz="3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from…import…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可以指定导入包</a:t>
            </a:r>
            <a:r>
              <a:rPr lang="en-US" altLang="zh-CN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30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模块中具体的变量和函数。</a:t>
            </a:r>
            <a:endParaRPr lang="en-US" altLang="zh-CN" sz="30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48489C8-4C4A-7521-188F-74BBEE84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69975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模块与包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E83AFF-5FBB-6A93-001A-142B4410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18"/>
          <a:stretch>
            <a:fillRect/>
          </a:stretch>
        </p:blipFill>
        <p:spPr>
          <a:xfrm>
            <a:off x="151947" y="4238693"/>
            <a:ext cx="11926207" cy="174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5651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3"/>
            <a:ext cx="99202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三、</a:t>
            </a:r>
            <a:r>
              <a:rPr lang="en-US" altLang="zh-CN" sz="44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标准库与第三方库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216377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87F-3929-D8AB-33A3-491A9B54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73EEA-7681-0EBA-CDCA-244EF572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31BFD-CCE6-389F-63DA-67B18599B458}"/>
              </a:ext>
            </a:extLst>
          </p:cNvPr>
          <p:cNvSpPr txBox="1"/>
          <p:nvPr/>
        </p:nvSpPr>
        <p:spPr>
          <a:xfrm>
            <a:off x="174171" y="842832"/>
            <a:ext cx="11850914" cy="320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标准库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语言内置的库，例如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os、sys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等，它们无需额外安装即可使用。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开发志愿者贡献，需手动安装的库，如</a:t>
            </a:r>
            <a:r>
              <a:rPr lang="en-US" altLang="zh-CN" sz="32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pandas, matplotlib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  <a:endParaRPr 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8ABDF9C-631A-E69C-3FB8-0947C36A0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033403"/>
              </p:ext>
            </p:extLst>
          </p:nvPr>
        </p:nvGraphicFramePr>
        <p:xfrm>
          <a:off x="578931" y="4117065"/>
          <a:ext cx="11138634" cy="2578556"/>
        </p:xfrm>
        <a:graphic>
          <a:graphicData uri="http://schemas.openxmlformats.org/drawingml/2006/table">
            <a:tbl>
              <a:tblPr/>
              <a:tblGrid>
                <a:gridCol w="3712878">
                  <a:extLst>
                    <a:ext uri="{9D8B030D-6E8A-4147-A177-3AD203B41FA5}">
                      <a16:colId xmlns:a16="http://schemas.microsoft.com/office/drawing/2014/main" val="3675882594"/>
                    </a:ext>
                  </a:extLst>
                </a:gridCol>
                <a:gridCol w="3712878">
                  <a:extLst>
                    <a:ext uri="{9D8B030D-6E8A-4147-A177-3AD203B41FA5}">
                      <a16:colId xmlns:a16="http://schemas.microsoft.com/office/drawing/2014/main" val="3818600901"/>
                    </a:ext>
                  </a:extLst>
                </a:gridCol>
                <a:gridCol w="3712878">
                  <a:extLst>
                    <a:ext uri="{9D8B030D-6E8A-4147-A177-3AD203B41FA5}">
                      <a16:colId xmlns:a16="http://schemas.microsoft.com/office/drawing/2014/main" val="1558079673"/>
                    </a:ext>
                  </a:extLst>
                </a:gridCol>
              </a:tblGrid>
              <a:tr h="5422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特性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标准库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第三方库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80310"/>
                  </a:ext>
                </a:extLst>
              </a:tr>
              <a:tr h="856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安装方式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内置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2"/>
                          </a:solidFill>
                          <a:effectLst/>
                        </a:rPr>
                        <a:t>pip/conda install</a:t>
                      </a:r>
                      <a:endParaRPr 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565303"/>
                  </a:ext>
                </a:extLst>
              </a:tr>
              <a:tr h="5422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维护者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chemeClr val="bg2"/>
                          </a:solidFill>
                          <a:effectLst/>
                        </a:rPr>
                        <a:t>Python</a:t>
                      </a:r>
                      <a:r>
                        <a:rPr lang="zh-CN" altLang="en-US" sz="2800" b="0">
                          <a:solidFill>
                            <a:schemeClr val="bg2"/>
                          </a:solidFill>
                          <a:effectLst/>
                        </a:rPr>
                        <a:t>官方</a:t>
                      </a:r>
                      <a:endParaRPr lang="zh-CN" altLang="en-US" sz="2800" b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开源社区</a:t>
                      </a:r>
                      <a:r>
                        <a:rPr lang="en-US" altLang="zh-CN" sz="2800" b="0" dirty="0">
                          <a:solidFill>
                            <a:schemeClr val="bg2"/>
                          </a:solidFill>
                          <a:effectLst/>
                        </a:rPr>
                        <a:t>/</a:t>
                      </a:r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企业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22408"/>
                  </a:ext>
                </a:extLst>
              </a:tr>
              <a:tr h="638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功能范围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基础功能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领域专用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04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20871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6F8DE-22C8-E28C-2062-1F93E0AE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1160987-C948-7425-799C-BBF8BD72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F2A28-2750-B996-6CEB-D6FF2B2CB0BD}"/>
              </a:ext>
            </a:extLst>
          </p:cNvPr>
          <p:cNvSpPr txBox="1"/>
          <p:nvPr/>
        </p:nvSpPr>
        <p:spPr>
          <a:xfrm>
            <a:off x="220519" y="831762"/>
            <a:ext cx="502639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标准库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CE8E4-A46A-2945-1C5F-ADCF4371A8F1}"/>
              </a:ext>
            </a:extLst>
          </p:cNvPr>
          <p:cNvSpPr txBox="1"/>
          <p:nvPr/>
        </p:nvSpPr>
        <p:spPr>
          <a:xfrm>
            <a:off x="341087" y="1510808"/>
            <a:ext cx="6996574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chemeClr val="bg2"/>
                </a:solidFill>
                <a:latin typeface="+mn-ea"/>
                <a:ea typeface="+mn-ea"/>
              </a:rPr>
              <a:t>文件与系统操作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2800" b="1" dirty="0" err="1">
                <a:solidFill>
                  <a:schemeClr val="bg2"/>
                </a:solidFill>
                <a:latin typeface="+mn-ea"/>
                <a:ea typeface="+mn-ea"/>
              </a:rPr>
              <a:t>os、sys</a:t>
            </a:r>
            <a:endParaRPr lang="en-US" sz="28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AA6FA35-2E65-949A-B069-702F057D2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270" b="39358"/>
          <a:stretch>
            <a:fillRect/>
          </a:stretch>
        </p:blipFill>
        <p:spPr>
          <a:xfrm>
            <a:off x="635876" y="2199843"/>
            <a:ext cx="3159145" cy="1441505"/>
          </a:xfrm>
          <a:prstGeom prst="rect">
            <a:avLst/>
          </a:prstGeom>
        </p:spPr>
      </p:pic>
      <p:pic>
        <p:nvPicPr>
          <p:cNvPr id="7" name="Picture 6" descr="A group of text on a black background&#10;&#10;AI-generated content may be incorrect.">
            <a:extLst>
              <a:ext uri="{FF2B5EF4-FFF2-40B4-BE49-F238E27FC236}">
                <a16:creationId xmlns:a16="http://schemas.microsoft.com/office/drawing/2014/main" id="{48C70CA8-A9C0-B339-04BE-F3E5BD3B96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82"/>
          <a:stretch>
            <a:fillRect/>
          </a:stretch>
        </p:blipFill>
        <p:spPr>
          <a:xfrm>
            <a:off x="3915187" y="2216144"/>
            <a:ext cx="7500301" cy="1425204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69396D2-75BE-228B-A027-E7DB64F7BE21}"/>
              </a:ext>
            </a:extLst>
          </p:cNvPr>
          <p:cNvSpPr txBox="1"/>
          <p:nvPr/>
        </p:nvSpPr>
        <p:spPr>
          <a:xfrm>
            <a:off x="341088" y="4501565"/>
            <a:ext cx="358430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数据计算与统计等：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math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random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800" dirty="0" err="1">
                <a:solidFill>
                  <a:schemeClr val="bg2"/>
                </a:solidFill>
                <a:latin typeface="+mn-ea"/>
                <a:ea typeface="+mn-ea"/>
              </a:rPr>
              <a:t>statististics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8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D87A25D-104B-83F2-8C83-92083E9E2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91" y="3914730"/>
            <a:ext cx="7490097" cy="277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2271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D5F3-5F53-5FA9-D2AB-0485D9C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520AA9-5923-C4A3-ACE3-68F3BB856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52499-D372-2FBA-C44F-6EFEA0897549}"/>
              </a:ext>
            </a:extLst>
          </p:cNvPr>
          <p:cNvSpPr txBox="1"/>
          <p:nvPr/>
        </p:nvSpPr>
        <p:spPr>
          <a:xfrm>
            <a:off x="471713" y="880398"/>
            <a:ext cx="6030687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A8241-F27A-BC22-6D1D-C320943718E9}"/>
              </a:ext>
            </a:extLst>
          </p:cNvPr>
          <p:cNvSpPr txBox="1"/>
          <p:nvPr/>
        </p:nvSpPr>
        <p:spPr>
          <a:xfrm>
            <a:off x="624114" y="1609579"/>
            <a:ext cx="10943771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数据处理三剑客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Pandas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 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Matplotlib</a:t>
            </a:r>
            <a:endParaRPr 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DE1E74-7E4B-A6A8-D10F-C49348F57B46}"/>
              </a:ext>
            </a:extLst>
          </p:cNvPr>
          <p:cNvGraphicFramePr>
            <a:graphicFrameLocks noGrp="1"/>
          </p:cNvGraphicFramePr>
          <p:nvPr/>
        </p:nvGraphicFramePr>
        <p:xfrm>
          <a:off x="624115" y="2448196"/>
          <a:ext cx="11054741" cy="2994959"/>
        </p:xfrm>
        <a:graphic>
          <a:graphicData uri="http://schemas.openxmlformats.org/drawingml/2006/table">
            <a:tbl>
              <a:tblPr/>
              <a:tblGrid>
                <a:gridCol w="2036597">
                  <a:extLst>
                    <a:ext uri="{9D8B030D-6E8A-4147-A177-3AD203B41FA5}">
                      <a16:colId xmlns:a16="http://schemas.microsoft.com/office/drawing/2014/main" val="2283228956"/>
                    </a:ext>
                  </a:extLst>
                </a:gridCol>
                <a:gridCol w="4065680">
                  <a:extLst>
                    <a:ext uri="{9D8B030D-6E8A-4147-A177-3AD203B41FA5}">
                      <a16:colId xmlns:a16="http://schemas.microsoft.com/office/drawing/2014/main" val="1378140691"/>
                    </a:ext>
                  </a:extLst>
                </a:gridCol>
                <a:gridCol w="4952464">
                  <a:extLst>
                    <a:ext uri="{9D8B030D-6E8A-4147-A177-3AD203B41FA5}">
                      <a16:colId xmlns:a16="http://schemas.microsoft.com/office/drawing/2014/main" val="4108045389"/>
                    </a:ext>
                  </a:extLst>
                </a:gridCol>
              </a:tblGrid>
              <a:tr h="5554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核心功能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优势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920418"/>
                  </a:ext>
                </a:extLst>
              </a:tr>
              <a:tr h="624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NumPy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多维数组与数学运算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高性能数值计算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9642"/>
                  </a:ext>
                </a:extLst>
              </a:tr>
              <a:tr h="10286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</a:rPr>
                        <a:t>Pandas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结构化数据分析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表格数据处理、时间序列分析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89158"/>
                  </a:ext>
                </a:extLst>
              </a:tr>
              <a:tr h="5554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Matplotlib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数据可视化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丰富的图表类型支持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6513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0258A42-D03D-C8BA-9C3E-F18BE2978705}"/>
              </a:ext>
            </a:extLst>
          </p:cNvPr>
          <p:cNvSpPr txBox="1"/>
          <p:nvPr/>
        </p:nvSpPr>
        <p:spPr>
          <a:xfrm>
            <a:off x="490002" y="5649640"/>
            <a:ext cx="3497396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</a:t>
            </a:r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A4C88-3ABE-D7A7-86B3-E60B1329735C}"/>
              </a:ext>
            </a:extLst>
          </p:cNvPr>
          <p:cNvSpPr txBox="1"/>
          <p:nvPr/>
        </p:nvSpPr>
        <p:spPr>
          <a:xfrm>
            <a:off x="4346301" y="5649639"/>
            <a:ext cx="3497396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pandas</a:t>
            </a: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pandas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EAC60-5A2B-2CD5-A10F-60834F7FE0B7}"/>
              </a:ext>
            </a:extLst>
          </p:cNvPr>
          <p:cNvSpPr txBox="1"/>
          <p:nvPr/>
        </p:nvSpPr>
        <p:spPr>
          <a:xfrm>
            <a:off x="8202600" y="5649639"/>
            <a:ext cx="3649879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matplotlib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matplotlib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753708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716D2-86B2-586C-CEC2-99800A4C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9C29DD-BB7C-8879-D6BA-D003903E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D452499-D372-2FBA-C44F-6EFEA0897549}"/>
              </a:ext>
            </a:extLst>
          </p:cNvPr>
          <p:cNvSpPr txBox="1"/>
          <p:nvPr/>
        </p:nvSpPr>
        <p:spPr>
          <a:xfrm>
            <a:off x="611712" y="844210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</a:t>
            </a:r>
            <a:r>
              <a:rPr lang="en-US" altLang="zh-CN" sz="3200" b="1" dirty="0" err="1">
                <a:solidFill>
                  <a:schemeClr val="accent2"/>
                </a:solidFill>
                <a:latin typeface="+mn-ea"/>
                <a:ea typeface="+mn-ea"/>
              </a:rPr>
              <a:t>Numpy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D56E66-3806-91F3-E44F-E429181BD448}"/>
              </a:ext>
            </a:extLst>
          </p:cNvPr>
          <p:cNvSpPr txBox="1"/>
          <p:nvPr/>
        </p:nvSpPr>
        <p:spPr>
          <a:xfrm>
            <a:off x="611712" y="1631755"/>
            <a:ext cx="11275488" cy="217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是开源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库，广泛应用在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数据分析和科学计算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领域。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的许多底层函数由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语言实现，因此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具有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较高的运算效率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89D6-1B85-CAA3-8E75-FEB9ED8D5043}"/>
              </a:ext>
            </a:extLst>
          </p:cNvPr>
          <p:cNvSpPr txBox="1"/>
          <p:nvPr/>
        </p:nvSpPr>
        <p:spPr>
          <a:xfrm>
            <a:off x="2561001" y="3228988"/>
            <a:ext cx="9584700" cy="335104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创建数组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np.array()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.zeros(),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np.ones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()…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矩阵运算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：*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对应元素相乘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 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.dot()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（矩阵内积）、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.mean()(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平均值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np.max()(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最大值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CN" dirty="0">
                <a:solidFill>
                  <a:schemeClr val="bg2"/>
                </a:solidFill>
                <a:latin typeface="+mn-ea"/>
                <a:ea typeface="+mn-ea"/>
              </a:rPr>
              <a:t>等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索引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：元素所在数组位置。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数组合并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np.vstack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np.hstack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np.newaxis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np.concatenate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FCDB9-E706-31EB-1075-B5EE60F13E79}"/>
              </a:ext>
            </a:extLst>
          </p:cNvPr>
          <p:cNvSpPr txBox="1"/>
          <p:nvPr/>
        </p:nvSpPr>
        <p:spPr>
          <a:xfrm>
            <a:off x="458985" y="4370918"/>
            <a:ext cx="2006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3D7948F-BBEE-1157-7319-6DA3B0E17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199" b="69509"/>
          <a:stretch>
            <a:fillRect/>
          </a:stretch>
        </p:blipFill>
        <p:spPr>
          <a:xfrm>
            <a:off x="7338349" y="4798975"/>
            <a:ext cx="4017663" cy="110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3808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79A5-28AF-079A-9263-76B3671E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886346-B0D4-D77D-ABFD-9537B1F0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04EF2B4-9F82-79D3-73A7-F7ABFD3D4677}"/>
              </a:ext>
            </a:extLst>
          </p:cNvPr>
          <p:cNvSpPr txBox="1"/>
          <p:nvPr/>
        </p:nvSpPr>
        <p:spPr>
          <a:xfrm>
            <a:off x="522513" y="800688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-Pandas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93719-93FC-5FBF-0F96-BA17A2740B07}"/>
              </a:ext>
            </a:extLst>
          </p:cNvPr>
          <p:cNvSpPr txBox="1"/>
          <p:nvPr/>
        </p:nvSpPr>
        <p:spPr>
          <a:xfrm>
            <a:off x="611712" y="1631755"/>
            <a:ext cx="11275488" cy="151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基于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Numpy开发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，用于数据挖掘、数据分析以及数据处理。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能够简单、直观地处理结构化数据。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1A9E70-47A6-FE16-AC16-8CC8FC3C81C6}"/>
              </a:ext>
            </a:extLst>
          </p:cNvPr>
          <p:cNvSpPr txBox="1"/>
          <p:nvPr/>
        </p:nvSpPr>
        <p:spPr>
          <a:xfrm>
            <a:off x="652040" y="4454961"/>
            <a:ext cx="220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A76CF-AD6F-7C0F-4ADE-91D33A036D3E}"/>
              </a:ext>
            </a:extLst>
          </p:cNvPr>
          <p:cNvSpPr txBox="1"/>
          <p:nvPr/>
        </p:nvSpPr>
        <p:spPr>
          <a:xfrm>
            <a:off x="2882556" y="3238419"/>
            <a:ext cx="8657404" cy="267765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DataFrame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添加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删除数据</a:t>
            </a:r>
            <a:endParaRPr lang="en-US" altLang="zh-CN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处理丢失的数据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dataframe.drop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数据读写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pandas.read_csv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dataframe.to_csv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数据合并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pandas.concat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数据可视化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dataframe.plot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77C252D-3541-9366-B7F9-6605C0AEB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939" b="39107"/>
          <a:stretch>
            <a:fillRect/>
          </a:stretch>
        </p:blipFill>
        <p:spPr>
          <a:xfrm>
            <a:off x="2882556" y="6003156"/>
            <a:ext cx="7214794" cy="74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8024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737F-12F2-95E4-165E-27396F3F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510DDC-500B-460B-DFBA-BEBC3BE6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标准库与第三方库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20F6501-5206-179D-8A3B-BE0425DF4E8D}"/>
              </a:ext>
            </a:extLst>
          </p:cNvPr>
          <p:cNvSpPr txBox="1"/>
          <p:nvPr/>
        </p:nvSpPr>
        <p:spPr>
          <a:xfrm>
            <a:off x="522513" y="800688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-Matplotlib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0A8AF-71B9-2AF1-7DBF-A61D590E4FBD}"/>
              </a:ext>
            </a:extLst>
          </p:cNvPr>
          <p:cNvSpPr txBox="1"/>
          <p:nvPr/>
        </p:nvSpPr>
        <p:spPr>
          <a:xfrm>
            <a:off x="611712" y="1631755"/>
            <a:ext cx="11275488" cy="151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用于绘制图形的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Python第三方库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通常和 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P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andas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与 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NumPy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库一起使用。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47EA68-9C36-4D28-ECFC-973A6DBB96A2}"/>
              </a:ext>
            </a:extLst>
          </p:cNvPr>
          <p:cNvSpPr txBox="1"/>
          <p:nvPr/>
        </p:nvSpPr>
        <p:spPr>
          <a:xfrm>
            <a:off x="611712" y="4493935"/>
            <a:ext cx="220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F60CF-7048-7CBE-EA1F-6948C155BB6F}"/>
              </a:ext>
            </a:extLst>
          </p:cNvPr>
          <p:cNvSpPr txBox="1"/>
          <p:nvPr/>
        </p:nvSpPr>
        <p:spPr>
          <a:xfrm>
            <a:off x="2821733" y="3355162"/>
            <a:ext cx="9065467" cy="3231654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绘制画布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画板：</a:t>
            </a:r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plt.figure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.subplots(1,1)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线性图绘制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plt.plot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坐标系设置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plt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set_xlabel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plt.set_ylabel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()…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添加图例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plt.legend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柱状图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plt.bar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图像显示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plt.imshow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476F4E8-0C4C-6A6D-DD99-EA0A40043A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26" r="37113"/>
          <a:stretch>
            <a:fillRect/>
          </a:stretch>
        </p:blipFill>
        <p:spPr>
          <a:xfrm>
            <a:off x="6605980" y="5064199"/>
            <a:ext cx="5166034" cy="135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768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第</a:t>
            </a:r>
            <a:r>
              <a:rPr lang="en-US" altLang="zh-CN" sz="4000" dirty="0">
                <a:latin typeface="+mn-ea"/>
              </a:rPr>
              <a:t>4</a:t>
            </a:r>
            <a:r>
              <a:rPr lang="zh-CN" altLang="en-US" sz="4000" dirty="0">
                <a:latin typeface="+mn-ea"/>
              </a:rPr>
              <a:t>章、函数与模块化编程</a:t>
            </a:r>
            <a:endParaRPr lang="zh-CN" altLang="en-US" sz="400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BE2EB52-1153-547D-4DDB-F105FCA1059C}"/>
              </a:ext>
            </a:extLst>
          </p:cNvPr>
          <p:cNvSpPr txBox="1"/>
          <p:nvPr/>
        </p:nvSpPr>
        <p:spPr>
          <a:xfrm>
            <a:off x="442687" y="908405"/>
            <a:ext cx="66548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章节实验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1-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创建函数、模块和包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8615743-0F76-1E7B-8513-381292D6BC62}"/>
              </a:ext>
            </a:extLst>
          </p:cNvPr>
          <p:cNvSpPr txBox="1"/>
          <p:nvPr/>
        </p:nvSpPr>
        <p:spPr>
          <a:xfrm>
            <a:off x="377373" y="1652391"/>
            <a:ext cx="11611428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0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编程函数、模块和包的创建与使用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0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）设计以下函数：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查询家乡为某省同学的人数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查询家乡为某省的同学姓名，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(c)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统计一批同学中不同家乡省份的数量，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(d) 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统计一批同学中不同家乡城市的数量。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）将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)(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b</a:t>
            </a:r>
            <a:r>
              <a:rPr lang="en-US" altLang="zh-CN" sz="26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函数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保存到模块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module1.py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(c)(d)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函数保存到模块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module2.py.</a:t>
            </a:r>
          </a:p>
          <a:p>
            <a:pPr algn="just"/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）将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module1.py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module2.py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保存到一个包中。代码演示通过包的导入使用</a:t>
            </a:r>
            <a:r>
              <a:rPr lang="en-US" altLang="zh-CN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(a)(b)(c)(d)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函数。</a:t>
            </a:r>
            <a:r>
              <a:rPr lang="zh-CN" altLang="en-US" sz="2600" u="sng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主要代码及结果发课程群</a:t>
            </a:r>
            <a:r>
              <a:rPr lang="zh-CN" altLang="en-US" sz="2600" dirty="0">
                <a:solidFill>
                  <a:prstClr val="black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00468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29C2-4A0E-00DA-0529-323788B0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5D7809-32B9-73D0-DAA2-E70DB954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sz="4000" dirty="0">
                <a:latin typeface="+mn-ea"/>
              </a:rPr>
              <a:t>第</a:t>
            </a:r>
            <a:r>
              <a:rPr lang="en-US" altLang="zh-CN" sz="4000" dirty="0">
                <a:latin typeface="+mn-ea"/>
              </a:rPr>
              <a:t>4</a:t>
            </a:r>
            <a:r>
              <a:rPr lang="zh-CN" altLang="en-US" sz="4000" dirty="0">
                <a:latin typeface="+mn-ea"/>
              </a:rPr>
              <a:t>章、函数与模块化编程</a:t>
            </a:r>
            <a:endParaRPr lang="zh-CN" altLang="en-US" sz="4000" dirty="0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3DC74A-684F-BCDC-C414-D34B1CD8DA72}"/>
              </a:ext>
            </a:extLst>
          </p:cNvPr>
          <p:cNvSpPr txBox="1"/>
          <p:nvPr/>
        </p:nvSpPr>
        <p:spPr>
          <a:xfrm>
            <a:off x="552734" y="908405"/>
            <a:ext cx="9984639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章节实验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2-Python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内置库与第三方库使用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9F7A302-D1A1-746F-E50F-0B2CEC6C7883}"/>
              </a:ext>
            </a:extLst>
          </p:cNvPr>
          <p:cNvSpPr txBox="1"/>
          <p:nvPr/>
        </p:nvSpPr>
        <p:spPr>
          <a:xfrm>
            <a:off x="486228" y="1819305"/>
            <a:ext cx="1122680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实验目标：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掌握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常用内置库与第三方库的使用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实验内容及要求：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）学习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常用内置库、第三方库课程代码。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）使用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第三方库</a:t>
            </a:r>
            <a:r>
              <a:rPr lang="en-US" altLang="zh-CN" sz="2800" dirty="0" err="1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pandas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matplotlib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，统计不同省份同学数量并进行图表可视化表达。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）主要代码及结果发课程群。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76419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4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开发环境配置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510073" y="797358"/>
            <a:ext cx="974337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第一次作业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583007" y="2126994"/>
            <a:ext cx="1127350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作业内容及要求：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1. 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结合所学内容设计学生成绩管理函数，代码需逐行注释。</a:t>
            </a:r>
            <a:endParaRPr lang="en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2. 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需具备以下功能（函数）：（</a:t>
            </a:r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）添加科目及对应学分；（</a:t>
            </a:r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）录入科目成绩；（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）计算各科目平均分；（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4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）根据学分计算加权平均分；（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5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）计算所有同学某科目平均分；（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6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）查看某科目最高分等。</a:t>
            </a:r>
            <a:endParaRPr lang="en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latin typeface="+mn-ea"/>
                <a:ea typeface="+mn-ea"/>
              </a:rPr>
              <a:t>3. 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对函数功能进行代码演示及实验总结。</a:t>
            </a:r>
            <a:endParaRPr lang="en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作业提交：</a:t>
            </a:r>
            <a:r>
              <a:rPr lang="en-US" altLang="zh-CN" u="sng" dirty="0">
                <a:solidFill>
                  <a:srgbClr val="333333"/>
                </a:solidFill>
                <a:latin typeface="+mn-ea"/>
                <a:ea typeface="+mn-ea"/>
              </a:rPr>
              <a:t>pdf</a:t>
            </a:r>
            <a:r>
              <a:rPr lang="zh-CN" altLang="en-US" u="sng" dirty="0">
                <a:solidFill>
                  <a:srgbClr val="333333"/>
                </a:solidFill>
                <a:latin typeface="+mn-ea"/>
                <a:ea typeface="+mn-ea"/>
              </a:rPr>
              <a:t>格式实验文档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，要求</a:t>
            </a:r>
            <a:r>
              <a:rPr lang="zh-CN" altLang="en-US" u="sng" dirty="0">
                <a:solidFill>
                  <a:srgbClr val="333333"/>
                </a:solidFill>
                <a:latin typeface="+mn-ea"/>
                <a:ea typeface="+mn-ea"/>
              </a:rPr>
              <a:t>格式规范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zh-CN" altLang="en-US" u="sng" dirty="0">
                <a:solidFill>
                  <a:srgbClr val="333333"/>
                </a:solidFill>
                <a:latin typeface="+mn-ea"/>
                <a:ea typeface="+mn-ea"/>
              </a:rPr>
              <a:t>内容准确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且实验</a:t>
            </a:r>
            <a:r>
              <a:rPr lang="zh-CN" altLang="en-US" u="sng" dirty="0">
                <a:solidFill>
                  <a:srgbClr val="333333"/>
                </a:solidFill>
                <a:latin typeface="+mn-ea"/>
                <a:ea typeface="+mn-ea"/>
              </a:rPr>
              <a:t>细节充分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截止日期：</a:t>
            </a:r>
            <a:r>
              <a:rPr lang="en-US" altLang="zh-CN" sz="2800" b="1" u="sng" dirty="0" err="1">
                <a:solidFill>
                  <a:srgbClr val="FF0000"/>
                </a:solidFill>
                <a:latin typeface="+mn-ea"/>
                <a:ea typeface="+mn-ea"/>
              </a:rPr>
              <a:t>xxxx</a:t>
            </a:r>
            <a:endParaRPr lang="en-US" altLang="zh-CN" sz="28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7BA0C2-A265-EE38-7F87-B0E3E08CDBEB}"/>
              </a:ext>
            </a:extLst>
          </p:cNvPr>
          <p:cNvSpPr txBox="1"/>
          <p:nvPr/>
        </p:nvSpPr>
        <p:spPr>
          <a:xfrm>
            <a:off x="939282" y="1529492"/>
            <a:ext cx="10368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u="sng" dirty="0">
                <a:solidFill>
                  <a:srgbClr val="FF0000"/>
                </a:solidFill>
                <a:latin typeface="+mn-ea"/>
                <a:ea typeface="+mn-ea"/>
              </a:rPr>
              <a:t>题目：学生成绩管理程序设计</a:t>
            </a:r>
            <a:endParaRPr lang="en-US" altLang="zh-CN" sz="32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088012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1686</TotalTime>
  <Words>2402</Words>
  <Application>Microsoft Office PowerPoint</Application>
  <PresentationFormat>宽屏</PresentationFormat>
  <Paragraphs>208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黑体</vt:lpstr>
      <vt:lpstr>宋体</vt:lpstr>
      <vt:lpstr>微软雅黑</vt:lpstr>
      <vt:lpstr>微软雅黑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一、Python函数</vt:lpstr>
      <vt:lpstr>PowerPoint 演示文稿</vt:lpstr>
      <vt:lpstr>二、Python模块与包</vt:lpstr>
      <vt:lpstr>二、Python模块与包</vt:lpstr>
      <vt:lpstr>二、Python模块与包</vt:lpstr>
      <vt:lpstr>二、Python模块与包</vt:lpstr>
      <vt:lpstr>PowerPoint 演示文稿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三、Python标准库与第三方库</vt:lpstr>
      <vt:lpstr>第4章、函数与模块化编程</vt:lpstr>
      <vt:lpstr>第4章、函数与模块化编程</vt:lpstr>
      <vt:lpstr>三、Python开发环境配置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42</cp:revision>
  <dcterms:created xsi:type="dcterms:W3CDTF">2004-07-09T11:40:27Z</dcterms:created>
  <dcterms:modified xsi:type="dcterms:W3CDTF">2026-10-19T07:41:22Z</dcterms:modified>
</cp:coreProperties>
</file>