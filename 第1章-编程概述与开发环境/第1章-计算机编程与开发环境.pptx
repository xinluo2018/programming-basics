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43"/>
  </p:notesMasterIdLst>
  <p:handoutMasterIdLst>
    <p:handoutMasterId r:id="rId44"/>
  </p:handoutMasterIdLst>
  <p:sldIdLst>
    <p:sldId id="2763" r:id="rId3"/>
    <p:sldId id="2736" r:id="rId4"/>
    <p:sldId id="2731" r:id="rId5"/>
    <p:sldId id="2780" r:id="rId6"/>
    <p:sldId id="2778" r:id="rId7"/>
    <p:sldId id="2725" r:id="rId8"/>
    <p:sldId id="2707" r:id="rId9"/>
    <p:sldId id="2796" r:id="rId10"/>
    <p:sldId id="2708" r:id="rId11"/>
    <p:sldId id="2387" r:id="rId12"/>
    <p:sldId id="2447" r:id="rId13"/>
    <p:sldId id="2794" r:id="rId14"/>
    <p:sldId id="2783" r:id="rId15"/>
    <p:sldId id="2784" r:id="rId16"/>
    <p:sldId id="2788" r:id="rId17"/>
    <p:sldId id="2795" r:id="rId18"/>
    <p:sldId id="2786" r:id="rId19"/>
    <p:sldId id="2709" r:id="rId20"/>
    <p:sldId id="2605" r:id="rId21"/>
    <p:sldId id="2724" r:id="rId22"/>
    <p:sldId id="2790" r:id="rId23"/>
    <p:sldId id="2762" r:id="rId24"/>
    <p:sldId id="2720" r:id="rId25"/>
    <p:sldId id="2721" r:id="rId26"/>
    <p:sldId id="2797" r:id="rId27"/>
    <p:sldId id="2716" r:id="rId28"/>
    <p:sldId id="2757" r:id="rId29"/>
    <p:sldId id="2756" r:id="rId30"/>
    <p:sldId id="2740" r:id="rId31"/>
    <p:sldId id="2745" r:id="rId32"/>
    <p:sldId id="2758" r:id="rId33"/>
    <p:sldId id="2744" r:id="rId34"/>
    <p:sldId id="2746" r:id="rId35"/>
    <p:sldId id="2792" r:id="rId36"/>
    <p:sldId id="2747" r:id="rId37"/>
    <p:sldId id="2748" r:id="rId38"/>
    <p:sldId id="2750" r:id="rId39"/>
    <p:sldId id="2793" r:id="rId40"/>
    <p:sldId id="2741" r:id="rId41"/>
    <p:sldId id="2742" r:id="rId42"/>
  </p:sldIdLst>
  <p:sldSz cx="12192000" cy="6858000"/>
  <p:notesSz cx="6888163" cy="10021888"/>
  <p:custDataLst>
    <p:tags r:id="rId45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7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3E8CC"/>
    <a:srgbClr val="FF00FF"/>
    <a:srgbClr val="333399"/>
    <a:srgbClr val="AEE8CC"/>
    <a:srgbClr val="FFBFBF"/>
    <a:srgbClr val="7A81FF"/>
    <a:srgbClr val="00B050"/>
    <a:srgbClr val="FFC000"/>
    <a:srgbClr val="FF00DF"/>
    <a:srgbClr val="269F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8" autoAdjust="0"/>
    <p:restoredTop sz="83655" autoAdjust="0"/>
  </p:normalViewPr>
  <p:slideViewPr>
    <p:cSldViewPr snapToGrid="0">
      <p:cViewPr varScale="1">
        <p:scale>
          <a:sx n="63" d="100"/>
          <a:sy n="63" d="100"/>
        </p:scale>
        <p:origin x="78" y="183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55" d="100"/>
        <a:sy n="15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57"/>
        <p:guide pos="217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83536" cy="5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9" tIns="46125" rIns="92249" bIns="46125" numCol="1" anchor="t" anchorCtr="0" compatLnSpc="1">
            <a:prstTxWarp prst="textNoShape">
              <a:avLst/>
            </a:prstTxWarp>
          </a:bodyPr>
          <a:lstStyle>
            <a:lvl1pPr algn="l" defTabSz="921421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4628" y="1"/>
            <a:ext cx="2983535" cy="5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9" tIns="46125" rIns="92249" bIns="46125" numCol="1" anchor="t" anchorCtr="0" compatLnSpc="1">
            <a:prstTxWarp prst="textNoShape">
              <a:avLst/>
            </a:prstTxWarp>
          </a:bodyPr>
          <a:lstStyle>
            <a:lvl1pPr algn="r" defTabSz="921421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21338"/>
            <a:ext cx="2983536" cy="5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9" tIns="46125" rIns="92249" bIns="46125" numCol="1" anchor="b" anchorCtr="0" compatLnSpc="1">
            <a:prstTxWarp prst="textNoShape">
              <a:avLst/>
            </a:prstTxWarp>
          </a:bodyPr>
          <a:lstStyle>
            <a:lvl1pPr algn="l" defTabSz="921421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4628" y="9521338"/>
            <a:ext cx="2983535" cy="5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9" tIns="46125" rIns="92249" bIns="46125" numCol="1" anchor="b" anchorCtr="0" compatLnSpc="1">
            <a:prstTxWarp prst="textNoShape">
              <a:avLst/>
            </a:prstTxWarp>
          </a:bodyPr>
          <a:lstStyle>
            <a:lvl1pPr algn="r" defTabSz="921421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83536" cy="5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9" tIns="46125" rIns="92249" bIns="46125" numCol="1" anchor="t" anchorCtr="0" compatLnSpc="1">
            <a:prstTxWarp prst="textNoShape">
              <a:avLst/>
            </a:prstTxWarp>
          </a:bodyPr>
          <a:lstStyle>
            <a:lvl1pPr algn="l" defTabSz="921421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3087" y="1"/>
            <a:ext cx="2983536" cy="5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9" tIns="46125" rIns="92249" bIns="46125" numCol="1" anchor="t" anchorCtr="0" compatLnSpc="1">
            <a:prstTxWarp prst="textNoShape">
              <a:avLst/>
            </a:prstTxWarp>
          </a:bodyPr>
          <a:lstStyle>
            <a:lvl1pPr algn="r" defTabSz="921421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363" y="752475"/>
            <a:ext cx="6680200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509" y="4759891"/>
            <a:ext cx="5511147" cy="4509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9" tIns="46125" rIns="92249" bIns="461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9783"/>
            <a:ext cx="2983536" cy="5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9" tIns="46125" rIns="92249" bIns="46125" numCol="1" anchor="b" anchorCtr="0" compatLnSpc="1">
            <a:prstTxWarp prst="textNoShape">
              <a:avLst/>
            </a:prstTxWarp>
          </a:bodyPr>
          <a:lstStyle>
            <a:lvl1pPr algn="l" defTabSz="921421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3087" y="9519783"/>
            <a:ext cx="2983536" cy="5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9" tIns="46125" rIns="92249" bIns="46125" numCol="1" anchor="b" anchorCtr="0" compatLnSpc="1">
            <a:prstTxWarp prst="textNoShape">
              <a:avLst/>
            </a:prstTxWarp>
          </a:bodyPr>
          <a:lstStyle>
            <a:lvl1pPr algn="r" defTabSz="921421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363" y="752475"/>
            <a:ext cx="6680200" cy="3757613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defTabSz="891997">
              <a:defRPr/>
            </a:pP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0041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8E354-736F-2F02-6EC3-EF936F8E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5258BB-6E88-CC1A-C391-401B1B21E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4DE69E-175C-A4B9-1F64-BE8AA58D3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重点：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；难点：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985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4C0B5-F015-5288-F0CA-A862F9F9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D3C658-43CC-843E-853F-7EE0B6614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9C7225-CBC2-5DEA-3AAD-CF16D69C6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0258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7539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期末考试前进行考前测试，熟悉试题。</a:t>
            </a:r>
          </a:p>
        </p:txBody>
      </p:sp>
    </p:spTree>
    <p:extLst>
      <p:ext uri="{BB962C8B-B14F-4D97-AF65-F5344CB8AC3E}">
        <p14:creationId xmlns:p14="http://schemas.microsoft.com/office/powerpoint/2010/main" val="2247650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0025A-39B5-E029-8BA8-4CBD56AF8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42FCBF-C926-5510-FDD1-22239FC58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2C7A89-AB2E-4E5C-DF29-F4E774341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期末考试前进行考前测试，熟悉试题。</a:t>
            </a:r>
          </a:p>
        </p:txBody>
      </p:sp>
    </p:spTree>
    <p:extLst>
      <p:ext uri="{BB962C8B-B14F-4D97-AF65-F5344CB8AC3E}">
        <p14:creationId xmlns:p14="http://schemas.microsoft.com/office/powerpoint/2010/main" val="1488854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363" y="752475"/>
            <a:ext cx="6680200" cy="3757613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defTabSz="891997"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E65CF-9525-F48B-7663-08A966906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AAC67B-6FA3-0CCB-AAB1-BDA97E230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4A2576-06A2-4AA2-EA21-8FB5DA72F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内存与硬盘的区别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键盘、鼠标用于接收信息，相当于</a:t>
            </a:r>
            <a:r>
              <a:rPr lang="zh-CN" altLang="en-US" baseline="0" dirty="0"/>
              <a:t>人的眼睛、耳朵；</a:t>
            </a:r>
            <a:r>
              <a:rPr lang="zh-CN" altLang="en-US" dirty="0"/>
              <a:t>显示器用于输出信息，相当于人的嘴巴。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1991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B183-F9DA-F0BF-E176-D5C00B4C6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7AE76D-C200-A689-70F5-B5725C4F5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E4A792-53D2-5551-E37F-989F7F5F5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2851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A41F-E8F1-0EDC-6789-361F1229B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05F570-B4A3-15F9-6A9C-D0A175E46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152A9B-2149-B179-0B8A-E8926FFA1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1+2 -&gt; </a:t>
            </a:r>
            <a:r>
              <a:rPr lang="zh-CN" altLang="en-US" dirty="0"/>
              <a:t>操作类型为加，操作数为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</a:p>
        </p:txBody>
      </p:sp>
    </p:spTree>
    <p:extLst>
      <p:ext uri="{BB962C8B-B14F-4D97-AF65-F5344CB8AC3E}">
        <p14:creationId xmlns:p14="http://schemas.microsoft.com/office/powerpoint/2010/main" val="2869527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F52D4-3DC3-99D3-ABDB-660EA992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DFC12A-7B85-D647-55D5-99F9C3C89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77BC3D-BBC2-49A9-7821-D144D3718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全班同学成绩最高分计算编程： </a:t>
            </a:r>
          </a:p>
        </p:txBody>
      </p:sp>
    </p:spTree>
    <p:extLst>
      <p:ext uri="{BB962C8B-B14F-4D97-AF65-F5344CB8AC3E}">
        <p14:creationId xmlns:p14="http://schemas.microsoft.com/office/powerpoint/2010/main" val="3673617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FA5DE-C5B7-413F-7C50-C062EFB5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AFFCA9-38BA-63DE-7D03-40C4B95BF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AF9CDC-6AF9-9D10-504E-77884ABB8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5789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41AC9-7DC1-75BC-1AC1-9A763709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48890C-DC5F-D11F-0C61-B6CDAD3A3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84B4ED-FBB3-B948-E1F0-2F418A227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5546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55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2999" indent="-222999">
              <a:buAutoNum type="arabicPeriod"/>
            </a:pPr>
            <a:r>
              <a:rPr lang="zh-CN" altLang="en-US" dirty="0"/>
              <a:t>解释型：对应编译型</a:t>
            </a:r>
            <a:r>
              <a:rPr lang="en-US" altLang="zh-CN" dirty="0"/>
              <a:t>(</a:t>
            </a:r>
            <a:r>
              <a:rPr lang="zh-CN" altLang="en-US" dirty="0"/>
              <a:t>需先将代码编译为机器码再运行</a:t>
            </a:r>
            <a:r>
              <a:rPr lang="en-US" altLang="zh-CN" dirty="0"/>
              <a:t>)</a:t>
            </a:r>
            <a:r>
              <a:rPr lang="zh-CN" altLang="en-US" dirty="0"/>
              <a:t>。通过解释器解释，直接执行代码（编译和运行是连续步骤）。</a:t>
            </a:r>
            <a:endParaRPr lang="en-US" altLang="zh-CN" dirty="0"/>
          </a:p>
          <a:p>
            <a:pPr marL="222999" indent="-222999">
              <a:buAutoNum type="arabicPeriod"/>
            </a:pPr>
            <a:r>
              <a:rPr lang="zh-CN" altLang="en-US" dirty="0"/>
              <a:t>高级编程语言：高度封装的编程语言。以人类日常语言为基础，对人类具有较高可读性的编程语言。</a:t>
            </a:r>
            <a:endParaRPr lang="en-US" altLang="zh-CN" dirty="0"/>
          </a:p>
          <a:p>
            <a:pPr marL="222999" indent="-222999">
              <a:buAutoNum type="arabicPeriod"/>
            </a:pPr>
            <a:r>
              <a:rPr lang="zh-CN" altLang="en-US" dirty="0"/>
              <a:t>通用：能够用于不同领域的编程语言。反例，</a:t>
            </a:r>
            <a:r>
              <a:rPr lang="en-US" altLang="zh-CN" dirty="0"/>
              <a:t>ENVI-IDL</a:t>
            </a:r>
            <a:r>
              <a:rPr lang="zh-CN" altLang="en-US" dirty="0"/>
              <a:t>编程语言</a:t>
            </a:r>
            <a:endParaRPr lang="en-US" altLang="zh-CN" dirty="0"/>
          </a:p>
          <a:p>
            <a:pPr marL="222999" indent="-222999">
              <a:buAutoNum type="arabicPeriod"/>
            </a:pPr>
            <a:r>
              <a:rPr lang="zh-CN" altLang="en-US" dirty="0"/>
              <a:t>范罗苏姆头发茂盛。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004269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2999" indent="-222999"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70109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2999" indent="-222999"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49102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0258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5706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160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1166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8990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8733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6881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2419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7283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6237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3132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B58C3-1BBF-B7DA-86E5-DE251F1C0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8618FF-964A-CC9D-BD8A-FADA992AD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3BE027-06F1-EB06-A0B8-17B970C3F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0880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229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236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9435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3262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6363" y="752475"/>
            <a:ext cx="6680200" cy="37576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05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8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8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8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8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8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8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8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7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9" y="1087440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40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6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639346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7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9" y="115891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5" y="115891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2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90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" y="3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91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9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8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wiki/Help:%E8%8B%B1%E8%AA%9E%E5%9C%8B%E9%9A%9B%E9%9F%B3%E6%A8%99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4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6000" b="1" dirty="0">
                <a:solidFill>
                  <a:srgbClr val="FF0000"/>
                </a:solidFill>
                <a:latin typeface="微软雅黑"/>
                <a:ea typeface="微软雅黑"/>
              </a:rPr>
              <a:t>地学编程基础</a:t>
            </a:r>
            <a:endParaRPr lang="zh-CN" altLang="zh-CN" sz="60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32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7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21" y="5474698"/>
            <a:ext cx="862795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err="1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2000" dirty="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20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6" y="243147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4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859109" y="243144"/>
            <a:ext cx="3485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CN" sz="1800" b="1" dirty="0">
                <a:solidFill>
                  <a:prstClr val="black"/>
                </a:solidFill>
                <a:latin typeface="微软雅黑"/>
                <a:ea typeface="微软雅黑"/>
              </a:rPr>
              <a:t>云南大学</a:t>
            </a:r>
            <a:r>
              <a:rPr lang="en-US" altLang="zh-CN" sz="1800" b="1" dirty="0">
                <a:solidFill>
                  <a:prstClr val="black"/>
                </a:solidFill>
                <a:latin typeface="微软雅黑"/>
                <a:ea typeface="微软雅黑"/>
              </a:rPr>
              <a:t>《</a:t>
            </a:r>
            <a:r>
              <a:rPr lang="en-CN" sz="1800" b="1" dirty="0">
                <a:solidFill>
                  <a:prstClr val="black"/>
                </a:solidFill>
                <a:latin typeface="微软雅黑"/>
                <a:ea typeface="微软雅黑"/>
              </a:rPr>
              <a:t> </a:t>
            </a:r>
            <a:r>
              <a:rPr lang="zh-CN" altLang="en-US" sz="1800" b="1" dirty="0">
                <a:solidFill>
                  <a:prstClr val="black"/>
                </a:solidFill>
                <a:latin typeface="微软雅黑"/>
                <a:ea typeface="微软雅黑"/>
              </a:rPr>
              <a:t>地学</a:t>
            </a:r>
            <a:r>
              <a:rPr lang="en-CN" sz="1800" b="1" dirty="0">
                <a:solidFill>
                  <a:prstClr val="black"/>
                </a:solidFill>
                <a:latin typeface="微软雅黑"/>
                <a:ea typeface="微软雅黑"/>
              </a:rPr>
              <a:t>编程基础</a:t>
            </a:r>
            <a:r>
              <a:rPr lang="en-US" altLang="zh-CN" sz="1800" b="1" dirty="0">
                <a:solidFill>
                  <a:prstClr val="black"/>
                </a:solidFill>
                <a:latin typeface="微软雅黑"/>
                <a:ea typeface="微软雅黑"/>
              </a:rPr>
              <a:t>》</a:t>
            </a:r>
            <a:r>
              <a:rPr lang="en-CN" sz="1800" b="1" dirty="0">
                <a:solidFill>
                  <a:prstClr val="black"/>
                </a:solidFill>
                <a:latin typeface="微软雅黑"/>
                <a:ea typeface="微软雅黑"/>
              </a:rPr>
              <a:t>课程</a:t>
            </a:r>
          </a:p>
        </p:txBody>
      </p:sp>
    </p:spTree>
    <p:extLst>
      <p:ext uri="{BB962C8B-B14F-4D97-AF65-F5344CB8AC3E}">
        <p14:creationId xmlns:p14="http://schemas.microsoft.com/office/powerpoint/2010/main" val="21613733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220" y="3429000"/>
            <a:ext cx="1218578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7166" y="3790407"/>
            <a:ext cx="94094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课程简介及考核</a:t>
            </a:r>
          </a:p>
        </p:txBody>
      </p:sp>
      <p:sp>
        <p:nvSpPr>
          <p:cNvPr id="8" name="矩形 7"/>
          <p:cNvSpPr/>
          <p:nvPr/>
        </p:nvSpPr>
        <p:spPr>
          <a:xfrm>
            <a:off x="6220" y="4972049"/>
            <a:ext cx="1218578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779219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11967" y="8526"/>
            <a:ext cx="10425407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课程简介及考核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864637" y="941973"/>
            <a:ext cx="9527738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333333"/>
                </a:solidFill>
                <a:latin typeface="微软雅黑"/>
                <a:ea typeface="微软雅黑"/>
              </a:rPr>
              <a:t>2.</a:t>
            </a:r>
            <a:r>
              <a:rPr lang="zh-CN" altLang="en-US" sz="2800" b="1" dirty="0">
                <a:solidFill>
                  <a:srgbClr val="333333"/>
                </a:solidFill>
                <a:latin typeface="微软雅黑"/>
                <a:ea typeface="微软雅黑"/>
              </a:rPr>
              <a:t> 课程简介</a:t>
            </a:r>
            <a:endParaRPr lang="en-US" altLang="zh-CN" sz="28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1AD3056-DAFE-2FA5-1727-57448A5D33D3}"/>
              </a:ext>
            </a:extLst>
          </p:cNvPr>
          <p:cNvGrpSpPr/>
          <p:nvPr/>
        </p:nvGrpSpPr>
        <p:grpSpPr>
          <a:xfrm>
            <a:off x="6145763" y="1815928"/>
            <a:ext cx="5013650" cy="2342244"/>
            <a:chOff x="4872212" y="1813805"/>
            <a:chExt cx="3847718" cy="234224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BBAA703-51E4-257D-C399-D15E0830CE5A}"/>
                </a:ext>
              </a:extLst>
            </p:cNvPr>
            <p:cNvSpPr/>
            <p:nvPr/>
          </p:nvSpPr>
          <p:spPr>
            <a:xfrm>
              <a:off x="4872212" y="2275470"/>
              <a:ext cx="3847718" cy="1880579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>
                <a:defRPr/>
              </a:pPr>
              <a:endParaRPr lang="en-CN" sz="28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EFF62F7-44D4-EF31-89C6-DC582FE71078}"/>
                </a:ext>
              </a:extLst>
            </p:cNvPr>
            <p:cNvSpPr txBox="1"/>
            <p:nvPr/>
          </p:nvSpPr>
          <p:spPr>
            <a:xfrm>
              <a:off x="4872212" y="1813805"/>
              <a:ext cx="3847718" cy="52322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srgbClr val="333333"/>
                  </a:solidFill>
                  <a:latin typeface="+mn-ea"/>
                  <a:ea typeface="+mn-ea"/>
                </a:rPr>
                <a:t>能力目标</a:t>
              </a:r>
              <a:endParaRPr lang="en-CN" sz="2800" dirty="0">
                <a:solidFill>
                  <a:prstClr val="white"/>
                </a:solidFill>
                <a:latin typeface="+mn-ea"/>
                <a:ea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FB6A072-1361-9365-BA98-28D65C319674}"/>
                </a:ext>
              </a:extLst>
            </p:cNvPr>
            <p:cNvSpPr txBox="1"/>
            <p:nvPr/>
          </p:nvSpPr>
          <p:spPr>
            <a:xfrm>
              <a:off x="4872212" y="2343898"/>
              <a:ext cx="3847718" cy="168905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zh-CN" altLang="en-US" kern="100" dirty="0">
                  <a:solidFill>
                    <a:prstClr val="black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通过编程学习与实践，培养学生程序设计过程中独立分析问题、解决问题的能力。</a:t>
              </a:r>
              <a:r>
                <a:rPr lang="en-CN" kern="100" dirty="0">
                  <a:solidFill>
                    <a:prstClr val="black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864012-C4CF-A34C-709C-92F65DF55D08}"/>
              </a:ext>
            </a:extLst>
          </p:cNvPr>
          <p:cNvGrpSpPr/>
          <p:nvPr/>
        </p:nvGrpSpPr>
        <p:grpSpPr>
          <a:xfrm>
            <a:off x="721567" y="1815928"/>
            <a:ext cx="4944404" cy="2342244"/>
            <a:chOff x="934277" y="1813805"/>
            <a:chExt cx="3479357" cy="23422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AD88D9-3190-96B8-F01F-EBA4FDE6CAC4}"/>
                </a:ext>
              </a:extLst>
            </p:cNvPr>
            <p:cNvSpPr/>
            <p:nvPr/>
          </p:nvSpPr>
          <p:spPr>
            <a:xfrm>
              <a:off x="934277" y="2275470"/>
              <a:ext cx="3479357" cy="1880579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>
                <a:defRPr/>
              </a:pPr>
              <a:endParaRPr lang="en-CN" sz="28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5276C4D-4616-1D5E-F402-7202C64C25EA}"/>
                </a:ext>
              </a:extLst>
            </p:cNvPr>
            <p:cNvSpPr txBox="1"/>
            <p:nvPr/>
          </p:nvSpPr>
          <p:spPr>
            <a:xfrm>
              <a:off x="934277" y="1813805"/>
              <a:ext cx="3479357" cy="52322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CN" sz="2800" b="1" dirty="0">
                  <a:solidFill>
                    <a:srgbClr val="333333"/>
                  </a:solidFill>
                  <a:latin typeface="+mn-ea"/>
                  <a:ea typeface="+mn-ea"/>
                </a:rPr>
                <a:t>课程</a:t>
              </a:r>
              <a:r>
                <a:rPr lang="zh-CN" altLang="en-US" sz="2800" b="1" dirty="0">
                  <a:solidFill>
                    <a:srgbClr val="333333"/>
                  </a:solidFill>
                  <a:latin typeface="+mn-ea"/>
                  <a:ea typeface="+mn-ea"/>
                </a:rPr>
                <a:t>知识目标</a:t>
              </a:r>
              <a:endParaRPr lang="en-CN" sz="2800" dirty="0">
                <a:solidFill>
                  <a:prstClr val="white"/>
                </a:solidFill>
                <a:latin typeface="+mn-ea"/>
                <a:ea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9540756-8A6C-BDC2-5D37-C7059804CC0F}"/>
                </a:ext>
              </a:extLst>
            </p:cNvPr>
            <p:cNvSpPr txBox="1"/>
            <p:nvPr/>
          </p:nvSpPr>
          <p:spPr>
            <a:xfrm>
              <a:off x="1005199" y="2275470"/>
              <a:ext cx="3408435" cy="168905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zh-CN" altLang="en-US" kern="100" dirty="0">
                  <a:solidFill>
                    <a:prstClr val="black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掌握</a:t>
              </a:r>
              <a:r>
                <a:rPr lang="en-US" kern="100" dirty="0">
                  <a:solidFill>
                    <a:prstClr val="black"/>
                  </a:solidFill>
                  <a:latin typeface="+mn-ea"/>
                  <a:ea typeface="+mn-ea"/>
                </a:rPr>
                <a:t>Python</a:t>
              </a:r>
              <a:r>
                <a:rPr lang="zh-CN" altLang="en-US" kern="100" dirty="0">
                  <a:solidFill>
                    <a:prstClr val="black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编程基本数据类型、基础编程语法、以及能够利用</a:t>
              </a:r>
              <a:r>
                <a:rPr lang="en-US" kern="100" dirty="0">
                  <a:solidFill>
                    <a:prstClr val="black"/>
                  </a:solidFill>
                  <a:latin typeface="+mn-ea"/>
                  <a:ea typeface="+mn-ea"/>
                </a:rPr>
                <a:t>Python</a:t>
              </a:r>
              <a:r>
                <a:rPr lang="zh-CN" altLang="en-US" kern="100" dirty="0">
                  <a:solidFill>
                    <a:prstClr val="black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编程进行常用数据处理。</a:t>
              </a:r>
              <a:r>
                <a:rPr lang="en-CN" dirty="0">
                  <a:solidFill>
                    <a:prstClr val="black"/>
                  </a:solidFill>
                  <a:latin typeface="+mn-ea"/>
                  <a:ea typeface="+mn-ea"/>
                </a:rPr>
                <a:t> 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07A09A-010F-8E0D-AD3F-71E27BBFCC6B}"/>
              </a:ext>
            </a:extLst>
          </p:cNvPr>
          <p:cNvGrpSpPr/>
          <p:nvPr/>
        </p:nvGrpSpPr>
        <p:grpSpPr>
          <a:xfrm>
            <a:off x="3259495" y="4561969"/>
            <a:ext cx="5716554" cy="1880579"/>
            <a:chOff x="2750906" y="4476512"/>
            <a:chExt cx="3642187" cy="188057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ECFF6F1-63BD-D70B-713F-66E8387809FA}"/>
                </a:ext>
              </a:extLst>
            </p:cNvPr>
            <p:cNvSpPr/>
            <p:nvPr/>
          </p:nvSpPr>
          <p:spPr>
            <a:xfrm>
              <a:off x="2750906" y="4938177"/>
              <a:ext cx="3642187" cy="141891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>
                <a:defRPr/>
              </a:pPr>
              <a:endParaRPr lang="en-CN" sz="28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2653A42-08C7-57F2-BA63-62A6EAA24390}"/>
                </a:ext>
              </a:extLst>
            </p:cNvPr>
            <p:cNvSpPr txBox="1"/>
            <p:nvPr/>
          </p:nvSpPr>
          <p:spPr>
            <a:xfrm>
              <a:off x="2750907" y="4476512"/>
              <a:ext cx="3642186" cy="52322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srgbClr val="333333"/>
                  </a:solidFill>
                  <a:latin typeface="+mn-ea"/>
                  <a:ea typeface="+mn-ea"/>
                </a:rPr>
                <a:t>素质目标</a:t>
              </a:r>
              <a:endParaRPr lang="en-CN" sz="2800" dirty="0">
                <a:solidFill>
                  <a:prstClr val="white"/>
                </a:solidFill>
                <a:latin typeface="+mn-ea"/>
                <a:ea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4258FF3-EAC1-3E64-A90D-5618C547999D}"/>
                </a:ext>
              </a:extLst>
            </p:cNvPr>
            <p:cNvSpPr txBox="1"/>
            <p:nvPr/>
          </p:nvSpPr>
          <p:spPr>
            <a:xfrm>
              <a:off x="2750906" y="5000679"/>
              <a:ext cx="3642186" cy="113505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zh-CN" altLang="en-US" kern="100" dirty="0">
                  <a:solidFill>
                    <a:prstClr val="black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结合专业实践，激发学生对所学专业的自信心和培养科技报国的情怀。</a:t>
              </a:r>
              <a:r>
                <a:rPr lang="en-CN" kern="100" dirty="0">
                  <a:solidFill>
                    <a:prstClr val="black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969198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4999B-2CD7-A34A-FC71-E4135C35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5F39649-5931-8585-01CC-CDEB8B37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27" y="8526"/>
            <a:ext cx="10437847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课程简介及考核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8F797-50A6-8739-5FD6-65BF3CCA958D}"/>
              </a:ext>
            </a:extLst>
          </p:cNvPr>
          <p:cNvSpPr txBox="1"/>
          <p:nvPr/>
        </p:nvSpPr>
        <p:spPr>
          <a:xfrm>
            <a:off x="304801" y="898431"/>
            <a:ext cx="2855842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 课程简介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C1218ED-CD88-4DA7-1B09-957D34E85230}"/>
              </a:ext>
            </a:extLst>
          </p:cNvPr>
          <p:cNvSpPr/>
          <p:nvPr/>
        </p:nvSpPr>
        <p:spPr>
          <a:xfrm>
            <a:off x="5643398" y="2820821"/>
            <a:ext cx="1204877" cy="1869371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endParaRPr lang="en-CN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DC718-855E-90F5-F676-35648ADE4C2C}"/>
              </a:ext>
            </a:extLst>
          </p:cNvPr>
          <p:cNvSpPr txBox="1"/>
          <p:nvPr/>
        </p:nvSpPr>
        <p:spPr>
          <a:xfrm>
            <a:off x="1690931" y="1839267"/>
            <a:ext cx="3145968" cy="815608"/>
          </a:xfrm>
          <a:prstGeom prst="rect">
            <a:avLst/>
          </a:prstGeom>
          <a:solidFill>
            <a:srgbClr val="C3E8CC">
              <a:alpha val="63000"/>
            </a:srgb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地理信息系统系列课程</a:t>
            </a:r>
            <a:endParaRPr lang="en-US" altLang="zh-CN" sz="2000" b="1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zh-CN" altLang="en-US" sz="18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1800" dirty="0">
                <a:solidFill>
                  <a:schemeClr val="bg2"/>
                </a:solidFill>
                <a:latin typeface="+mn-ea"/>
                <a:ea typeface="+mn-ea"/>
              </a:rPr>
              <a:t>ArcGIS/QGIS</a:t>
            </a:r>
            <a:r>
              <a:rPr lang="zh-CN" altLang="en-US" sz="1800" dirty="0">
                <a:solidFill>
                  <a:schemeClr val="bg2"/>
                </a:solidFill>
                <a:latin typeface="+mn-ea"/>
                <a:ea typeface="+mn-ea"/>
              </a:rPr>
              <a:t>）</a:t>
            </a:r>
            <a:endParaRPr lang="en-CN" sz="1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D22FA7-69F7-676B-D5A7-86B540F7423C}"/>
              </a:ext>
            </a:extLst>
          </p:cNvPr>
          <p:cNvSpPr txBox="1"/>
          <p:nvPr/>
        </p:nvSpPr>
        <p:spPr>
          <a:xfrm>
            <a:off x="1690931" y="3124832"/>
            <a:ext cx="3145968" cy="815608"/>
          </a:xfrm>
          <a:prstGeom prst="rect">
            <a:avLst/>
          </a:prstGeom>
          <a:solidFill>
            <a:srgbClr val="C3E8CC">
              <a:alpha val="63000"/>
            </a:srgb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遥感系列课程</a:t>
            </a:r>
            <a:endParaRPr lang="en-US" altLang="zh-CN" sz="2000" b="1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zh-CN" altLang="en-US" sz="18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18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1800" dirty="0">
                <a:solidFill>
                  <a:schemeClr val="bg2"/>
                </a:solidFill>
                <a:latin typeface="+mn-ea"/>
                <a:ea typeface="+mn-ea"/>
              </a:rPr>
              <a:t>数据处理）</a:t>
            </a:r>
            <a:endParaRPr lang="en-CN" sz="1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74808-5EA3-C4F5-99A9-FD0480A0006E}"/>
              </a:ext>
            </a:extLst>
          </p:cNvPr>
          <p:cNvSpPr txBox="1"/>
          <p:nvPr/>
        </p:nvSpPr>
        <p:spPr>
          <a:xfrm>
            <a:off x="1690931" y="4367668"/>
            <a:ext cx="3145968" cy="815608"/>
          </a:xfrm>
          <a:prstGeom prst="rect">
            <a:avLst/>
          </a:prstGeom>
          <a:solidFill>
            <a:srgbClr val="C3E8CC">
              <a:alpha val="63000"/>
            </a:srgb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CN" altLang="zh-CN" sz="2000" b="1" dirty="0">
                <a:solidFill>
                  <a:schemeClr val="bg2"/>
                </a:solidFill>
                <a:latin typeface="+mn-ea"/>
                <a:ea typeface="+mn-ea"/>
              </a:rPr>
              <a:t>C</a:t>
            </a:r>
            <a:r>
              <a:rPr lang="en-US" altLang="zh-CN" sz="2000" b="1" dirty="0">
                <a:solidFill>
                  <a:schemeClr val="bg2"/>
                </a:solidFill>
                <a:latin typeface="+mn-ea"/>
                <a:ea typeface="+mn-ea"/>
              </a:rPr>
              <a:t>#</a:t>
            </a:r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程序设计</a:t>
            </a:r>
            <a:r>
              <a:rPr lang="zh-CN" altLang="en-US" sz="2000" dirty="0">
                <a:solidFill>
                  <a:schemeClr val="bg2"/>
                </a:solidFill>
                <a:latin typeface="+mn-ea"/>
                <a:ea typeface="+mn-ea"/>
              </a:rPr>
              <a:t>（地信）</a:t>
            </a:r>
            <a:endParaRPr lang="en-US" altLang="zh-CN" sz="2000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zh-CN" altLang="en-US" sz="1800" dirty="0">
                <a:solidFill>
                  <a:schemeClr val="bg2"/>
                </a:solidFill>
                <a:latin typeface="+mn-ea"/>
                <a:ea typeface="+mn-ea"/>
              </a:rPr>
              <a:t>（面向对象编程）</a:t>
            </a:r>
            <a:endParaRPr lang="en-CN" sz="2000" dirty="0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8401CF-40DE-C4EA-CB5D-EE83E264CCBD}"/>
              </a:ext>
            </a:extLst>
          </p:cNvPr>
          <p:cNvSpPr txBox="1"/>
          <p:nvPr/>
        </p:nvSpPr>
        <p:spPr>
          <a:xfrm>
            <a:off x="7673012" y="1839267"/>
            <a:ext cx="3053583" cy="815608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333333"/>
                </a:solidFill>
                <a:latin typeface="+mn-ea"/>
                <a:ea typeface="+mn-ea"/>
              </a:rPr>
              <a:t>开源</a:t>
            </a:r>
            <a:r>
              <a:rPr lang="en-US" altLang="zh-CN" sz="2000" b="1" dirty="0">
                <a:solidFill>
                  <a:srgbClr val="333333"/>
                </a:solidFill>
                <a:latin typeface="+mn-ea"/>
                <a:ea typeface="+mn-ea"/>
              </a:rPr>
              <a:t>GIS</a:t>
            </a:r>
          </a:p>
          <a:p>
            <a:r>
              <a:rPr lang="zh-CN" altLang="en-US" sz="18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18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1800" dirty="0">
                <a:solidFill>
                  <a:srgbClr val="333333"/>
                </a:solidFill>
                <a:latin typeface="+mn-ea"/>
                <a:ea typeface="+mn-ea"/>
              </a:rPr>
              <a:t>为主要语言）</a:t>
            </a:r>
            <a:endParaRPr lang="en-C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B09C51-2313-6BD5-AF04-C823874C6362}"/>
              </a:ext>
            </a:extLst>
          </p:cNvPr>
          <p:cNvSpPr txBox="1"/>
          <p:nvPr/>
        </p:nvSpPr>
        <p:spPr>
          <a:xfrm>
            <a:off x="7673012" y="3124832"/>
            <a:ext cx="3053583" cy="861774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333333"/>
                </a:solidFill>
                <a:latin typeface="+mn-ea"/>
                <a:ea typeface="+mn-ea"/>
              </a:rPr>
              <a:t>数学建模与创新实验</a:t>
            </a:r>
            <a:r>
              <a:rPr lang="en-CN" sz="20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endParaRPr lang="en-US" sz="2000" b="1" dirty="0">
              <a:solidFill>
                <a:srgbClr val="333333"/>
              </a:solidFill>
              <a:latin typeface="+mn-ea"/>
              <a:ea typeface="+mn-ea"/>
            </a:endParaRPr>
          </a:p>
          <a:p>
            <a:r>
              <a:rPr lang="zh-CN" altLang="en-US" sz="2000" b="1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0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000" b="1" dirty="0">
                <a:solidFill>
                  <a:srgbClr val="333333"/>
                </a:solidFill>
                <a:latin typeface="+mn-ea"/>
                <a:ea typeface="+mn-ea"/>
              </a:rPr>
              <a:t>编程）</a:t>
            </a:r>
            <a:endParaRPr lang="en-US" altLang="zh-CN" sz="20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20D248-1E7C-C875-3EC8-47C2FEF20901}"/>
              </a:ext>
            </a:extLst>
          </p:cNvPr>
          <p:cNvSpPr txBox="1"/>
          <p:nvPr/>
        </p:nvSpPr>
        <p:spPr>
          <a:xfrm>
            <a:off x="7673012" y="4367668"/>
            <a:ext cx="3053583" cy="815608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333333"/>
                </a:solidFill>
                <a:latin typeface="+mn-ea"/>
                <a:ea typeface="+mn-ea"/>
              </a:rPr>
              <a:t>空间数据挖掘</a:t>
            </a:r>
            <a:r>
              <a:rPr lang="en-CN" sz="20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endParaRPr lang="en-US" altLang="zh-CN" sz="2000" b="1" dirty="0">
              <a:solidFill>
                <a:srgbClr val="333333"/>
              </a:solidFill>
              <a:latin typeface="+mn-ea"/>
              <a:ea typeface="+mn-ea"/>
            </a:endParaRPr>
          </a:p>
          <a:p>
            <a:r>
              <a:rPr lang="zh-CN" altLang="en-US" sz="18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18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1800" dirty="0">
                <a:solidFill>
                  <a:srgbClr val="333333"/>
                </a:solidFill>
                <a:latin typeface="+mn-ea"/>
                <a:ea typeface="+mn-ea"/>
              </a:rPr>
              <a:t>为主要语言）</a:t>
            </a:r>
            <a:endParaRPr lang="en-CN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3CECA0-3E9E-3905-9A1A-ECDF7DC58C66}"/>
              </a:ext>
            </a:extLst>
          </p:cNvPr>
          <p:cNvSpPr txBox="1"/>
          <p:nvPr/>
        </p:nvSpPr>
        <p:spPr>
          <a:xfrm>
            <a:off x="1468016" y="6079147"/>
            <a:ext cx="3490685" cy="461665"/>
          </a:xfrm>
          <a:prstGeom prst="rect">
            <a:avLst/>
          </a:prstGeom>
          <a:solidFill>
            <a:srgbClr val="C3E8CC">
              <a:alpha val="63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专业必修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EF6245-6599-9088-7D0D-F8C192ED6344}"/>
              </a:ext>
            </a:extLst>
          </p:cNvPr>
          <p:cNvSpPr txBox="1"/>
          <p:nvPr/>
        </p:nvSpPr>
        <p:spPr>
          <a:xfrm>
            <a:off x="7564817" y="6079147"/>
            <a:ext cx="3327118" cy="461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专业选修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119832-6590-6470-A3BE-812A7B2913B4}"/>
              </a:ext>
            </a:extLst>
          </p:cNvPr>
          <p:cNvSpPr/>
          <p:nvPr/>
        </p:nvSpPr>
        <p:spPr>
          <a:xfrm>
            <a:off x="1468016" y="1701478"/>
            <a:ext cx="3490685" cy="4097438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en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D5FC2C-D5A6-D491-420E-955FB83C67CB}"/>
              </a:ext>
            </a:extLst>
          </p:cNvPr>
          <p:cNvSpPr/>
          <p:nvPr/>
        </p:nvSpPr>
        <p:spPr>
          <a:xfrm>
            <a:off x="7564817" y="1696556"/>
            <a:ext cx="3327118" cy="4065034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en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F7AD13-353D-3CF7-F234-0FB86FA3C8F0}"/>
              </a:ext>
            </a:extLst>
          </p:cNvPr>
          <p:cNvSpPr txBox="1"/>
          <p:nvPr/>
        </p:nvSpPr>
        <p:spPr>
          <a:xfrm>
            <a:off x="2914898" y="5266172"/>
            <a:ext cx="1192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2"/>
                </a:solidFill>
              </a:rPr>
              <a:t>。。。</a:t>
            </a:r>
            <a:endParaRPr lang="en-CN" sz="2000" dirty="0">
              <a:solidFill>
                <a:schemeClr val="bg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B78CFB-1A6E-B039-C30A-A4746DD137DE}"/>
              </a:ext>
            </a:extLst>
          </p:cNvPr>
          <p:cNvSpPr txBox="1"/>
          <p:nvPr/>
        </p:nvSpPr>
        <p:spPr>
          <a:xfrm>
            <a:off x="8434633" y="5273239"/>
            <a:ext cx="1183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2"/>
                </a:solidFill>
              </a:rPr>
              <a:t>。。。</a:t>
            </a:r>
            <a:endParaRPr lang="en-CN" sz="2000" dirty="0">
              <a:solidFill>
                <a:schemeClr val="bg2"/>
              </a:solidFill>
            </a:endParaRP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3C095241-A3D3-DA75-8F37-0D51EEBE3B65}"/>
              </a:ext>
            </a:extLst>
          </p:cNvPr>
          <p:cNvSpPr/>
          <p:nvPr/>
        </p:nvSpPr>
        <p:spPr>
          <a:xfrm>
            <a:off x="6884980" y="3478218"/>
            <a:ext cx="638163" cy="543958"/>
          </a:xfrm>
          <a:prstGeom prst="rightArrow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lIns="0" rtlCol="0" anchor="ctr">
            <a:noAutofit/>
          </a:bodyPr>
          <a:lstStyle/>
          <a:p>
            <a:pPr algn="l"/>
            <a:endParaRPr lang="en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F389DEE7-7A43-FA4B-EAE6-635A3C16885D}"/>
              </a:ext>
            </a:extLst>
          </p:cNvPr>
          <p:cNvSpPr/>
          <p:nvPr/>
        </p:nvSpPr>
        <p:spPr>
          <a:xfrm rot="10800000">
            <a:off x="5003966" y="3476339"/>
            <a:ext cx="618320" cy="543958"/>
          </a:xfrm>
          <a:prstGeom prst="rightArrow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lIns="0" rtlCol="0" anchor="ctr">
            <a:noAutofit/>
          </a:bodyPr>
          <a:lstStyle/>
          <a:p>
            <a:pPr algn="l"/>
            <a:endParaRPr lang="en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D8486D-13ED-BEE5-CBEB-B02B5F7F78B0}"/>
              </a:ext>
            </a:extLst>
          </p:cNvPr>
          <p:cNvSpPr txBox="1"/>
          <p:nvPr/>
        </p:nvSpPr>
        <p:spPr>
          <a:xfrm>
            <a:off x="5640481" y="3055619"/>
            <a:ext cx="12048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地学</a:t>
            </a:r>
            <a:r>
              <a:rPr lang="en-CN" sz="28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编程基础</a:t>
            </a:r>
          </a:p>
        </p:txBody>
      </p:sp>
    </p:spTree>
    <p:extLst>
      <p:ext uri="{BB962C8B-B14F-4D97-AF65-F5344CB8AC3E}">
        <p14:creationId xmlns:p14="http://schemas.microsoft.com/office/powerpoint/2010/main" val="225097284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598BC-7102-480B-03A5-E85391F31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BD6782B-D6FD-CEB4-B1FD-4D3116257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课程简介及考核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5E203-515D-C64E-467D-BE35DAB2DCBB}"/>
              </a:ext>
            </a:extLst>
          </p:cNvPr>
          <p:cNvSpPr txBox="1"/>
          <p:nvPr/>
        </p:nvSpPr>
        <p:spPr>
          <a:xfrm>
            <a:off x="522514" y="941973"/>
            <a:ext cx="9869861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333333"/>
                </a:solidFill>
                <a:latin typeface="微软雅黑"/>
                <a:ea typeface="微软雅黑"/>
              </a:rPr>
              <a:t>3.</a:t>
            </a:r>
            <a:r>
              <a:rPr lang="zh-CN" altLang="en-US" sz="2800" b="1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lang="en-US" altLang="zh-CN" sz="2800" b="1" dirty="0">
                <a:solidFill>
                  <a:srgbClr val="333333"/>
                </a:solidFill>
                <a:latin typeface="微软雅黑"/>
                <a:ea typeface="微软雅黑"/>
              </a:rPr>
              <a:t>《</a:t>
            </a:r>
            <a:r>
              <a:rPr lang="zh-CN" altLang="en-US" sz="2800" b="1" dirty="0">
                <a:solidFill>
                  <a:srgbClr val="333333"/>
                </a:solidFill>
                <a:latin typeface="微软雅黑"/>
                <a:ea typeface="微软雅黑"/>
              </a:rPr>
              <a:t>地学编程基础</a:t>
            </a:r>
            <a:r>
              <a:rPr lang="en-US" altLang="zh-CN" sz="2800" b="1" dirty="0">
                <a:solidFill>
                  <a:srgbClr val="333333"/>
                </a:solidFill>
                <a:latin typeface="微软雅黑"/>
                <a:ea typeface="微软雅黑"/>
              </a:rPr>
              <a:t>》</a:t>
            </a:r>
            <a:r>
              <a:rPr lang="zh-CN" altLang="en-US" sz="2800" b="1" dirty="0">
                <a:solidFill>
                  <a:srgbClr val="333333"/>
                </a:solidFill>
                <a:latin typeface="微软雅黑"/>
                <a:ea typeface="微软雅黑"/>
              </a:rPr>
              <a:t>课程教学重难点及进度安排</a:t>
            </a:r>
            <a:endParaRPr lang="en-US" altLang="zh-CN" sz="28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B972E6-0DD6-CD43-EA1B-D4138981C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533769"/>
              </p:ext>
            </p:extLst>
          </p:nvPr>
        </p:nvGraphicFramePr>
        <p:xfrm>
          <a:off x="2182494" y="1621333"/>
          <a:ext cx="9058602" cy="4827686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459429">
                  <a:extLst>
                    <a:ext uri="{9D8B030D-6E8A-4147-A177-3AD203B41FA5}">
                      <a16:colId xmlns:a16="http://schemas.microsoft.com/office/drawing/2014/main" val="541523726"/>
                    </a:ext>
                  </a:extLst>
                </a:gridCol>
                <a:gridCol w="711955">
                  <a:extLst>
                    <a:ext uri="{9D8B030D-6E8A-4147-A177-3AD203B41FA5}">
                      <a16:colId xmlns:a16="http://schemas.microsoft.com/office/drawing/2014/main" val="686157870"/>
                    </a:ext>
                  </a:extLst>
                </a:gridCol>
                <a:gridCol w="5887218">
                  <a:extLst>
                    <a:ext uri="{9D8B030D-6E8A-4147-A177-3AD203B41FA5}">
                      <a16:colId xmlns:a16="http://schemas.microsoft.com/office/drawing/2014/main" val="335792030"/>
                    </a:ext>
                  </a:extLst>
                </a:gridCol>
              </a:tblGrid>
              <a:tr h="5408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800" b="1" kern="100" dirty="0">
                          <a:solidFill>
                            <a:schemeClr val="bg2"/>
                          </a:solidFill>
                          <a:effectLst/>
                        </a:rPr>
                        <a:t>课程章节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800" b="1" kern="100" dirty="0">
                          <a:solidFill>
                            <a:schemeClr val="bg2"/>
                          </a:solidFill>
                          <a:effectLst/>
                        </a:rPr>
                        <a:t>课时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800" b="1" kern="100" dirty="0">
                          <a:solidFill>
                            <a:schemeClr val="bg2"/>
                          </a:solidFill>
                          <a:effectLst/>
                        </a:rPr>
                        <a:t>主要学习内容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1326853316"/>
                  </a:ext>
                </a:extLst>
              </a:tr>
              <a:tr h="61997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计算机编程与开发环境</a:t>
                      </a:r>
                      <a:r>
                        <a:rPr lang="en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计算机原理与程序设计概述，</a:t>
                      </a: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简介</a:t>
                      </a:r>
                      <a:r>
                        <a:rPr lang="zh-CN" altLang="en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及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开发环境配置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2201168347"/>
                  </a:ext>
                </a:extLst>
              </a:tr>
              <a:tr h="6051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变量与数据类型</a:t>
                      </a:r>
                      <a:r>
                        <a:rPr lang="en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CN" sz="1800" b="1" kern="1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变量命名与赋值，</a:t>
                      </a: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数据类型</a:t>
                      </a:r>
                      <a:r>
                        <a:rPr lang="en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数据类型转换</a:t>
                      </a:r>
                      <a:r>
                        <a:rPr lang="en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1935547647"/>
                  </a:ext>
                </a:extLst>
              </a:tr>
              <a:tr h="62636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条件与循环</a:t>
                      </a:r>
                      <a:r>
                        <a:rPr lang="en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条件与循环概念，</a:t>
                      </a: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条件语句，</a:t>
                      </a: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循环结构与控制</a:t>
                      </a:r>
                      <a:r>
                        <a:rPr lang="en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3559224750"/>
                  </a:ext>
                </a:extLst>
              </a:tr>
              <a:tr h="61997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函数与模</a:t>
                      </a:r>
                      <a:r>
                        <a:rPr lang="zh-CN" alt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块化编程</a:t>
                      </a:r>
                      <a:r>
                        <a:rPr lang="en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CN" sz="1800" b="1" kern="1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函数、模块与包概念，</a:t>
                      </a: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 </a:t>
                      </a:r>
                      <a:r>
                        <a:rPr 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内置函数与标准库，</a:t>
                      </a: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 python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第三方库</a:t>
                      </a:r>
                      <a:r>
                        <a:rPr lang="en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3936300217"/>
                  </a:ext>
                </a:extLst>
              </a:tr>
              <a:tr h="6051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文件操作与异常处理</a:t>
                      </a:r>
                      <a:r>
                        <a:rPr lang="en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文件操作，</a:t>
                      </a: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数据读写，</a:t>
                      </a: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异常处理</a:t>
                      </a:r>
                      <a:r>
                        <a:rPr lang="en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4199274661"/>
                  </a:ext>
                </a:extLst>
              </a:tr>
              <a:tr h="6051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accent2"/>
                          </a:solidFill>
                          <a:effectLst/>
                        </a:rPr>
                        <a:t>6</a:t>
                      </a:r>
                      <a:r>
                        <a:rPr 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面向对</a:t>
                      </a:r>
                      <a:r>
                        <a:rPr lang="zh-CN" alt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象编程</a:t>
                      </a:r>
                      <a:r>
                        <a:rPr lang="en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CN" sz="1800" b="1" kern="1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面向对象编程概念，</a:t>
                      </a: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类与对象，</a:t>
                      </a: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类继承</a:t>
                      </a:r>
                      <a:endParaRPr lang="en-CN" sz="1800" b="1" kern="1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1269408731"/>
                  </a:ext>
                </a:extLst>
              </a:tr>
              <a:tr h="6051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</a:t>
                      </a:r>
                      <a:r>
                        <a:rPr lang="zh-CN" alt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并发编程（扩展学习）</a:t>
                      </a:r>
                      <a:r>
                        <a:rPr lang="en-CN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CN" sz="1800" b="1" kern="100" dirty="0">
                        <a:solidFill>
                          <a:srgbClr val="FF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 </a:t>
                      </a:r>
                      <a:r>
                        <a:rPr lang="zh-CN" alt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并发、并行、</a:t>
                      </a:r>
                      <a:r>
                        <a:rPr 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GIL</a:t>
                      </a:r>
                      <a:r>
                        <a:rPr lang="zh-CN" alt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（全局解释器锁）概念，</a:t>
                      </a:r>
                      <a:r>
                        <a:rPr lang="en-US" altLang="zh-CN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 </a:t>
                      </a:r>
                      <a:r>
                        <a:rPr lang="zh-CN" alt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多线程编程，</a:t>
                      </a:r>
                      <a:r>
                        <a:rPr lang="en-US" altLang="zh-CN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 </a:t>
                      </a:r>
                      <a:r>
                        <a:rPr lang="zh-CN" alt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多进程编程</a:t>
                      </a:r>
                      <a:endParaRPr lang="en-CN" sz="1800" b="1" kern="100" dirty="0">
                        <a:solidFill>
                          <a:srgbClr val="FF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13534501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5FF876-BAD9-831B-5D16-B8A194404EC3}"/>
              </a:ext>
            </a:extLst>
          </p:cNvPr>
          <p:cNvSpPr txBox="1"/>
          <p:nvPr/>
        </p:nvSpPr>
        <p:spPr>
          <a:xfrm>
            <a:off x="646109" y="2842930"/>
            <a:ext cx="860368" cy="461665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CN" b="1" dirty="0">
                <a:solidFill>
                  <a:srgbClr val="C00000"/>
                </a:solidFill>
                <a:latin typeface="微软雅黑"/>
                <a:ea typeface="微软雅黑"/>
              </a:rPr>
              <a:t>重点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3DE26-4B42-CC7C-6B09-D0D1E526C15C}"/>
              </a:ext>
            </a:extLst>
          </p:cNvPr>
          <p:cNvSpPr txBox="1"/>
          <p:nvPr/>
        </p:nvSpPr>
        <p:spPr>
          <a:xfrm>
            <a:off x="652521" y="4205806"/>
            <a:ext cx="846798" cy="461665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CN" b="1" dirty="0">
                <a:solidFill>
                  <a:srgbClr val="FF00FF"/>
                </a:solidFill>
                <a:latin typeface="微软雅黑"/>
                <a:ea typeface="微软雅黑"/>
              </a:rPr>
              <a:t>难点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0CF5BA-5B85-2701-802B-080C5479983B}"/>
              </a:ext>
            </a:extLst>
          </p:cNvPr>
          <p:cNvCxnSpPr>
            <a:cxnSpLocks/>
            <a:stCxn id="5" idx="3"/>
          </p:cNvCxnSpPr>
          <p:nvPr/>
        </p:nvCxnSpPr>
        <p:spPr bwMode="auto">
          <a:xfrm flipV="1">
            <a:off x="1506480" y="2973122"/>
            <a:ext cx="668855" cy="100638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FE32FD-85BF-3416-7A3E-1F786B0E4F08}"/>
              </a:ext>
            </a:extLst>
          </p:cNvPr>
          <p:cNvCxnSpPr>
            <a:cxnSpLocks/>
            <a:stCxn id="5" idx="3"/>
          </p:cNvCxnSpPr>
          <p:nvPr/>
        </p:nvCxnSpPr>
        <p:spPr bwMode="auto">
          <a:xfrm>
            <a:off x="1506477" y="3073763"/>
            <a:ext cx="690335" cy="55995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B27204-E405-C893-F50C-724423627215}"/>
              </a:ext>
            </a:extLst>
          </p:cNvPr>
          <p:cNvCxnSpPr>
            <a:cxnSpLocks/>
            <a:stCxn id="5" idx="3"/>
          </p:cNvCxnSpPr>
          <p:nvPr/>
        </p:nvCxnSpPr>
        <p:spPr bwMode="auto">
          <a:xfrm>
            <a:off x="1506477" y="3073763"/>
            <a:ext cx="661699" cy="1772466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6C9264-60D4-9B19-B70E-66CFE4BEE868}"/>
              </a:ext>
            </a:extLst>
          </p:cNvPr>
          <p:cNvCxnSpPr>
            <a:cxnSpLocks/>
            <a:stCxn id="6" idx="3"/>
          </p:cNvCxnSpPr>
          <p:nvPr/>
        </p:nvCxnSpPr>
        <p:spPr bwMode="auto">
          <a:xfrm flipV="1">
            <a:off x="1499319" y="4205806"/>
            <a:ext cx="697493" cy="230833"/>
          </a:xfrm>
          <a:prstGeom prst="straightConnector1">
            <a:avLst/>
          </a:prstGeom>
          <a:ln w="28575">
            <a:solidFill>
              <a:srgbClr val="FF00DF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B86D83-5B65-A1E8-A5B2-57E46EE6E934}"/>
              </a:ext>
            </a:extLst>
          </p:cNvPr>
          <p:cNvCxnSpPr>
            <a:cxnSpLocks/>
            <a:stCxn id="6" idx="3"/>
          </p:cNvCxnSpPr>
          <p:nvPr/>
        </p:nvCxnSpPr>
        <p:spPr bwMode="auto">
          <a:xfrm>
            <a:off x="1499319" y="4436639"/>
            <a:ext cx="697493" cy="1132043"/>
          </a:xfrm>
          <a:prstGeom prst="straightConnector1">
            <a:avLst/>
          </a:prstGeom>
          <a:ln w="28575">
            <a:solidFill>
              <a:srgbClr val="FF00DF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5ACFFD0-C802-9144-4C99-6F6DFCC96BCD}"/>
              </a:ext>
            </a:extLst>
          </p:cNvPr>
          <p:cNvCxnSpPr>
            <a:cxnSpLocks/>
            <a:stCxn id="6" idx="3"/>
          </p:cNvCxnSpPr>
          <p:nvPr/>
        </p:nvCxnSpPr>
        <p:spPr bwMode="auto">
          <a:xfrm>
            <a:off x="1499319" y="4436639"/>
            <a:ext cx="690334" cy="1712264"/>
          </a:xfrm>
          <a:prstGeom prst="straightConnector1">
            <a:avLst/>
          </a:prstGeom>
          <a:ln w="28575">
            <a:solidFill>
              <a:srgbClr val="FF00DF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12527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11971" y="8526"/>
            <a:ext cx="10425403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课程简介及考核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559837" y="1638564"/>
            <a:ext cx="10558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理论课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16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学时）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+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实验课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24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学时），</a:t>
            </a:r>
            <a:r>
              <a:rPr lang="zh-CN" altLang="en-US" sz="2800" u="sng" dirty="0">
                <a:solidFill>
                  <a:srgbClr val="333333"/>
                </a:solidFill>
                <a:latin typeface="+mn-ea"/>
                <a:ea typeface="+mn-ea"/>
              </a:rPr>
              <a:t>课堂学习需携带电脑</a:t>
            </a:r>
            <a:endParaRPr lang="en-US" altLang="zh-CN" sz="2800" u="sng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959DC6-89B8-A589-6622-E3331C39FC3C}"/>
              </a:ext>
            </a:extLst>
          </p:cNvPr>
          <p:cNvSpPr txBox="1"/>
          <p:nvPr/>
        </p:nvSpPr>
        <p:spPr>
          <a:xfrm>
            <a:off x="374352" y="6227604"/>
            <a:ext cx="1115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FF0000"/>
                </a:solidFill>
                <a:latin typeface="+mn-ea"/>
                <a:ea typeface="+mn-ea"/>
              </a:rPr>
              <a:t>《</a:t>
            </a:r>
            <a:r>
              <a:rPr lang="zh-CN" altLang="en-CN" sz="1800" dirty="0">
                <a:solidFill>
                  <a:srgbClr val="FF0000"/>
                </a:solidFill>
                <a:latin typeface="+mn-ea"/>
                <a:ea typeface="+mn-ea"/>
              </a:rPr>
              <a:t>编程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基础</a:t>
            </a:r>
            <a:r>
              <a:rPr lang="en-US" altLang="zh-CN" sz="1800" dirty="0">
                <a:solidFill>
                  <a:srgbClr val="FF0000"/>
                </a:solidFill>
                <a:latin typeface="+mn-ea"/>
                <a:ea typeface="+mn-ea"/>
              </a:rPr>
              <a:t>》</a:t>
            </a:r>
            <a:r>
              <a:rPr lang="en-CN" sz="1800" dirty="0">
                <a:solidFill>
                  <a:srgbClr val="FF0000"/>
                </a:solidFill>
                <a:latin typeface="+mn-ea"/>
                <a:ea typeface="+mn-ea"/>
              </a:rPr>
              <a:t>课程链接</a:t>
            </a:r>
            <a:r>
              <a:rPr lang="zh-CN" altLang="en-US" sz="1800" dirty="0">
                <a:solidFill>
                  <a:prstClr val="black"/>
                </a:solidFill>
                <a:latin typeface="+mn-ea"/>
                <a:ea typeface="+mn-ea"/>
              </a:rPr>
              <a:t>：</a:t>
            </a:r>
            <a:r>
              <a:rPr lang="en-US" altLang="zh-CN" sz="1800" dirty="0">
                <a:solidFill>
                  <a:prstClr val="black"/>
                </a:solidFill>
                <a:latin typeface="+mn-ea"/>
                <a:ea typeface="+mn-ea"/>
              </a:rPr>
              <a:t>https://github.com/xinluo2018/programming-basic-for-geoscience.git</a:t>
            </a:r>
            <a:endParaRPr lang="en-CN" sz="18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A70D0B-BCDC-DD77-FF8E-18BD9483DB36}"/>
              </a:ext>
            </a:extLst>
          </p:cNvPr>
          <p:cNvSpPr txBox="1"/>
          <p:nvPr/>
        </p:nvSpPr>
        <p:spPr>
          <a:xfrm>
            <a:off x="325256" y="2760713"/>
            <a:ext cx="3485767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微软雅黑"/>
                <a:ea typeface="微软雅黑"/>
              </a:rPr>
              <a:t>课程资料（文档和代码）将上传至</a:t>
            </a:r>
            <a:r>
              <a:rPr lang="en-US" altLang="zh-CN" dirty="0" err="1">
                <a:solidFill>
                  <a:srgbClr val="333333"/>
                </a:solidFill>
                <a:latin typeface="微软雅黑"/>
                <a:ea typeface="微软雅黑"/>
              </a:rPr>
              <a:t>Github</a:t>
            </a:r>
            <a:r>
              <a:rPr lang="zh-CN" altLang="en-US" dirty="0">
                <a:solidFill>
                  <a:srgbClr val="333333"/>
                </a:solidFill>
                <a:latin typeface="微软雅黑"/>
                <a:ea typeface="微软雅黑"/>
              </a:rPr>
              <a:t>开源托管平台，方便学生预习和复习。</a:t>
            </a:r>
            <a:endParaRPr lang="en-US" altLang="zh-CN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665333-3CA3-C848-0675-B29B65338ACD}"/>
              </a:ext>
            </a:extLst>
          </p:cNvPr>
          <p:cNvSpPr txBox="1"/>
          <p:nvPr/>
        </p:nvSpPr>
        <p:spPr>
          <a:xfrm>
            <a:off x="853750" y="982658"/>
            <a:ext cx="6099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CN" sz="3200" b="1" dirty="0">
                <a:solidFill>
                  <a:srgbClr val="333333"/>
                </a:solidFill>
                <a:latin typeface="微软雅黑"/>
                <a:ea typeface="微软雅黑"/>
              </a:rPr>
              <a:t>3.</a:t>
            </a:r>
            <a:r>
              <a:rPr lang="zh-CN" altLang="en-US" sz="3200" b="1" dirty="0">
                <a:solidFill>
                  <a:srgbClr val="333333"/>
                </a:solidFill>
                <a:latin typeface="微软雅黑"/>
                <a:ea typeface="微软雅黑"/>
              </a:rPr>
              <a:t> 教学方式</a:t>
            </a:r>
            <a:endParaRPr lang="en-US" altLang="zh-CN" sz="32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358EFC-B263-311F-85E7-4CA0E987E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305" y="2309083"/>
            <a:ext cx="8182345" cy="371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297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7087" y="8526"/>
            <a:ext cx="10450288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课程简介及考核</a:t>
            </a:r>
            <a:endParaRPr lang="zh-CN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59FCAC-1DA4-74BE-FCAF-D57ABF2F5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57531"/>
              </p:ext>
            </p:extLst>
          </p:nvPr>
        </p:nvGraphicFramePr>
        <p:xfrm>
          <a:off x="495300" y="1546883"/>
          <a:ext cx="11334750" cy="5075980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1385392">
                  <a:extLst>
                    <a:ext uri="{9D8B030D-6E8A-4147-A177-3AD203B41FA5}">
                      <a16:colId xmlns:a16="http://schemas.microsoft.com/office/drawing/2014/main" val="4047353125"/>
                    </a:ext>
                  </a:extLst>
                </a:gridCol>
                <a:gridCol w="1813977">
                  <a:extLst>
                    <a:ext uri="{9D8B030D-6E8A-4147-A177-3AD203B41FA5}">
                      <a16:colId xmlns:a16="http://schemas.microsoft.com/office/drawing/2014/main" val="4286512279"/>
                    </a:ext>
                  </a:extLst>
                </a:gridCol>
                <a:gridCol w="1035532">
                  <a:extLst>
                    <a:ext uri="{9D8B030D-6E8A-4147-A177-3AD203B41FA5}">
                      <a16:colId xmlns:a16="http://schemas.microsoft.com/office/drawing/2014/main" val="2269971301"/>
                    </a:ext>
                  </a:extLst>
                </a:gridCol>
                <a:gridCol w="7099849">
                  <a:extLst>
                    <a:ext uri="{9D8B030D-6E8A-4147-A177-3AD203B41FA5}">
                      <a16:colId xmlns:a16="http://schemas.microsoft.com/office/drawing/2014/main" val="307882658"/>
                    </a:ext>
                  </a:extLst>
                </a:gridCol>
              </a:tblGrid>
              <a:tr h="573691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2400" kern="100" dirty="0">
                          <a:solidFill>
                            <a:schemeClr val="bg2"/>
                          </a:solidFill>
                          <a:effectLst/>
                        </a:rPr>
                        <a:t>组成</a:t>
                      </a:r>
                      <a:endParaRPr lang="en-CN" sz="24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CN" sz="20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2400" kern="100" dirty="0">
                          <a:solidFill>
                            <a:schemeClr val="bg2"/>
                          </a:solidFill>
                          <a:effectLst/>
                        </a:rPr>
                        <a:t>占比</a:t>
                      </a:r>
                      <a:endParaRPr lang="en-CN" sz="24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2400" kern="100" dirty="0">
                          <a:solidFill>
                            <a:schemeClr val="bg2"/>
                          </a:solidFill>
                          <a:effectLst/>
                        </a:rPr>
                        <a:t>说明</a:t>
                      </a:r>
                      <a:endParaRPr lang="en-CN" sz="24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803423"/>
                  </a:ext>
                </a:extLst>
              </a:tr>
              <a:tr h="996030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平时成绩</a:t>
                      </a:r>
                      <a:endParaRPr lang="en-CN" sz="24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zh-CN" sz="2400" b="0" kern="100" dirty="0">
                          <a:solidFill>
                            <a:schemeClr val="bg2"/>
                          </a:solidFill>
                          <a:effectLst/>
                        </a:rPr>
                        <a:t>课堂表现</a:t>
                      </a:r>
                      <a:endParaRPr lang="en-CN" altLang="zh-CN" sz="2400" b="0" kern="100" dirty="0">
                        <a:solidFill>
                          <a:schemeClr val="bg2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zh-CN" sz="2400" b="0" kern="100" dirty="0">
                          <a:solidFill>
                            <a:schemeClr val="bg2"/>
                          </a:solidFill>
                          <a:effectLst/>
                        </a:rPr>
                        <a:t>（个人）</a:t>
                      </a:r>
                      <a:endParaRPr lang="en-CN" altLang="zh-CN" sz="2400" b="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1" kern="100" dirty="0">
                          <a:solidFill>
                            <a:srgbClr val="FF0000"/>
                          </a:solidFill>
                          <a:effectLst/>
                        </a:rPr>
                        <a:t>20%</a:t>
                      </a:r>
                      <a:endParaRPr lang="en-CN" sz="2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zh-CN" sz="2400" kern="100" dirty="0">
                          <a:solidFill>
                            <a:schemeClr val="bg2"/>
                          </a:solidFill>
                          <a:effectLst/>
                        </a:rPr>
                        <a:t>根据课程学习情况进行综合评分</a:t>
                      </a:r>
                      <a:r>
                        <a:rPr lang="zh-CN" altLang="en-US" sz="2400" kern="100" dirty="0">
                          <a:solidFill>
                            <a:schemeClr val="bg2"/>
                          </a:solidFill>
                          <a:effectLst/>
                        </a:rPr>
                        <a:t>（课堂出勤</a:t>
                      </a:r>
                      <a:r>
                        <a:rPr lang="en-US" altLang="zh-CN" sz="2400" kern="100" dirty="0">
                          <a:solidFill>
                            <a:schemeClr val="bg2"/>
                          </a:solidFill>
                          <a:effectLst/>
                        </a:rPr>
                        <a:t>/</a:t>
                      </a:r>
                      <a:r>
                        <a:rPr lang="zh-CN" altLang="en-US" sz="2400" kern="100" dirty="0">
                          <a:solidFill>
                            <a:schemeClr val="bg2"/>
                          </a:solidFill>
                          <a:effectLst/>
                        </a:rPr>
                        <a:t>表现）</a:t>
                      </a:r>
                      <a:endParaRPr lang="en-CN" sz="24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91504"/>
                  </a:ext>
                </a:extLst>
              </a:tr>
              <a:tr h="1067044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CN" sz="20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2400" b="0" kern="100" dirty="0">
                          <a:solidFill>
                            <a:schemeClr val="bg2"/>
                          </a:solidFill>
                          <a:effectLst/>
                        </a:rPr>
                        <a:t>平时作业</a:t>
                      </a:r>
                      <a:endParaRPr lang="en-US" altLang="zh-CN" sz="2400" b="0" kern="100" dirty="0">
                        <a:solidFill>
                          <a:schemeClr val="bg2"/>
                        </a:solidFill>
                        <a:effectLst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2400" b="0" kern="100" dirty="0">
                          <a:solidFill>
                            <a:schemeClr val="bg2"/>
                          </a:solidFill>
                          <a:effectLst/>
                        </a:rPr>
                        <a:t>（至少</a:t>
                      </a:r>
                      <a:r>
                        <a:rPr lang="en-US" altLang="zh-CN" sz="2400" b="0" kern="100" dirty="0">
                          <a:solidFill>
                            <a:schemeClr val="bg2"/>
                          </a:solidFill>
                          <a:effectLst/>
                        </a:rPr>
                        <a:t>2</a:t>
                      </a:r>
                      <a:r>
                        <a:rPr lang="zh-CN" altLang="en-US" sz="2400" b="0" kern="100" dirty="0">
                          <a:solidFill>
                            <a:schemeClr val="bg2"/>
                          </a:solidFill>
                          <a:effectLst/>
                        </a:rPr>
                        <a:t>次）</a:t>
                      </a:r>
                      <a:endParaRPr lang="en-CN" sz="2400" b="0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400" b="1" kern="100" dirty="0">
                          <a:solidFill>
                            <a:srgbClr val="FF0000"/>
                          </a:solidFill>
                          <a:effectLst/>
                        </a:rPr>
                        <a:t>20</a:t>
                      </a:r>
                      <a:r>
                        <a:rPr lang="en-US" sz="2400" b="1" kern="100" dirty="0">
                          <a:solidFill>
                            <a:srgbClr val="FF0000"/>
                          </a:solidFill>
                          <a:effectLst/>
                        </a:rPr>
                        <a:t>%</a:t>
                      </a:r>
                      <a:endParaRPr lang="en-CN" sz="2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CN" alt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两次</a:t>
                      </a:r>
                      <a:r>
                        <a:rPr lang="zh-CN" sz="2400" b="1" kern="100" dirty="0">
                          <a:solidFill>
                            <a:schemeClr val="bg2"/>
                          </a:solidFill>
                          <a:effectLst/>
                        </a:rPr>
                        <a:t>作业</a:t>
                      </a:r>
                      <a:r>
                        <a:rPr lang="zh-CN" sz="2400" kern="100" dirty="0">
                          <a:solidFill>
                            <a:schemeClr val="bg2"/>
                          </a:solidFill>
                          <a:effectLst/>
                        </a:rPr>
                        <a:t>，以技术报告形式提交。</a:t>
                      </a:r>
                      <a:r>
                        <a:rPr lang="zh-CN" altLang="en-US" sz="2400" kern="100" dirty="0">
                          <a:solidFill>
                            <a:schemeClr val="bg2"/>
                          </a:solidFill>
                          <a:effectLst/>
                        </a:rPr>
                        <a:t>每次作业</a:t>
                      </a:r>
                      <a:r>
                        <a:rPr lang="zh-CN" sz="2400" kern="100" dirty="0">
                          <a:solidFill>
                            <a:schemeClr val="bg2"/>
                          </a:solidFill>
                          <a:effectLst/>
                        </a:rPr>
                        <a:t>为</a:t>
                      </a:r>
                      <a:r>
                        <a:rPr lang="en-US" sz="2400" kern="100" dirty="0">
                          <a:solidFill>
                            <a:schemeClr val="bg2"/>
                          </a:solidFill>
                          <a:effectLst/>
                        </a:rPr>
                        <a:t>10</a:t>
                      </a:r>
                      <a:r>
                        <a:rPr lang="zh-CN" sz="2400" kern="100" dirty="0">
                          <a:solidFill>
                            <a:schemeClr val="bg2"/>
                          </a:solidFill>
                          <a:effectLst/>
                        </a:rPr>
                        <a:t>分。</a:t>
                      </a:r>
                      <a:endParaRPr lang="en-CN" sz="24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464346"/>
                  </a:ext>
                </a:extLst>
              </a:tr>
              <a:tr h="1491930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CN" sz="20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2400" b="0" kern="100" dirty="0">
                          <a:solidFill>
                            <a:schemeClr val="bg2"/>
                          </a:solidFill>
                          <a:effectLst/>
                        </a:rPr>
                        <a:t>实验报告</a:t>
                      </a:r>
                      <a:endParaRPr lang="en-CN" sz="2400" b="0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1" kern="100" dirty="0">
                          <a:solidFill>
                            <a:srgbClr val="FF0000"/>
                          </a:solidFill>
                          <a:effectLst/>
                        </a:rPr>
                        <a:t>20%</a:t>
                      </a:r>
                      <a:endParaRPr lang="en-CN" sz="2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zh-CN" altLang="en-US" sz="24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任选</a:t>
                      </a:r>
                      <a:r>
                        <a:rPr lang="en-US" sz="24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24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次实验进行实验报告总结并汇总</a:t>
                      </a:r>
                      <a:r>
                        <a:rPr lang="zh-CN" altLang="en-US" sz="2400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。每次实验课总结占</a:t>
                      </a:r>
                      <a:r>
                        <a:rPr lang="en-US" altLang="zh-CN" sz="2400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zh-CN" altLang="en-US" sz="2400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分，实验报告以</a:t>
                      </a:r>
                      <a:r>
                        <a:rPr lang="en-US" sz="2400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r>
                        <a:rPr lang="zh-CN" altLang="en-US" sz="2400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格式提交，要求格式规范、内容准确且实验流程细节充分。</a:t>
                      </a:r>
                      <a:r>
                        <a:rPr lang="en-CN" sz="2400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647440"/>
                  </a:ext>
                </a:extLst>
              </a:tr>
              <a:tr h="85857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2400" b="1" kern="100" dirty="0">
                          <a:solidFill>
                            <a:schemeClr val="bg2"/>
                          </a:solidFill>
                          <a:effectLst/>
                        </a:rPr>
                        <a:t>期末考试</a:t>
                      </a:r>
                      <a:endParaRPr lang="en-CN" sz="24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400" b="1" kern="100" dirty="0">
                          <a:solidFill>
                            <a:srgbClr val="FF0000"/>
                          </a:solidFill>
                          <a:effectLst/>
                        </a:rPr>
                        <a:t>40</a:t>
                      </a:r>
                      <a:r>
                        <a:rPr lang="en-US" sz="2400" b="1" kern="100" dirty="0">
                          <a:solidFill>
                            <a:srgbClr val="FF0000"/>
                          </a:solidFill>
                          <a:effectLst/>
                        </a:rPr>
                        <a:t>%</a:t>
                      </a:r>
                      <a:endParaRPr lang="en-CN" sz="24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zh-CN" altLang="en-US" sz="2400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期末考试，参考近三年计算机二级考试题库。</a:t>
                      </a:r>
                      <a:endParaRPr lang="en-CN" sz="2400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7351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27131E-B49C-7E40-81DE-8E289A5DC36B}"/>
              </a:ext>
            </a:extLst>
          </p:cNvPr>
          <p:cNvSpPr txBox="1"/>
          <p:nvPr/>
        </p:nvSpPr>
        <p:spPr>
          <a:xfrm>
            <a:off x="696686" y="909973"/>
            <a:ext cx="9909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altLang="zh-CN" sz="3200" b="1" dirty="0">
                <a:solidFill>
                  <a:srgbClr val="333333"/>
                </a:solidFill>
                <a:latin typeface="微软雅黑"/>
                <a:ea typeface="微软雅黑"/>
              </a:rPr>
              <a:t>4.</a:t>
            </a:r>
            <a:r>
              <a:rPr lang="zh-CN" altLang="en-US" sz="3200" b="1" dirty="0">
                <a:solidFill>
                  <a:srgbClr val="333333"/>
                </a:solidFill>
                <a:latin typeface="微软雅黑"/>
                <a:ea typeface="微软雅黑"/>
              </a:rPr>
              <a:t> 考核及成绩</a:t>
            </a:r>
            <a:endParaRPr lang="en-US" altLang="zh-CN" sz="32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0280806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0B9D0-96CF-A4B0-4257-D4CC70D1F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20E6864-6AD6-4B67-5C73-FB894612B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7" y="8526"/>
            <a:ext cx="10450288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课程简介及考核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AB7CB-9456-082E-1968-658782B7B693}"/>
              </a:ext>
            </a:extLst>
          </p:cNvPr>
          <p:cNvSpPr txBox="1"/>
          <p:nvPr/>
        </p:nvSpPr>
        <p:spPr>
          <a:xfrm>
            <a:off x="696686" y="909973"/>
            <a:ext cx="9909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altLang="zh-CN" sz="3200" b="1" dirty="0">
                <a:solidFill>
                  <a:srgbClr val="333333"/>
                </a:solidFill>
                <a:latin typeface="微软雅黑"/>
                <a:ea typeface="微软雅黑"/>
              </a:rPr>
              <a:t>5.</a:t>
            </a:r>
            <a:r>
              <a:rPr lang="zh-CN" altLang="en-US" sz="3200" b="1" dirty="0">
                <a:solidFill>
                  <a:srgbClr val="333333"/>
                </a:solidFill>
                <a:latin typeface="微软雅黑"/>
                <a:ea typeface="微软雅黑"/>
              </a:rPr>
              <a:t> 任课教师</a:t>
            </a:r>
            <a:endParaRPr lang="en-US" altLang="zh-CN" sz="32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DBBAF1-3E67-20CA-9412-D24EF41FA7FC}"/>
              </a:ext>
            </a:extLst>
          </p:cNvPr>
          <p:cNvSpPr txBox="1"/>
          <p:nvPr/>
        </p:nvSpPr>
        <p:spPr>
          <a:xfrm>
            <a:off x="6606209" y="3895334"/>
            <a:ext cx="50026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 i="0" dirty="0">
                <a:solidFill>
                  <a:schemeClr val="accent2"/>
                </a:solidFill>
                <a:effectLst/>
                <a:latin typeface="Times New Roman" charset="0"/>
                <a:ea typeface="微软雅黑" panose="020B0503020204020204" pitchFamily="34" charset="-122"/>
              </a:rPr>
              <a:t>张霖</a:t>
            </a:r>
            <a:endParaRPr lang="en-US" altLang="zh-CN" sz="2400" b="1" i="0" dirty="0">
              <a:solidFill>
                <a:schemeClr val="accent2"/>
              </a:solidFill>
              <a:effectLst/>
              <a:latin typeface="Times New Roman" charset="0"/>
              <a:ea typeface="微软雅黑" panose="020B0503020204020204" pitchFamily="34" charset="-122"/>
            </a:endParaRPr>
          </a:p>
          <a:p>
            <a:pPr algn="l"/>
            <a:r>
              <a:rPr lang="zh-CN" altLang="zh-CN" sz="2400" b="0" i="0" dirty="0">
                <a:solidFill>
                  <a:schemeClr val="bg2"/>
                </a:solidFill>
                <a:effectLst/>
                <a:latin typeface="Times New Roman" charset="0"/>
                <a:ea typeface="微软雅黑" panose="020B0503020204020204" pitchFamily="34" charset="-122"/>
              </a:rPr>
              <a:t>研究方向：城市体检、复杂网络、城市形态、可持续发展、图神经网络、夜光遥感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4831A9-D437-E866-B1C4-D01CC3B4F5E9}"/>
              </a:ext>
            </a:extLst>
          </p:cNvPr>
          <p:cNvSpPr txBox="1"/>
          <p:nvPr/>
        </p:nvSpPr>
        <p:spPr>
          <a:xfrm>
            <a:off x="583096" y="3912820"/>
            <a:ext cx="53207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dirty="0">
                <a:solidFill>
                  <a:schemeClr val="accent2"/>
                </a:solidFill>
                <a:ea typeface="微软雅黑" panose="020B0503020204020204" pitchFamily="34" charset="-122"/>
              </a:rPr>
              <a:t>罗新</a:t>
            </a:r>
            <a:endParaRPr lang="en-US" altLang="zh-CN" b="1" dirty="0">
              <a:solidFill>
                <a:schemeClr val="accent2"/>
              </a:solidFill>
              <a:ea typeface="微软雅黑" panose="020B0503020204020204" pitchFamily="34" charset="-122"/>
            </a:endParaRPr>
          </a:p>
          <a:p>
            <a:pPr algn="l">
              <a:buNone/>
            </a:pPr>
            <a:r>
              <a:rPr lang="zh-CN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研究方向</a:t>
            </a:r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水文遥感前沿技术开发与应用，发表SCI期刊论文20余篇，申请国家发明专利多项。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6C9D2E7-FB91-9FDB-931F-2E7F586A1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043" y="1782790"/>
            <a:ext cx="1781297" cy="226141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157D154-09F7-DFFB-53B9-D02B2EA1E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571" y="1782789"/>
            <a:ext cx="1759603" cy="2261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F015466-97FA-886F-EA26-B56A181F1D5F}"/>
              </a:ext>
            </a:extLst>
          </p:cNvPr>
          <p:cNvSpPr txBox="1"/>
          <p:nvPr/>
        </p:nvSpPr>
        <p:spPr>
          <a:xfrm>
            <a:off x="1152939" y="6191465"/>
            <a:ext cx="101511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云大地信系教师网页：https://www.srees.ynu.edu.cn/yx/dlxxkxx1</a:t>
            </a:r>
            <a:r>
              <a:rPr lang="zh-CN" altLang="en-US" dirty="0">
                <a:solidFill>
                  <a:schemeClr val="bg2"/>
                </a:solidFill>
              </a:rPr>
              <a:t>/szdw.htm</a:t>
            </a:r>
          </a:p>
        </p:txBody>
      </p:sp>
    </p:spTree>
    <p:extLst>
      <p:ext uri="{BB962C8B-B14F-4D97-AF65-F5344CB8AC3E}">
        <p14:creationId xmlns:p14="http://schemas.microsoft.com/office/powerpoint/2010/main" val="403150568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4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第一章 计算机编程与开发环境</a:t>
            </a:r>
            <a:endParaRPr lang="zh-CN" altLang="zh-CN" sz="48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32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7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21" y="5474698"/>
            <a:ext cx="862795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200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200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200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200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200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200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6" y="243147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4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743692" y="243144"/>
            <a:ext cx="3716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编程基础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一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111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B9B8D5-4BCC-CDFF-1E13-B005060A8BDF}"/>
              </a:ext>
            </a:extLst>
          </p:cNvPr>
          <p:cNvGrpSpPr/>
          <p:nvPr/>
        </p:nvGrpSpPr>
        <p:grpSpPr>
          <a:xfrm>
            <a:off x="2161790" y="4583174"/>
            <a:ext cx="6916338" cy="772176"/>
            <a:chOff x="2121802" y="2115450"/>
            <a:chExt cx="5430801" cy="576000"/>
          </a:xfrm>
        </p:grpSpPr>
        <p:sp>
          <p:nvSpPr>
            <p:cNvPr id="10" name="椭圆 9"/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三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697802" y="2173517"/>
              <a:ext cx="4854801" cy="4362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CN" altLang="zh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编程</a:t>
              </a: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环境配置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2161793" y="3327050"/>
            <a:ext cx="6403721" cy="717997"/>
            <a:chOff x="2121801" y="3511390"/>
            <a:chExt cx="5718901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60440"/>
              <a:ext cx="5062803" cy="4691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程序设计简介</a:t>
              </a:r>
              <a:endParaRPr lang="en-US" altLang="zh-CN" sz="32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CAA61D-767A-24EA-9072-7425684288BB}"/>
              </a:ext>
            </a:extLst>
          </p:cNvPr>
          <p:cNvGrpSpPr/>
          <p:nvPr/>
        </p:nvGrpSpPr>
        <p:grpSpPr>
          <a:xfrm>
            <a:off x="2161793" y="2040781"/>
            <a:ext cx="6649827" cy="772176"/>
            <a:chOff x="2121802" y="2115450"/>
            <a:chExt cx="5221533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E22E439B-4B3F-A527-61D0-3ED55D24E856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494DAA55-5621-28DB-D255-E0EBB6C6477B}"/>
                </a:ext>
              </a:extLst>
            </p:cNvPr>
            <p:cNvSpPr/>
            <p:nvPr/>
          </p:nvSpPr>
          <p:spPr>
            <a:xfrm>
              <a:off x="2697802" y="2173516"/>
              <a:ext cx="4645533" cy="4362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计算机原理与程序设计概述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663" y="3353675"/>
            <a:ext cx="12154674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7730" y="3750704"/>
            <a:ext cx="87530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一、计算机原理与程序设计概述</a:t>
            </a:r>
          </a:p>
        </p:txBody>
      </p:sp>
      <p:sp>
        <p:nvSpPr>
          <p:cNvPr id="8" name="矩形 7"/>
          <p:cNvSpPr/>
          <p:nvPr/>
        </p:nvSpPr>
        <p:spPr>
          <a:xfrm>
            <a:off x="18662" y="4896724"/>
            <a:ext cx="12154673" cy="73382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F129A-FF63-24A6-A57D-001616830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994883C-DAA1-878F-1EEC-D7703207E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36800"/>
            <a:ext cx="5861538" cy="3782483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9B66C00-EDCE-04F7-7400-295D59EC3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一、计算机原理与程序设计概述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639ACD-DB86-70B8-79B8-0619E0D2588B}"/>
              </a:ext>
            </a:extLst>
          </p:cNvPr>
          <p:cNvSpPr txBox="1"/>
          <p:nvPr/>
        </p:nvSpPr>
        <p:spPr>
          <a:xfrm>
            <a:off x="4966636" y="832237"/>
            <a:ext cx="5383699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计算机核心组成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DB476-000D-1357-72EF-2B78C59AC79D}"/>
              </a:ext>
            </a:extLst>
          </p:cNvPr>
          <p:cNvSpPr txBox="1"/>
          <p:nvPr/>
        </p:nvSpPr>
        <p:spPr>
          <a:xfrm>
            <a:off x="234462" y="1021247"/>
            <a:ext cx="640001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硬件层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en-US" altLang="zh-CN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CPU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：运算器、控制器、寄存器</a:t>
            </a:r>
            <a:endParaRPr lang="en-US" altLang="zh-CN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zh-CN" altLang="en-US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内存（</a:t>
            </a:r>
            <a:r>
              <a:rPr lang="en-US" altLang="zh-CN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RAM</a:t>
            </a:r>
            <a:r>
              <a:rPr lang="zh-CN" altLang="en-US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：临时存储程序与数据</a:t>
            </a:r>
            <a:endParaRPr lang="en-US" altLang="zh-CN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zh-CN" altLang="en-US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硬盘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：永久存储数据。</a:t>
            </a:r>
            <a:endParaRPr lang="en-US" altLang="zh-CN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zh-CN" altLang="en-US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电源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：为主板、</a:t>
            </a:r>
            <a:r>
              <a:rPr lang="en-US" altLang="zh-CN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CPU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、硬盘等供电。</a:t>
            </a:r>
            <a:endParaRPr lang="en-US" altLang="zh-CN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zh-CN" altLang="en-US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主板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：连接并协调</a:t>
            </a:r>
            <a:r>
              <a:rPr lang="en-US" altLang="zh-CN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CPU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、内存等设备；</a:t>
            </a:r>
            <a:endParaRPr lang="en-US" altLang="zh-CN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zh-CN" altLang="en-US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显卡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：处理图形图像并输出显示内容；</a:t>
            </a:r>
            <a:endParaRPr lang="en-US" altLang="zh-CN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en-US" altLang="zh-CN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lang="zh-CN" altLang="en-US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设备 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：键盘、鼠标、网络接口、显示器。</a:t>
            </a:r>
            <a:endParaRPr lang="en-US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6B5E3-0388-9AA6-FF0C-4997994FECC5}"/>
              </a:ext>
            </a:extLst>
          </p:cNvPr>
          <p:cNvSpPr txBox="1"/>
          <p:nvPr/>
        </p:nvSpPr>
        <p:spPr>
          <a:xfrm>
            <a:off x="234462" y="5578515"/>
            <a:ext cx="117230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软件层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b="1" dirty="0" err="1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操作系统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：资源管理、进程调度。         </a:t>
            </a:r>
            <a:r>
              <a:rPr lang="zh-CN" altLang="en-US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应用程序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：如微信、</a:t>
            </a:r>
            <a:r>
              <a:rPr lang="en-US" altLang="zh-CN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office</a:t>
            </a:r>
            <a:r>
              <a:rPr lang="zh-CN" altLang="en-US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办公软件等。</a:t>
            </a:r>
            <a:endParaRPr lang="en-US" altLang="zh-CN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410527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71C0-BA42-82F4-F42A-EECC3E84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B5E75D2-E9A1-0DC6-EBC4-057A4E894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5" y="8526"/>
            <a:ext cx="10475170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一、计算机原理与程序设计概述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81F7CF-01FF-912E-A84B-89E9F0C358AE}"/>
              </a:ext>
            </a:extLst>
          </p:cNvPr>
          <p:cNvSpPr txBox="1"/>
          <p:nvPr/>
        </p:nvSpPr>
        <p:spPr>
          <a:xfrm>
            <a:off x="572278" y="846751"/>
            <a:ext cx="9778057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计算机数据基础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29379-9842-F50A-9123-297292711161}"/>
              </a:ext>
            </a:extLst>
          </p:cNvPr>
          <p:cNvSpPr txBox="1"/>
          <p:nvPr/>
        </p:nvSpPr>
        <p:spPr>
          <a:xfrm>
            <a:off x="416768" y="1682124"/>
            <a:ext cx="5850851" cy="4822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600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二进制数据：</a:t>
            </a:r>
            <a:endParaRPr lang="en-US" altLang="zh-CN" sz="2600" b="1" dirty="0">
              <a:solidFill>
                <a:schemeClr val="accent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6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二进制数据是计算机中数据的基本形式。</a:t>
            </a:r>
            <a:endParaRPr lang="en-US" altLang="zh-CN" sz="2600" b="1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6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二进制定义：</a:t>
            </a:r>
            <a:r>
              <a:rPr lang="zh-CN" altLang="en-US" sz="26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是在数学和数字电路中以</a:t>
            </a:r>
            <a:r>
              <a:rPr lang="en-US" altLang="zh-CN" sz="26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为基数的记数系统。</a:t>
            </a:r>
            <a:endParaRPr lang="en-US" altLang="zh-CN" sz="26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600" b="1" dirty="0">
                <a:solidFill>
                  <a:srgbClr val="C00000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数据编码</a:t>
            </a:r>
            <a:r>
              <a:rPr lang="zh-CN" altLang="en-US" sz="26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：将原始数据转换为计算机可读取和处理的二进制格式的过程。解码为相反过程。</a:t>
            </a:r>
            <a:endParaRPr lang="en-US" altLang="zh-CN" sz="26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17E118-7228-5B85-5913-92F35BE4DA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42" t="14008" r="15229" b="20972"/>
          <a:stretch>
            <a:fillRect/>
          </a:stretch>
        </p:blipFill>
        <p:spPr>
          <a:xfrm>
            <a:off x="6350787" y="2357509"/>
            <a:ext cx="5764776" cy="34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55890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B3644-7B40-BE4D-A8C1-7EB142458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537B010-5073-A5CA-8B9F-F90C32DB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一、计算机原理与程序设计概述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C05DFD-20B3-3517-7CDA-8B2336C35C6D}"/>
              </a:ext>
            </a:extLst>
          </p:cNvPr>
          <p:cNvSpPr txBox="1"/>
          <p:nvPr/>
        </p:nvSpPr>
        <p:spPr>
          <a:xfrm>
            <a:off x="460766" y="846751"/>
            <a:ext cx="542996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计算机运行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B6D9C-295C-FF17-34D3-16F995CEDEB5}"/>
              </a:ext>
            </a:extLst>
          </p:cNvPr>
          <p:cNvSpPr txBox="1"/>
          <p:nvPr/>
        </p:nvSpPr>
        <p:spPr>
          <a:xfrm>
            <a:off x="434263" y="1557288"/>
            <a:ext cx="7834508" cy="5025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500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CPU</a:t>
            </a:r>
            <a:r>
              <a:rPr lang="zh-CN" altLang="en-US" sz="2500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如何执行指令：</a:t>
            </a:r>
            <a:endParaRPr lang="en-US" altLang="zh-CN" sz="25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取指：从内存读取指令；</a:t>
            </a:r>
            <a:endParaRPr lang="en-US" altLang="zh-CN" sz="25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解码：解析指令的操作类型、操作数和数据地址；</a:t>
            </a:r>
            <a:endParaRPr lang="en-US" altLang="zh-CN" sz="25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执行：由运算器完成算术、逻辑或</a:t>
            </a:r>
            <a:r>
              <a:rPr lang="zh-CN" altLang="en-CN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仿</a:t>
            </a: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存等操作；</a:t>
            </a:r>
            <a:endParaRPr lang="en-US" altLang="zh-CN" sz="25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写回：将结果写入寄存器</a:t>
            </a:r>
            <a:r>
              <a:rPr lang="en-US" altLang="zh-CN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内存。</a:t>
            </a:r>
          </a:p>
          <a:p>
            <a:pPr algn="just">
              <a:lnSpc>
                <a:spcPct val="150000"/>
              </a:lnSpc>
            </a:pP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指令示例：</a:t>
            </a:r>
            <a:r>
              <a:rPr lang="en-US" altLang="zh-CN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ADD</a:t>
            </a: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R0 R1</a:t>
            </a: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R2</a:t>
            </a: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（将寄存器中</a:t>
            </a:r>
            <a:r>
              <a:rPr lang="en-US" altLang="zh-CN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R1</a:t>
            </a: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R2</a:t>
            </a: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的值相加，结果写入寄存器</a:t>
            </a:r>
            <a:r>
              <a:rPr lang="en-US" altLang="zh-CN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R0</a:t>
            </a:r>
            <a:r>
              <a:rPr lang="zh-CN" altLang="en-US" sz="25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5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444C41E-74E8-7EEA-737B-07CC3000857C}"/>
              </a:ext>
            </a:extLst>
          </p:cNvPr>
          <p:cNvGrpSpPr/>
          <p:nvPr/>
        </p:nvGrpSpPr>
        <p:grpSpPr>
          <a:xfrm>
            <a:off x="8708903" y="1059621"/>
            <a:ext cx="2564083" cy="5246824"/>
            <a:chOff x="8796516" y="926879"/>
            <a:chExt cx="2564083" cy="5246824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B794DD0-4C88-0ED1-2F40-5D566DC09EFA}"/>
                </a:ext>
              </a:extLst>
            </p:cNvPr>
            <p:cNvSpPr/>
            <p:nvPr/>
          </p:nvSpPr>
          <p:spPr>
            <a:xfrm>
              <a:off x="8802866" y="1648738"/>
              <a:ext cx="1598686" cy="792162"/>
            </a:xfrm>
            <a:prstGeom prst="roundRect">
              <a:avLst/>
            </a:prstGeom>
            <a:solidFill>
              <a:srgbClr val="AEE8CC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rPr>
                <a:t>取指令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2EA4A450-FF18-48FA-E8A5-674AE89CC546}"/>
                </a:ext>
              </a:extLst>
            </p:cNvPr>
            <p:cNvSpPr/>
            <p:nvPr/>
          </p:nvSpPr>
          <p:spPr>
            <a:xfrm>
              <a:off x="8802866" y="2890889"/>
              <a:ext cx="1598686" cy="792162"/>
            </a:xfrm>
            <a:prstGeom prst="roundRect">
              <a:avLst/>
            </a:prstGeom>
            <a:solidFill>
              <a:srgbClr val="AEE8CC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rPr>
                <a:t>解码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B770B02E-9749-88D3-3CCA-AD497BDD021E}"/>
                </a:ext>
              </a:extLst>
            </p:cNvPr>
            <p:cNvSpPr/>
            <p:nvPr/>
          </p:nvSpPr>
          <p:spPr>
            <a:xfrm>
              <a:off x="8802866" y="4133040"/>
              <a:ext cx="1598686" cy="792162"/>
            </a:xfrm>
            <a:prstGeom prst="roundRect">
              <a:avLst/>
            </a:prstGeom>
            <a:solidFill>
              <a:srgbClr val="AEE8CC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rPr>
                <a:t>执行</a:t>
              </a:r>
            </a:p>
          </p:txBody>
        </p:sp>
        <p:cxnSp>
          <p:nvCxnSpPr>
            <p:cNvPr id="12" name="连接符: 肘形 11">
              <a:extLst>
                <a:ext uri="{FF2B5EF4-FFF2-40B4-BE49-F238E27FC236}">
                  <a16:creationId xmlns:a16="http://schemas.microsoft.com/office/drawing/2014/main" id="{B2FB2615-54E9-DC7C-61F3-A9B159B4C386}"/>
                </a:ext>
              </a:extLst>
            </p:cNvPr>
            <p:cNvCxnSpPr>
              <a:cxnSpLocks/>
              <a:stCxn id="24" idx="2"/>
              <a:endCxn id="8" idx="0"/>
            </p:cNvCxnSpPr>
            <p:nvPr/>
          </p:nvCxnSpPr>
          <p:spPr bwMode="auto">
            <a:xfrm rot="5400000" flipH="1" flipV="1">
              <a:off x="7336551" y="3908046"/>
              <a:ext cx="4524965" cy="6350"/>
            </a:xfrm>
            <a:prstGeom prst="bentConnector5">
              <a:avLst>
                <a:gd name="adj1" fmla="val -5052"/>
                <a:gd name="adj2" fmla="val 25633780"/>
                <a:gd name="adj3" fmla="val 105052"/>
              </a:avLst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01F219CF-EF2E-9795-824A-725BC1105727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 bwMode="auto">
            <a:xfrm>
              <a:off x="9602209" y="2440900"/>
              <a:ext cx="0" cy="449989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DD49A83-2EAF-FD70-8712-B89B536F855B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 bwMode="auto">
            <a:xfrm>
              <a:off x="9602209" y="3683051"/>
              <a:ext cx="0" cy="449989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7E42B6C-A80B-A6FC-4C2C-CA795F7B7DEF}"/>
                </a:ext>
              </a:extLst>
            </p:cNvPr>
            <p:cNvSpPr txBox="1"/>
            <p:nvPr/>
          </p:nvSpPr>
          <p:spPr>
            <a:xfrm>
              <a:off x="8802866" y="926879"/>
              <a:ext cx="25577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循环下一条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F33A4C7E-6180-FC53-776B-497FA315D274}"/>
                </a:ext>
              </a:extLst>
            </p:cNvPr>
            <p:cNvSpPr/>
            <p:nvPr/>
          </p:nvSpPr>
          <p:spPr>
            <a:xfrm>
              <a:off x="8796516" y="5381541"/>
              <a:ext cx="1598686" cy="792162"/>
            </a:xfrm>
            <a:prstGeom prst="roundRect">
              <a:avLst/>
            </a:prstGeom>
            <a:solidFill>
              <a:srgbClr val="AEE8CC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rPr>
                <a:t>写回</a:t>
              </a: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82968EA1-5B7D-AD87-4471-043D2F96F24D}"/>
                </a:ext>
              </a:extLst>
            </p:cNvPr>
            <p:cNvCxnSpPr>
              <a:cxnSpLocks/>
              <a:stCxn id="10" idx="2"/>
              <a:endCxn id="24" idx="0"/>
            </p:cNvCxnSpPr>
            <p:nvPr/>
          </p:nvCxnSpPr>
          <p:spPr bwMode="auto">
            <a:xfrm flipH="1">
              <a:off x="9595859" y="4925202"/>
              <a:ext cx="6350" cy="456339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867140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D5168-3385-20FC-704A-C793AB53E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E5C1532-2A14-03E0-A2E3-2D7B12FFA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一、计算机原理与程序设计概述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F4D399-DF6D-41C8-58D3-A12E6DBC7986}"/>
              </a:ext>
            </a:extLst>
          </p:cNvPr>
          <p:cNvSpPr txBox="1"/>
          <p:nvPr/>
        </p:nvSpPr>
        <p:spPr>
          <a:xfrm>
            <a:off x="218661" y="1676216"/>
            <a:ext cx="7320277" cy="3961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算法与编程：</a:t>
            </a:r>
            <a:endParaRPr lang="en-US" altLang="zh-CN" sz="3200" b="1" dirty="0">
              <a:solidFill>
                <a:schemeClr val="accent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6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算法定义</a:t>
            </a:r>
            <a:r>
              <a:rPr lang="zh-CN" altLang="en-US" sz="26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：解决问题的明确步骤</a:t>
            </a:r>
            <a:endParaRPr lang="en-US" altLang="zh-CN" sz="26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6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编程</a:t>
            </a:r>
            <a:r>
              <a:rPr lang="zh-CN" altLang="en-US" sz="26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：将算法转换为计算机能理解和执行的代码</a:t>
            </a:r>
            <a:endParaRPr lang="en-US" altLang="zh-CN" sz="26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6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时间复杂度</a:t>
            </a:r>
            <a:r>
              <a:rPr lang="zh-CN" altLang="en-US" sz="26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：执行时间随数据规模的增长趋势</a:t>
            </a:r>
            <a:endParaRPr lang="en-US" altLang="zh-CN" sz="26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6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空间复杂度</a:t>
            </a:r>
            <a:r>
              <a:rPr lang="zh-CN" altLang="en-US" sz="26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：内存占用随数据规模的增长趋势</a:t>
            </a:r>
            <a:endParaRPr lang="en-US" altLang="zh-CN" sz="26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7C234F0-9009-D8AE-3021-694C88ADE5B8}"/>
              </a:ext>
            </a:extLst>
          </p:cNvPr>
          <p:cNvGrpSpPr/>
          <p:nvPr/>
        </p:nvGrpSpPr>
        <p:grpSpPr>
          <a:xfrm>
            <a:off x="7580264" y="1335784"/>
            <a:ext cx="4493133" cy="4599258"/>
            <a:chOff x="7249740" y="1630256"/>
            <a:chExt cx="4493133" cy="459925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813431D-3119-53AD-BFDC-AA9EEF347D94}"/>
                </a:ext>
              </a:extLst>
            </p:cNvPr>
            <p:cNvSpPr/>
            <p:nvPr/>
          </p:nvSpPr>
          <p:spPr>
            <a:xfrm>
              <a:off x="7255796" y="1630256"/>
              <a:ext cx="1986247" cy="744843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提出问题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2F60443-0851-4193-AD1C-0B4F42E8520C}"/>
                </a:ext>
              </a:extLst>
            </p:cNvPr>
            <p:cNvSpPr/>
            <p:nvPr/>
          </p:nvSpPr>
          <p:spPr>
            <a:xfrm>
              <a:off x="7255796" y="2890839"/>
              <a:ext cx="1986247" cy="744843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问题分析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C70776D-C431-81A0-CF92-55F71E9F6110}"/>
                </a:ext>
              </a:extLst>
            </p:cNvPr>
            <p:cNvSpPr/>
            <p:nvPr/>
          </p:nvSpPr>
          <p:spPr>
            <a:xfrm>
              <a:off x="7249740" y="4187754"/>
              <a:ext cx="1986247" cy="744843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数学建模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D4DDAF4-6341-6172-716D-89F23F45603A}"/>
                </a:ext>
              </a:extLst>
            </p:cNvPr>
            <p:cNvSpPr/>
            <p:nvPr/>
          </p:nvSpPr>
          <p:spPr>
            <a:xfrm>
              <a:off x="7249740" y="5484671"/>
              <a:ext cx="1986247" cy="744843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编写程序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251D070-0A3F-5E36-6345-1E726EFE16C9}"/>
                </a:ext>
              </a:extLst>
            </p:cNvPr>
            <p:cNvSpPr/>
            <p:nvPr/>
          </p:nvSpPr>
          <p:spPr>
            <a:xfrm>
              <a:off x="9756626" y="1630256"/>
              <a:ext cx="1986247" cy="744843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运行程序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83859E2-9A1A-2D41-BBF5-298B493EFB71}"/>
                </a:ext>
              </a:extLst>
            </p:cNvPr>
            <p:cNvSpPr/>
            <p:nvPr/>
          </p:nvSpPr>
          <p:spPr>
            <a:xfrm>
              <a:off x="9756626" y="2890839"/>
              <a:ext cx="1986247" cy="744843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获得结果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DDC976F-E067-4DEA-3D75-23393A907863}"/>
                </a:ext>
              </a:extLst>
            </p:cNvPr>
            <p:cNvSpPr/>
            <p:nvPr/>
          </p:nvSpPr>
          <p:spPr>
            <a:xfrm>
              <a:off x="9756626" y="4187754"/>
              <a:ext cx="1986247" cy="744843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解决问题</a:t>
              </a:r>
            </a:p>
          </p:txBody>
        </p:sp>
        <p:cxnSp>
          <p:nvCxnSpPr>
            <p:cNvPr id="13" name="连接符: 肘形 12">
              <a:extLst>
                <a:ext uri="{FF2B5EF4-FFF2-40B4-BE49-F238E27FC236}">
                  <a16:creationId xmlns:a16="http://schemas.microsoft.com/office/drawing/2014/main" id="{651632FC-96A6-7A8B-DF04-590B2AC52BF0}"/>
                </a:ext>
              </a:extLst>
            </p:cNvPr>
            <p:cNvCxnSpPr>
              <a:cxnSpLocks/>
              <a:stCxn id="8" idx="3"/>
              <a:endCxn id="9" idx="0"/>
            </p:cNvCxnSpPr>
            <p:nvPr/>
          </p:nvCxnSpPr>
          <p:spPr bwMode="auto">
            <a:xfrm flipV="1">
              <a:off x="9235987" y="1630256"/>
              <a:ext cx="1513763" cy="4226837"/>
            </a:xfrm>
            <a:prstGeom prst="bentConnector4">
              <a:avLst>
                <a:gd name="adj1" fmla="val 17197"/>
                <a:gd name="adj2" fmla="val 105408"/>
              </a:avLst>
            </a:prstGeom>
            <a:ln w="381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60B6EFE7-4327-14B1-1A2E-FF44973C924F}"/>
                </a:ext>
              </a:extLst>
            </p:cNvPr>
            <p:cNvCxnSpPr>
              <a:stCxn id="2" idx="2"/>
              <a:endCxn id="4" idx="0"/>
            </p:cNvCxnSpPr>
            <p:nvPr/>
          </p:nvCxnSpPr>
          <p:spPr bwMode="auto">
            <a:xfrm>
              <a:off x="8248920" y="2375099"/>
              <a:ext cx="0" cy="515740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C1021103-A8B9-15C2-6BAB-7A63522D5C98}"/>
                </a:ext>
              </a:extLst>
            </p:cNvPr>
            <p:cNvCxnSpPr>
              <a:cxnSpLocks/>
              <a:stCxn id="4" idx="2"/>
              <a:endCxn id="7" idx="0"/>
            </p:cNvCxnSpPr>
            <p:nvPr/>
          </p:nvCxnSpPr>
          <p:spPr bwMode="auto">
            <a:xfrm flipH="1">
              <a:off x="8242864" y="3635682"/>
              <a:ext cx="6056" cy="552072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5E9C8D11-EAFE-B194-2FBD-115B7477CB31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 bwMode="auto">
            <a:xfrm>
              <a:off x="8242864" y="4932597"/>
              <a:ext cx="0" cy="552074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6FC0F6FA-A8EE-82FA-5F2E-953AD364F6B3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 bwMode="auto">
            <a:xfrm>
              <a:off x="10749750" y="2375099"/>
              <a:ext cx="0" cy="515740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DA14B9E-C0A5-73D3-038C-B1BCF723451A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 bwMode="auto">
            <a:xfrm>
              <a:off x="10749750" y="3635682"/>
              <a:ext cx="0" cy="552072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">
            <a:extLst>
              <a:ext uri="{FF2B5EF4-FFF2-40B4-BE49-F238E27FC236}">
                <a16:creationId xmlns:a16="http://schemas.microsoft.com/office/drawing/2014/main" id="{C456BE67-AF53-BFA2-0E1B-8C5835563AE9}"/>
              </a:ext>
            </a:extLst>
          </p:cNvPr>
          <p:cNvSpPr txBox="1"/>
          <p:nvPr/>
        </p:nvSpPr>
        <p:spPr>
          <a:xfrm>
            <a:off x="378920" y="846751"/>
            <a:ext cx="5832583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计算机程序设计概述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C93FDF-9E42-F354-4443-434A673B8B7D}"/>
              </a:ext>
            </a:extLst>
          </p:cNvPr>
          <p:cNvSpPr txBox="1"/>
          <p:nvPr/>
        </p:nvSpPr>
        <p:spPr>
          <a:xfrm>
            <a:off x="7600142" y="6060341"/>
            <a:ext cx="4493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+mn-ea"/>
                <a:ea typeface="+mn-ea"/>
              </a:rPr>
              <a:t>程序设计过程</a:t>
            </a:r>
          </a:p>
        </p:txBody>
      </p:sp>
    </p:spTree>
    <p:extLst>
      <p:ext uri="{BB962C8B-B14F-4D97-AF65-F5344CB8AC3E}">
        <p14:creationId xmlns:p14="http://schemas.microsoft.com/office/powerpoint/2010/main" val="76557170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80797-43B8-6F38-FDE5-66360982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C16C9DE-CDAF-B36B-02CB-823274E3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一、计算机原理与程序设计概述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FDD6F-F7CC-58FC-7D90-EC568CFDE5A5}"/>
              </a:ext>
            </a:extLst>
          </p:cNvPr>
          <p:cNvSpPr txBox="1"/>
          <p:nvPr/>
        </p:nvSpPr>
        <p:spPr>
          <a:xfrm>
            <a:off x="138063" y="1676216"/>
            <a:ext cx="7400876" cy="4081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算法与编程：</a:t>
            </a:r>
            <a:endParaRPr lang="en-US" altLang="zh-CN" sz="3200" b="1" dirty="0">
              <a:solidFill>
                <a:schemeClr val="accent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7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算法定义</a:t>
            </a:r>
            <a:r>
              <a:rPr lang="zh-CN" altLang="en-US" sz="27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：解决问题的明确步骤</a:t>
            </a:r>
            <a:endParaRPr lang="en-US" altLang="zh-CN" sz="27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7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编程</a:t>
            </a:r>
            <a:r>
              <a:rPr lang="zh-CN" altLang="en-US" sz="27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：将算法转换为计算机能理解和执行的代码</a:t>
            </a:r>
            <a:endParaRPr lang="en-US" altLang="zh-CN" sz="27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7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时间复杂度</a:t>
            </a:r>
            <a:r>
              <a:rPr lang="zh-CN" altLang="en-US" sz="27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：执行时间随数据规模的增长趋势</a:t>
            </a:r>
            <a:endParaRPr lang="en-US" altLang="zh-CN" sz="27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7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空间复杂度</a:t>
            </a:r>
            <a:r>
              <a:rPr lang="zh-CN" altLang="en-US" sz="27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：内存占用随数据规模的增长趋势</a:t>
            </a:r>
            <a:endParaRPr lang="en-US" altLang="zh-CN" sz="27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C38621-2153-E223-23C6-0B69335828F3}"/>
              </a:ext>
            </a:extLst>
          </p:cNvPr>
          <p:cNvSpPr/>
          <p:nvPr/>
        </p:nvSpPr>
        <p:spPr>
          <a:xfrm>
            <a:off x="8752933" y="1004827"/>
            <a:ext cx="1973179" cy="629608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选出其中一名同学分数</a:t>
            </a:r>
            <a:r>
              <a:rPr lang="en-US" altLang="zh-CN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endParaRPr lang="zh-CN" altLang="en-US" sz="1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6714BA-68EE-2111-86CA-60806A5753D1}"/>
              </a:ext>
            </a:extLst>
          </p:cNvPr>
          <p:cNvSpPr/>
          <p:nvPr/>
        </p:nvSpPr>
        <p:spPr>
          <a:xfrm>
            <a:off x="8752932" y="1901117"/>
            <a:ext cx="1973179" cy="629608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从剩余同学中选出一名同学分数</a:t>
            </a:r>
            <a:r>
              <a:rPr lang="en-US" altLang="zh-CN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endParaRPr lang="zh-CN" altLang="en-US" sz="1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EF82EA-13D4-7484-0E88-8A60F91A0EC4}"/>
              </a:ext>
            </a:extLst>
          </p:cNvPr>
          <p:cNvSpPr/>
          <p:nvPr/>
        </p:nvSpPr>
        <p:spPr>
          <a:xfrm>
            <a:off x="8752931" y="2829828"/>
            <a:ext cx="1973179" cy="629608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判断</a:t>
            </a:r>
            <a:r>
              <a:rPr lang="en-US" altLang="zh-CN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endParaRPr lang="zh-CN" altLang="en-US" sz="1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E2ADA3-BC7A-A3E4-6E2C-9A6FE38AD067}"/>
              </a:ext>
            </a:extLst>
          </p:cNvPr>
          <p:cNvSpPr/>
          <p:nvPr/>
        </p:nvSpPr>
        <p:spPr>
          <a:xfrm>
            <a:off x="7950465" y="3796102"/>
            <a:ext cx="1468408" cy="540585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a&gt;b</a:t>
            </a:r>
            <a:endParaRPr lang="zh-CN" altLang="en-US" sz="1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31E457-4E0F-7231-F1D9-4D1125DD23C3}"/>
              </a:ext>
            </a:extLst>
          </p:cNvPr>
          <p:cNvSpPr/>
          <p:nvPr/>
        </p:nvSpPr>
        <p:spPr>
          <a:xfrm>
            <a:off x="10082463" y="3814891"/>
            <a:ext cx="1713297" cy="540585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a&lt;b</a:t>
            </a:r>
            <a:endParaRPr lang="zh-CN" altLang="en-US" sz="18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026475-C9C7-0C05-9139-3E11911AECAD}"/>
              </a:ext>
            </a:extLst>
          </p:cNvPr>
          <p:cNvSpPr/>
          <p:nvPr/>
        </p:nvSpPr>
        <p:spPr>
          <a:xfrm>
            <a:off x="10076688" y="4563160"/>
            <a:ext cx="1723808" cy="634080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删除</a:t>
            </a:r>
            <a:r>
              <a:rPr lang="en-US" altLang="zh-CN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a, </a:t>
            </a:r>
            <a:r>
              <a:rPr lang="zh-CN" altLang="en-US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en-US" altLang="zh-CN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设置为新的</a:t>
            </a:r>
            <a:r>
              <a:rPr lang="en-US" altLang="zh-CN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endParaRPr lang="zh-CN" altLang="en-US" sz="1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3E59AF-7DD4-039C-AED2-88D85287F6E5}"/>
              </a:ext>
            </a:extLst>
          </p:cNvPr>
          <p:cNvSpPr/>
          <p:nvPr/>
        </p:nvSpPr>
        <p:spPr>
          <a:xfrm>
            <a:off x="8853282" y="5533906"/>
            <a:ext cx="1772476" cy="540585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最大值为</a:t>
            </a:r>
            <a:r>
              <a:rPr lang="en-US" altLang="zh-CN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endParaRPr lang="zh-CN" altLang="en-US" sz="1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1F26024D-3EEA-051C-0272-DA50C3F640BF}"/>
              </a:ext>
            </a:extLst>
          </p:cNvPr>
          <p:cNvCxnSpPr>
            <a:cxnSpLocks/>
            <a:stCxn id="8" idx="1"/>
            <a:endCxn id="4" idx="1"/>
          </p:cNvCxnSpPr>
          <p:nvPr/>
        </p:nvCxnSpPr>
        <p:spPr bwMode="auto">
          <a:xfrm rot="10800000" flipH="1">
            <a:off x="7950464" y="2215921"/>
            <a:ext cx="802467" cy="1850474"/>
          </a:xfrm>
          <a:prstGeom prst="bentConnector3">
            <a:avLst>
              <a:gd name="adj1" fmla="val -28487"/>
            </a:avLst>
          </a:prstGeom>
          <a:ln w="381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7F92E9A-671A-E654-F3F3-BB5D84961DDA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 bwMode="auto">
          <a:xfrm flipH="1">
            <a:off x="9739522" y="1634435"/>
            <a:ext cx="1" cy="266682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239B45C-81EA-DA62-0BE1-16AD38AD942E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 bwMode="auto">
          <a:xfrm flipH="1">
            <a:off x="9739521" y="2530725"/>
            <a:ext cx="1" cy="299103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E26ACD0-AD27-C30A-9425-FFE27B7A953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 bwMode="auto">
          <a:xfrm flipH="1">
            <a:off x="8684669" y="3459436"/>
            <a:ext cx="1054852" cy="336666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D6A2F01-8070-3C27-5E6F-65C3760EF6E0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 bwMode="auto">
          <a:xfrm flipH="1">
            <a:off x="10938592" y="4355476"/>
            <a:ext cx="520" cy="207684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D3EB9592-5473-DFF5-81D7-01B2146689C0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 bwMode="auto">
          <a:xfrm flipH="1">
            <a:off x="9739520" y="5197240"/>
            <a:ext cx="1199072" cy="336666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">
            <a:extLst>
              <a:ext uri="{FF2B5EF4-FFF2-40B4-BE49-F238E27FC236}">
                <a16:creationId xmlns:a16="http://schemas.microsoft.com/office/drawing/2014/main" id="{FF6A004A-F161-D833-D3CA-A0CAAFE23A8C}"/>
              </a:ext>
            </a:extLst>
          </p:cNvPr>
          <p:cNvSpPr txBox="1"/>
          <p:nvPr/>
        </p:nvSpPr>
        <p:spPr>
          <a:xfrm>
            <a:off x="378920" y="846751"/>
            <a:ext cx="5832583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计算机程序设计概述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1365BC-8D8C-FE9B-A9FB-65B03D23B2F6}"/>
              </a:ext>
            </a:extLst>
          </p:cNvPr>
          <p:cNvSpPr txBox="1"/>
          <p:nvPr/>
        </p:nvSpPr>
        <p:spPr>
          <a:xfrm>
            <a:off x="8123583" y="6144837"/>
            <a:ext cx="340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+mn-ea"/>
                <a:ea typeface="+mn-ea"/>
              </a:rPr>
              <a:t>程序设计过程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0F2F7F4-2712-CACF-6A6B-CD4A3315048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 bwMode="auto">
          <a:xfrm>
            <a:off x="9739521" y="3459436"/>
            <a:ext cx="1199591" cy="355455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2AE3466-0444-14C8-19C9-1DC6469FC3A9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 bwMode="auto">
          <a:xfrm>
            <a:off x="8684669" y="4336687"/>
            <a:ext cx="1054851" cy="1197219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F0ADED4A-BB18-8947-AD7D-A3A890E74748}"/>
              </a:ext>
            </a:extLst>
          </p:cNvPr>
          <p:cNvCxnSpPr>
            <a:cxnSpLocks/>
            <a:stCxn id="10" idx="3"/>
            <a:endCxn id="4" idx="3"/>
          </p:cNvCxnSpPr>
          <p:nvPr/>
        </p:nvCxnSpPr>
        <p:spPr bwMode="auto">
          <a:xfrm flipH="1" flipV="1">
            <a:off x="10726111" y="2215921"/>
            <a:ext cx="1074385" cy="2664279"/>
          </a:xfrm>
          <a:prstGeom prst="bentConnector3">
            <a:avLst>
              <a:gd name="adj1" fmla="val -21277"/>
            </a:avLst>
          </a:prstGeom>
          <a:ln w="381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78893C60-F003-3681-2452-52EC8B01FAE4}"/>
              </a:ext>
            </a:extLst>
          </p:cNvPr>
          <p:cNvSpPr txBox="1"/>
          <p:nvPr/>
        </p:nvSpPr>
        <p:spPr>
          <a:xfrm>
            <a:off x="1566242" y="6001208"/>
            <a:ext cx="6492240" cy="523220"/>
          </a:xfrm>
          <a:prstGeom prst="rect">
            <a:avLst/>
          </a:prstGeom>
          <a:solidFill>
            <a:srgbClr val="C3E8CC">
              <a:alpha val="31000"/>
            </a:srgb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+mj-ea"/>
                <a:ea typeface="+mj-ea"/>
              </a:rPr>
              <a:t>全班同学成绩最高分计算编程为例 </a:t>
            </a:r>
          </a:p>
        </p:txBody>
      </p:sp>
    </p:spTree>
    <p:extLst>
      <p:ext uri="{BB962C8B-B14F-4D97-AF65-F5344CB8AC3E}">
        <p14:creationId xmlns:p14="http://schemas.microsoft.com/office/powerpoint/2010/main" val="384740848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D5122-F886-F434-1B74-466A64DC5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107DB98C-8FC2-1089-9099-0DCAB50E6E9D}"/>
              </a:ext>
            </a:extLst>
          </p:cNvPr>
          <p:cNvSpPr/>
          <p:nvPr/>
        </p:nvSpPr>
        <p:spPr>
          <a:xfrm>
            <a:off x="6364466" y="1590736"/>
            <a:ext cx="4971672" cy="463287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95B237E-85F7-993B-F078-BAF9BFA4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一、计算机原理与程序设计概述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68D2D-B1C4-E65C-6581-EFB90DBC6E31}"/>
              </a:ext>
            </a:extLst>
          </p:cNvPr>
          <p:cNvSpPr txBox="1"/>
          <p:nvPr/>
        </p:nvSpPr>
        <p:spPr>
          <a:xfrm>
            <a:off x="378920" y="846751"/>
            <a:ext cx="5832583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计算机程序设计概述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8C915E-166B-DC37-C9BE-099FED014CF1}"/>
              </a:ext>
            </a:extLst>
          </p:cNvPr>
          <p:cNvSpPr txBox="1"/>
          <p:nvPr/>
        </p:nvSpPr>
        <p:spPr>
          <a:xfrm>
            <a:off x="396063" y="1590737"/>
            <a:ext cx="5696306" cy="4632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程序设计语言层级：</a:t>
            </a:r>
            <a:endParaRPr lang="en-US" altLang="zh-CN" sz="3200" b="1" dirty="0">
              <a:solidFill>
                <a:schemeClr val="accent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机器语言</a:t>
            </a:r>
            <a:r>
              <a:rPr lang="zh-CN" altLang="en-US" sz="28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：二进制指令（</a:t>
            </a:r>
            <a:r>
              <a:rPr lang="en-US" altLang="zh-CN" sz="28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CPU</a:t>
            </a:r>
            <a:r>
              <a:rPr lang="zh-CN" altLang="en-US" sz="28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直接执行）</a:t>
            </a:r>
            <a:endParaRPr lang="en-US" altLang="zh-CN" sz="28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汇编语言</a:t>
            </a:r>
            <a:r>
              <a:rPr lang="zh-CN" altLang="en-US" sz="28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：接近机器语言，是一种低级编程语言</a:t>
            </a:r>
            <a:endParaRPr lang="en-US" altLang="zh-CN" sz="2800" dirty="0">
              <a:solidFill>
                <a:schemeClr val="bg2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高级语言</a:t>
            </a:r>
            <a:r>
              <a:rPr lang="zh-CN" altLang="en-US" sz="28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8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en-US" sz="28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dirty="0">
                <a:solidFill>
                  <a:schemeClr val="bg2"/>
                </a:solidFill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Java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774422F-D8E3-2A3E-7E64-9DD6504C2B52}"/>
              </a:ext>
            </a:extLst>
          </p:cNvPr>
          <p:cNvGrpSpPr/>
          <p:nvPr/>
        </p:nvGrpSpPr>
        <p:grpSpPr>
          <a:xfrm>
            <a:off x="6474074" y="5183358"/>
            <a:ext cx="2509727" cy="954946"/>
            <a:chOff x="7969207" y="3757576"/>
            <a:chExt cx="2509727" cy="95494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7D0B22-ACD6-5CAD-307D-087E91AF68FD}"/>
                </a:ext>
              </a:extLst>
            </p:cNvPr>
            <p:cNvSpPr txBox="1"/>
            <p:nvPr/>
          </p:nvSpPr>
          <p:spPr>
            <a:xfrm>
              <a:off x="7969207" y="3757576"/>
              <a:ext cx="16895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CN" b="1" dirty="0">
                  <a:solidFill>
                    <a:srgbClr val="C00000"/>
                  </a:solidFill>
                  <a:latin typeface="+mn-ea"/>
                  <a:ea typeface="+mn-ea"/>
                </a:rPr>
                <a:t>汇编语言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EF604A1-DA48-7384-C5B0-144CDD8089D2}"/>
                </a:ext>
              </a:extLst>
            </p:cNvPr>
            <p:cNvSpPr txBox="1"/>
            <p:nvPr/>
          </p:nvSpPr>
          <p:spPr>
            <a:xfrm>
              <a:off x="7969207" y="4250857"/>
              <a:ext cx="250972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b="1" dirty="0">
                  <a:solidFill>
                    <a:srgbClr val="333399"/>
                  </a:solidFill>
                  <a:highlight>
                    <a:srgbClr val="FFFFFF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ADD</a:t>
              </a:r>
              <a:r>
                <a:rPr lang="zh-CN" altLang="en-US" b="1" dirty="0">
                  <a:solidFill>
                    <a:srgbClr val="333399"/>
                  </a:solidFill>
                  <a:highlight>
                    <a:srgbClr val="FFFFFF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b="1" dirty="0">
                  <a:solidFill>
                    <a:srgbClr val="333399"/>
                  </a:solidFill>
                  <a:highlight>
                    <a:srgbClr val="FFFFFF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R0 R1</a:t>
              </a:r>
              <a:r>
                <a:rPr lang="zh-CN" altLang="en-US" b="1" dirty="0">
                  <a:solidFill>
                    <a:srgbClr val="333399"/>
                  </a:solidFill>
                  <a:highlight>
                    <a:srgbClr val="FFFFFF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b="1" dirty="0">
                  <a:solidFill>
                    <a:srgbClr val="333399"/>
                  </a:solidFill>
                  <a:highlight>
                    <a:srgbClr val="FFFFFF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R2</a:t>
              </a:r>
              <a:r>
                <a:rPr lang="zh-CN" altLang="en-US" b="1" dirty="0">
                  <a:solidFill>
                    <a:srgbClr val="333399"/>
                  </a:solidFill>
                  <a:highlight>
                    <a:srgbClr val="FFFFFF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endParaRPr lang="zh-CN" altLang="en-US" b="1" dirty="0">
                <a:solidFill>
                  <a:srgbClr val="333399"/>
                </a:solidFill>
              </a:endParaRPr>
            </a:p>
          </p:txBody>
        </p:sp>
      </p:grpSp>
      <p:sp>
        <p:nvSpPr>
          <p:cNvPr id="10" name="TextBox 6">
            <a:extLst>
              <a:ext uri="{FF2B5EF4-FFF2-40B4-BE49-F238E27FC236}">
                <a16:creationId xmlns:a16="http://schemas.microsoft.com/office/drawing/2014/main" id="{5579C601-7411-5262-0453-BD21073817FF}"/>
              </a:ext>
            </a:extLst>
          </p:cNvPr>
          <p:cNvSpPr txBox="1"/>
          <p:nvPr/>
        </p:nvSpPr>
        <p:spPr>
          <a:xfrm>
            <a:off x="6459786" y="3096861"/>
            <a:ext cx="1980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b="1" dirty="0">
                <a:solidFill>
                  <a:schemeClr val="bg2"/>
                </a:solidFill>
                <a:latin typeface="+mn-ea"/>
                <a:ea typeface="+mn-ea"/>
              </a:rPr>
              <a:t>两整数相加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0957EA3-4933-E419-FAC8-DCF0111748B3}"/>
              </a:ext>
            </a:extLst>
          </p:cNvPr>
          <p:cNvGrpSpPr/>
          <p:nvPr/>
        </p:nvGrpSpPr>
        <p:grpSpPr>
          <a:xfrm>
            <a:off x="8969514" y="1647671"/>
            <a:ext cx="1960456" cy="3250560"/>
            <a:chOff x="9546965" y="737847"/>
            <a:chExt cx="1960456" cy="3250560"/>
          </a:xfrm>
        </p:grpSpPr>
        <p:pic>
          <p:nvPicPr>
            <p:cNvPr id="5" name="Picture 4" descr="A close-up of a number&#10;&#10;AI-generated content may be incorrect.">
              <a:extLst>
                <a:ext uri="{FF2B5EF4-FFF2-40B4-BE49-F238E27FC236}">
                  <a16:creationId xmlns:a16="http://schemas.microsoft.com/office/drawing/2014/main" id="{12B5E0E6-8B48-0219-8826-C977ED627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67329" y="1205072"/>
              <a:ext cx="1940092" cy="2783335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5959EFDD-D348-B712-D018-25919B274190}"/>
                </a:ext>
              </a:extLst>
            </p:cNvPr>
            <p:cNvSpPr txBox="1"/>
            <p:nvPr/>
          </p:nvSpPr>
          <p:spPr>
            <a:xfrm>
              <a:off x="9546965" y="737847"/>
              <a:ext cx="19604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+mn-ea"/>
                  <a:ea typeface="+mn-ea"/>
                </a:rPr>
                <a:t>机器语言</a:t>
              </a:r>
              <a:endParaRPr lang="en-CN" b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E35E75E-9E39-3C39-E8BE-A14E23628190}"/>
              </a:ext>
            </a:extLst>
          </p:cNvPr>
          <p:cNvGrpSpPr/>
          <p:nvPr/>
        </p:nvGrpSpPr>
        <p:grpSpPr>
          <a:xfrm>
            <a:off x="9198154" y="5170469"/>
            <a:ext cx="2765696" cy="967835"/>
            <a:chOff x="8738016" y="5691985"/>
            <a:chExt cx="2765696" cy="96783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44F04E4-95AA-EA43-1B81-1017B392FE22}"/>
                </a:ext>
              </a:extLst>
            </p:cNvPr>
            <p:cNvSpPr txBox="1"/>
            <p:nvPr/>
          </p:nvSpPr>
          <p:spPr>
            <a:xfrm>
              <a:off x="8739618" y="5691985"/>
              <a:ext cx="12913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+mn-ea"/>
                  <a:ea typeface="+mn-ea"/>
                </a:rPr>
                <a:t>P</a:t>
              </a:r>
              <a:r>
                <a:rPr lang="en-CN" b="1" dirty="0">
                  <a:solidFill>
                    <a:srgbClr val="C00000"/>
                  </a:solidFill>
                  <a:latin typeface="+mn-ea"/>
                  <a:ea typeface="+mn-ea"/>
                </a:rPr>
                <a:t>ython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6FC6AB4-ED62-DFBC-4A55-CC78F9E09965}"/>
                </a:ext>
              </a:extLst>
            </p:cNvPr>
            <p:cNvSpPr txBox="1"/>
            <p:nvPr/>
          </p:nvSpPr>
          <p:spPr>
            <a:xfrm>
              <a:off x="8738016" y="6198155"/>
              <a:ext cx="276569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b="1" dirty="0">
                  <a:solidFill>
                    <a:srgbClr val="333399"/>
                  </a:solidFill>
                  <a:highlight>
                    <a:srgbClr val="FFFFFF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R0</a:t>
              </a:r>
              <a:r>
                <a:rPr lang="zh-CN" altLang="en-US" b="1" dirty="0">
                  <a:solidFill>
                    <a:srgbClr val="333399"/>
                  </a:solidFill>
                  <a:highlight>
                    <a:srgbClr val="FFFFFF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b="1" dirty="0">
                  <a:solidFill>
                    <a:srgbClr val="333399"/>
                  </a:solidFill>
                  <a:highlight>
                    <a:srgbClr val="FFFFFF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=</a:t>
              </a:r>
              <a:r>
                <a:rPr lang="zh-CN" altLang="en-US" b="1" dirty="0">
                  <a:solidFill>
                    <a:srgbClr val="333399"/>
                  </a:solidFill>
                  <a:highlight>
                    <a:srgbClr val="FFFFFF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b="1" dirty="0">
                  <a:solidFill>
                    <a:srgbClr val="333399"/>
                  </a:solidFill>
                  <a:highlight>
                    <a:srgbClr val="FFFFFF"/>
                  </a:highligh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R1+R2</a:t>
              </a:r>
              <a:endParaRPr lang="zh-CN" altLang="en-US" b="1" dirty="0">
                <a:solidFill>
                  <a:srgbClr val="33339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086645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4" y="3868892"/>
            <a:ext cx="1167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二、</a:t>
            </a:r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程序设计简介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112259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编程基础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547397" y="846748"/>
            <a:ext cx="9802938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编程语言简介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02774-B04C-634F-1396-E5815996BC36}"/>
              </a:ext>
            </a:extLst>
          </p:cNvPr>
          <p:cNvSpPr txBox="1"/>
          <p:nvPr/>
        </p:nvSpPr>
        <p:spPr>
          <a:xfrm>
            <a:off x="547396" y="1497481"/>
            <a:ext cx="7661655" cy="4486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zh-CN" sz="2800" b="1" dirty="0">
                <a:solidFill>
                  <a:srgbClr val="151515"/>
                </a:solidFill>
                <a:latin typeface="+mn-ea"/>
                <a:ea typeface="+mn-ea"/>
              </a:rPr>
              <a:t>Python</a:t>
            </a:r>
            <a:r>
              <a:rPr lang="zh-CN" altLang="zh-CN" sz="2800" dirty="0">
                <a:solidFill>
                  <a:srgbClr val="151515"/>
                </a:solidFill>
                <a:latin typeface="+mn-ea"/>
                <a:ea typeface="+mn-ea"/>
              </a:rPr>
              <a:t>（英国发音：</a:t>
            </a:r>
            <a:r>
              <a:rPr lang="zh-CN" altLang="zh-CN" sz="2800" dirty="0">
                <a:solidFill>
                  <a:srgbClr val="151515"/>
                </a:solidFill>
                <a:latin typeface="+mn-ea"/>
                <a:ea typeface="+mn-ea"/>
                <a:hlinkClick r:id="rId3" tooltip="Help:英语国际音标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/ˈpaɪθən/</a:t>
            </a:r>
            <a:r>
              <a:rPr lang="zh-CN" altLang="zh-CN" sz="2800" dirty="0">
                <a:solidFill>
                  <a:srgbClr val="151515"/>
                </a:solidFill>
                <a:latin typeface="+mn-ea"/>
                <a:ea typeface="+mn-ea"/>
              </a:rPr>
              <a:t>；美国发音：</a:t>
            </a:r>
            <a:r>
              <a:rPr lang="zh-CN" altLang="zh-CN" sz="2800" dirty="0">
                <a:solidFill>
                  <a:srgbClr val="151515"/>
                </a:solidFill>
                <a:latin typeface="+mn-ea"/>
                <a:ea typeface="+mn-ea"/>
                <a:hlinkClick r:id="rId3" tooltip="Help:英语国际音标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/ˈpaɪθɑːn/</a:t>
            </a:r>
            <a:r>
              <a:rPr lang="zh-CN" altLang="zh-CN" sz="2800" dirty="0">
                <a:solidFill>
                  <a:srgbClr val="151515"/>
                </a:solidFill>
                <a:latin typeface="+mn-ea"/>
                <a:ea typeface="+mn-ea"/>
              </a:rPr>
              <a:t>），是一种广泛使用的</a:t>
            </a:r>
            <a:r>
              <a:rPr lang="zh-CN" altLang="en-US" sz="2800" b="1" u="sng" dirty="0">
                <a:solidFill>
                  <a:srgbClr val="151515"/>
                </a:solidFill>
                <a:latin typeface="+mn-ea"/>
                <a:ea typeface="+mn-ea"/>
              </a:rPr>
              <a:t>解释型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rgbClr val="151515"/>
                </a:solidFill>
                <a:latin typeface="+mn-ea"/>
                <a:ea typeface="+mn-ea"/>
              </a:rPr>
              <a:t>高级的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、和</a:t>
            </a:r>
            <a:r>
              <a:rPr lang="zh-CN" altLang="en-US" sz="2800" b="1" u="sng" dirty="0">
                <a:solidFill>
                  <a:srgbClr val="151515"/>
                </a:solidFill>
                <a:latin typeface="+mn-ea"/>
                <a:ea typeface="+mn-ea"/>
              </a:rPr>
              <a:t>通用的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编程语言。</a:t>
            </a:r>
            <a:endParaRPr lang="en-US" altLang="zh-CN" sz="28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800" dirty="0">
                <a:solidFill>
                  <a:srgbClr val="151515"/>
                </a:solidFill>
                <a:latin typeface="+mn-ea"/>
                <a:ea typeface="+mn-ea"/>
              </a:rPr>
              <a:t>Python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是</a:t>
            </a:r>
            <a:r>
              <a:rPr lang="zh-CN" altLang="en-US" sz="2800" b="1" u="sng" dirty="0">
                <a:solidFill>
                  <a:srgbClr val="151515"/>
                </a:solidFill>
                <a:latin typeface="+mn-ea"/>
                <a:ea typeface="+mn-ea"/>
              </a:rPr>
              <a:t>吉多</a:t>
            </a:r>
            <a:r>
              <a:rPr lang="en-US" altLang="zh-CN" sz="2800" b="1" u="sng" dirty="0">
                <a:solidFill>
                  <a:srgbClr val="151515"/>
                </a:solidFill>
                <a:latin typeface="+mn-ea"/>
                <a:ea typeface="+mn-ea"/>
              </a:rPr>
              <a:t>·</a:t>
            </a:r>
            <a:r>
              <a:rPr lang="zh-CN" altLang="en-US" sz="2800" b="1" u="sng" dirty="0">
                <a:solidFill>
                  <a:srgbClr val="151515"/>
                </a:solidFill>
                <a:latin typeface="+mn-ea"/>
                <a:ea typeface="+mn-ea"/>
              </a:rPr>
              <a:t>范罗苏姆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于</a:t>
            </a:r>
            <a:r>
              <a:rPr lang="en-US" altLang="zh-CN" sz="2800" dirty="0">
                <a:solidFill>
                  <a:srgbClr val="151515"/>
                </a:solidFill>
                <a:latin typeface="+mn-ea"/>
                <a:ea typeface="+mn-ea"/>
              </a:rPr>
              <a:t>1980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年代后期开始研发，于</a:t>
            </a:r>
            <a:r>
              <a:rPr lang="en-US" altLang="zh-CN" sz="2800" dirty="0">
                <a:solidFill>
                  <a:srgbClr val="151515"/>
                </a:solidFill>
                <a:latin typeface="+mn-ea"/>
                <a:ea typeface="+mn-ea"/>
              </a:rPr>
              <a:t>1991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年首次发布的编程语言。</a:t>
            </a:r>
            <a:endParaRPr lang="en-US" altLang="zh-CN" sz="2800" dirty="0">
              <a:solidFill>
                <a:srgbClr val="151515"/>
              </a:solidFill>
              <a:latin typeface="+mn-ea"/>
              <a:ea typeface="+mn-ea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89F6CD5-270F-AD2C-1153-8170963AB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037" y="1472601"/>
            <a:ext cx="2775658" cy="416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3F871B1-EAE8-7534-2805-0EB36E0D9C90}"/>
              </a:ext>
            </a:extLst>
          </p:cNvPr>
          <p:cNvSpPr txBox="1"/>
          <p:nvPr/>
        </p:nvSpPr>
        <p:spPr>
          <a:xfrm>
            <a:off x="8420037" y="5625161"/>
            <a:ext cx="277565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chemeClr val="bg2"/>
                </a:solidFill>
                <a:latin typeface="+mn-ea"/>
                <a:ea typeface="+mn-ea"/>
              </a:rPr>
              <a:t>吉多</a:t>
            </a:r>
            <a:r>
              <a:rPr lang="en-US" altLang="zh-CN" sz="1800" dirty="0">
                <a:solidFill>
                  <a:srgbClr val="151515"/>
                </a:solidFill>
                <a:latin typeface="+mn-ea"/>
                <a:ea typeface="+mn-ea"/>
              </a:rPr>
              <a:t>·</a:t>
            </a:r>
            <a:r>
              <a:rPr lang="zh-CN" altLang="en-US" sz="1800" dirty="0">
                <a:solidFill>
                  <a:srgbClr val="151515"/>
                </a:solidFill>
                <a:latin typeface="+mn-ea"/>
                <a:ea typeface="+mn-ea"/>
              </a:rPr>
              <a:t>范罗苏姆</a:t>
            </a:r>
            <a:endParaRPr lang="en-US" altLang="zh-CN" sz="1800" dirty="0">
              <a:solidFill>
                <a:srgbClr val="151515"/>
              </a:solidFill>
              <a:latin typeface="+mn-ea"/>
              <a:ea typeface="+mn-ea"/>
            </a:endParaRPr>
          </a:p>
          <a:p>
            <a:r>
              <a:rPr lang="zh-CN" altLang="en-US" sz="1800" dirty="0">
                <a:solidFill>
                  <a:srgbClr val="151515"/>
                </a:solidFill>
                <a:latin typeface="+mn-ea"/>
                <a:ea typeface="+mn-ea"/>
              </a:rPr>
              <a:t>（摄于</a:t>
            </a:r>
            <a:r>
              <a:rPr lang="en-US" altLang="zh-CN" sz="1800" dirty="0">
                <a:solidFill>
                  <a:srgbClr val="151515"/>
                </a:solidFill>
                <a:latin typeface="+mn-ea"/>
                <a:ea typeface="+mn-ea"/>
              </a:rPr>
              <a:t>2006</a:t>
            </a:r>
            <a:r>
              <a:rPr lang="zh-CN" altLang="en-US" sz="1800" dirty="0">
                <a:solidFill>
                  <a:srgbClr val="151515"/>
                </a:solidFill>
                <a:latin typeface="+mn-ea"/>
                <a:ea typeface="+mn-ea"/>
              </a:rPr>
              <a:t>）</a:t>
            </a:r>
            <a:endParaRPr lang="zh-CN" altLang="en-US" sz="1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6757760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编程基础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534955" y="846748"/>
            <a:ext cx="981538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编程语言简介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02774-B04C-634F-1396-E5815996BC36}"/>
              </a:ext>
            </a:extLst>
          </p:cNvPr>
          <p:cNvSpPr txBox="1"/>
          <p:nvPr/>
        </p:nvSpPr>
        <p:spPr>
          <a:xfrm>
            <a:off x="389964" y="2295279"/>
            <a:ext cx="6098241" cy="3409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sz="2800" dirty="0">
                <a:solidFill>
                  <a:srgbClr val="151515"/>
                </a:solidFill>
                <a:latin typeface="+mn-ea"/>
                <a:ea typeface="+mn-ea"/>
              </a:rPr>
              <a:t>Python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的设计哲学，强调</a:t>
            </a:r>
            <a:r>
              <a:rPr lang="zh-CN" altLang="en-US" sz="2800" b="1" u="sng" dirty="0">
                <a:solidFill>
                  <a:srgbClr val="151515"/>
                </a:solidFill>
                <a:latin typeface="+mn-ea"/>
                <a:ea typeface="+mn-ea"/>
              </a:rPr>
              <a:t>代码的可读性和简洁的语法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。相比于</a:t>
            </a:r>
            <a:r>
              <a:rPr lang="en-US" altLang="zh-CN" sz="2800" dirty="0">
                <a:solidFill>
                  <a:srgbClr val="151515"/>
                </a:solidFill>
                <a:latin typeface="+mn-ea"/>
                <a:ea typeface="+mn-ea"/>
              </a:rPr>
              <a:t>C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语言或</a:t>
            </a:r>
            <a:r>
              <a:rPr lang="en-US" altLang="zh-CN" sz="2800" dirty="0">
                <a:solidFill>
                  <a:srgbClr val="151515"/>
                </a:solidFill>
                <a:latin typeface="+mn-ea"/>
                <a:ea typeface="+mn-ea"/>
              </a:rPr>
              <a:t>Java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，</a:t>
            </a:r>
            <a:r>
              <a:rPr lang="en-US" altLang="zh-CN" sz="2800" b="1" u="sng" dirty="0">
                <a:solidFill>
                  <a:srgbClr val="151515"/>
                </a:solidFill>
                <a:latin typeface="+mn-ea"/>
                <a:ea typeface="+mn-ea"/>
              </a:rPr>
              <a:t>Python</a:t>
            </a:r>
            <a:r>
              <a:rPr lang="zh-CN" altLang="en-US" sz="2800" b="1" u="sng" dirty="0">
                <a:solidFill>
                  <a:srgbClr val="151515"/>
                </a:solidFill>
                <a:latin typeface="+mn-ea"/>
                <a:ea typeface="+mn-ea"/>
              </a:rPr>
              <a:t>让开发者能够用更少的代码表达想法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rgbClr val="151515"/>
              </a:solidFill>
              <a:latin typeface="+mn-ea"/>
              <a:ea typeface="+mn-ea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B29464D-8065-7C6D-E2B4-8C76D002430A}"/>
              </a:ext>
            </a:extLst>
          </p:cNvPr>
          <p:cNvGrpSpPr/>
          <p:nvPr/>
        </p:nvGrpSpPr>
        <p:grpSpPr>
          <a:xfrm>
            <a:off x="6679434" y="1282210"/>
            <a:ext cx="4617262" cy="2350630"/>
            <a:chOff x="4265480" y="1444374"/>
            <a:chExt cx="4747891" cy="2350630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4680B48F-5950-7F4F-4FE2-3B263AFDC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71963" y="1851496"/>
              <a:ext cx="4741408" cy="1943508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ADAFA4E-D3F7-C2EC-494B-3A08BA9CB11D}"/>
                </a:ext>
              </a:extLst>
            </p:cNvPr>
            <p:cNvSpPr txBox="1"/>
            <p:nvPr/>
          </p:nvSpPr>
          <p:spPr>
            <a:xfrm>
              <a:off x="4265480" y="1444374"/>
              <a:ext cx="474140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>
                  <a:solidFill>
                    <a:srgbClr val="00B050"/>
                  </a:solidFill>
                  <a:latin typeface="+mn-ea"/>
                  <a:ea typeface="+mn-ea"/>
                </a:rPr>
                <a:t>C</a:t>
              </a:r>
              <a:r>
                <a:rPr lang="zh-CN" altLang="en-US" sz="2200" b="1" dirty="0">
                  <a:solidFill>
                    <a:srgbClr val="00B050"/>
                  </a:solidFill>
                  <a:latin typeface="+mn-ea"/>
                  <a:ea typeface="+mn-ea"/>
                </a:rPr>
                <a:t>语言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931663A-00D0-B0A4-01B6-40831AD07B6B}"/>
              </a:ext>
            </a:extLst>
          </p:cNvPr>
          <p:cNvGrpSpPr/>
          <p:nvPr/>
        </p:nvGrpSpPr>
        <p:grpSpPr>
          <a:xfrm>
            <a:off x="6692496" y="3645905"/>
            <a:ext cx="4610958" cy="1656227"/>
            <a:chOff x="4271962" y="3813127"/>
            <a:chExt cx="4741409" cy="1656227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2E466837-FB43-79DE-A9EC-822EB8AC5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71962" y="4187594"/>
              <a:ext cx="4741409" cy="1281760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6311F16-09EF-F498-7EFB-A1324ABA72E2}"/>
                </a:ext>
              </a:extLst>
            </p:cNvPr>
            <p:cNvSpPr txBox="1"/>
            <p:nvPr/>
          </p:nvSpPr>
          <p:spPr>
            <a:xfrm>
              <a:off x="4284204" y="3813127"/>
              <a:ext cx="472916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>
                  <a:solidFill>
                    <a:srgbClr val="00B050"/>
                  </a:solidFill>
                  <a:latin typeface="+mn-ea"/>
                  <a:ea typeface="+mn-ea"/>
                </a:rPr>
                <a:t>JAVA</a:t>
              </a:r>
              <a:endParaRPr lang="zh-CN" altLang="en-US" sz="2200" b="1" dirty="0">
                <a:solidFill>
                  <a:srgbClr val="00B05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5BCAAFE-EC7F-F2ED-F313-2E4F57C52873}"/>
              </a:ext>
            </a:extLst>
          </p:cNvPr>
          <p:cNvGrpSpPr/>
          <p:nvPr/>
        </p:nvGrpSpPr>
        <p:grpSpPr>
          <a:xfrm>
            <a:off x="6704738" y="5288343"/>
            <a:ext cx="4617262" cy="1244751"/>
            <a:chOff x="4265480" y="5384897"/>
            <a:chExt cx="4747891" cy="1244751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863200F9-3801-6655-4303-8E40B86C3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65480" y="5801292"/>
              <a:ext cx="4747891" cy="828356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0CE082D-7C58-EB19-487B-AF76E1109811}"/>
                </a:ext>
              </a:extLst>
            </p:cNvPr>
            <p:cNvSpPr txBox="1"/>
            <p:nvPr/>
          </p:nvSpPr>
          <p:spPr>
            <a:xfrm>
              <a:off x="4271962" y="5384897"/>
              <a:ext cx="47414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>
                  <a:solidFill>
                    <a:srgbClr val="00B050"/>
                  </a:solidFill>
                  <a:latin typeface="+mn-ea"/>
                  <a:ea typeface="+mn-ea"/>
                </a:rPr>
                <a:t>Python</a:t>
              </a:r>
              <a:endParaRPr lang="zh-CN" altLang="en-US" sz="2200" b="1" dirty="0">
                <a:solidFill>
                  <a:srgbClr val="00B050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90234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编程基础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625309" y="846748"/>
            <a:ext cx="9725026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编程语言简介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02774-B04C-634F-1396-E5815996BC36}"/>
              </a:ext>
            </a:extLst>
          </p:cNvPr>
          <p:cNvSpPr txBox="1"/>
          <p:nvPr/>
        </p:nvSpPr>
        <p:spPr>
          <a:xfrm>
            <a:off x="671069" y="1604182"/>
            <a:ext cx="991206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为什么流行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?</a:t>
            </a:r>
          </a:p>
          <a:p>
            <a:pPr marL="457200" indent="-457200" algn="just">
              <a:buAutoNum type="arabicPeriod"/>
            </a:pPr>
            <a:r>
              <a:rPr lang="en-US" altLang="zh-CN" sz="2800" dirty="0">
                <a:solidFill>
                  <a:srgbClr val="151515"/>
                </a:solidFill>
                <a:latin typeface="+mn-ea"/>
                <a:ea typeface="+mn-ea"/>
              </a:rPr>
              <a:t>Python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强调</a:t>
            </a:r>
            <a:r>
              <a:rPr lang="zh-CN" altLang="en-US" sz="2800" b="1" u="sng" dirty="0">
                <a:solidFill>
                  <a:srgbClr val="151515"/>
                </a:solidFill>
                <a:latin typeface="+mn-ea"/>
                <a:ea typeface="+mn-ea"/>
              </a:rPr>
              <a:t>代码的可读性和简洁的语法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，对初学者友好。</a:t>
            </a:r>
            <a:endParaRPr lang="en-US" altLang="zh-CN" sz="2800" dirty="0">
              <a:solidFill>
                <a:srgbClr val="151515"/>
              </a:solidFill>
              <a:latin typeface="+mn-ea"/>
              <a:ea typeface="+mn-ea"/>
            </a:endParaRPr>
          </a:p>
        </p:txBody>
      </p:sp>
      <p:pic>
        <p:nvPicPr>
          <p:cNvPr id="2050" name="Picture 2" descr="图1.1 Python 拥有丰富的生态系统">
            <a:extLst>
              <a:ext uri="{FF2B5EF4-FFF2-40B4-BE49-F238E27FC236}">
                <a16:creationId xmlns:a16="http://schemas.microsoft.com/office/drawing/2014/main" id="{AAC73176-B659-3538-0003-38733D339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302" y="3022114"/>
            <a:ext cx="6228401" cy="364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780D258-7A2F-FAD8-6FC0-04714DD16862}"/>
              </a:ext>
            </a:extLst>
          </p:cNvPr>
          <p:cNvSpPr txBox="1"/>
          <p:nvPr/>
        </p:nvSpPr>
        <p:spPr>
          <a:xfrm>
            <a:off x="671069" y="3135644"/>
            <a:ext cx="5151233" cy="2816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151515"/>
                </a:solidFill>
                <a:latin typeface="+mn-ea"/>
                <a:ea typeface="+mn-ea"/>
              </a:rPr>
              <a:t>2. 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丰富的</a:t>
            </a:r>
            <a:r>
              <a:rPr lang="en-US" altLang="zh-CN" sz="2800" dirty="0">
                <a:solidFill>
                  <a:srgbClr val="151515"/>
                </a:solidFill>
                <a:latin typeface="+mn-ea"/>
                <a:ea typeface="+mn-ea"/>
              </a:rPr>
              <a:t>Python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生态系统，包含众多第三方开源库。</a:t>
            </a:r>
            <a:endParaRPr lang="en-US" altLang="zh-CN" sz="28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151515"/>
                </a:solidFill>
                <a:latin typeface="+mn-ea"/>
                <a:ea typeface="+mn-ea"/>
              </a:rPr>
              <a:t>3. 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近年来机器学习、深度学习、人工智能技术的广泛应用。</a:t>
            </a:r>
            <a:endParaRPr lang="en-US" altLang="zh-CN" sz="2800" dirty="0">
              <a:solidFill>
                <a:srgbClr val="151515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156507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简介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709127" y="846751"/>
            <a:ext cx="9641208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P</a:t>
            </a:r>
            <a:r>
              <a:rPr lang="en-CN" altLang="zh-CN" sz="3200" b="1" dirty="0">
                <a:solidFill>
                  <a:srgbClr val="333333"/>
                </a:solidFill>
                <a:latin typeface="+mn-ea"/>
                <a:ea typeface="+mn-ea"/>
              </a:rPr>
              <a:t>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发行历史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0A46FB-7B1F-38BA-4783-7D8B17F03C9F}"/>
              </a:ext>
            </a:extLst>
          </p:cNvPr>
          <p:cNvSpPr txBox="1"/>
          <p:nvPr/>
        </p:nvSpPr>
        <p:spPr>
          <a:xfrm>
            <a:off x="847788" y="5103930"/>
            <a:ext cx="10234014" cy="662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151515"/>
                </a:solidFill>
                <a:latin typeface="+mn-ea"/>
                <a:ea typeface="+mn-ea"/>
              </a:rPr>
              <a:t>2025年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，发布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  <a:ea typeface="+mn-ea"/>
              </a:rPr>
              <a:t>Python 3.15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版本。</a:t>
            </a:r>
            <a:endParaRPr lang="en-US" sz="2800" dirty="0">
              <a:solidFill>
                <a:srgbClr val="151515"/>
              </a:solidFill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169D79-5A0C-2F56-55C8-0B8FCC5E4E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16" b="12379"/>
          <a:stretch>
            <a:fillRect/>
          </a:stretch>
        </p:blipFill>
        <p:spPr>
          <a:xfrm>
            <a:off x="372838" y="2025650"/>
            <a:ext cx="11308957" cy="302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87084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4" y="3868895"/>
            <a:ext cx="116707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三、</a:t>
            </a:r>
            <a:r>
              <a:rPr lang="en-US" altLang="zh-CN" sz="36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编程环境配置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216377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三、基于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的开源软件开发环境配置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502618" y="902171"/>
            <a:ext cx="9847718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开发环境概念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405727" y="1564660"/>
            <a:ext cx="7058447" cy="522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开发环境顾名思义是指程序员在编写代码时所使用的环境。配置开发环境目的在于最大程度提高程序员的开发效率。</a:t>
            </a:r>
            <a:endParaRPr lang="en-US" altLang="zh-CN" sz="26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开发环境一般包括</a:t>
            </a:r>
            <a:r>
              <a:rPr lang="zh-CN" altLang="en-US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）电脑操作系统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zh-CN" altLang="en-US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）代码编辑器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zh-CN" altLang="en-US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解释器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zh-CN" altLang="en-US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600" b="1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4 </a:t>
            </a:r>
            <a:r>
              <a:rPr lang="zh-CN" altLang="en-US" sz="26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2600" b="1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600" b="1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第三方软件包</a:t>
            </a:r>
            <a:r>
              <a:rPr lang="zh-CN" altLang="en-US" sz="26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6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第三方软件包管理可用</a:t>
            </a: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内置的</a:t>
            </a:r>
            <a:r>
              <a:rPr lang="en-US" altLang="zh-CN" sz="2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pip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工具。</a:t>
            </a:r>
            <a:endParaRPr lang="en-US" altLang="zh-CN" sz="26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65DC09-1346-EC80-33AE-9C7C1026B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174" y="2025860"/>
            <a:ext cx="4417627" cy="364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0540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23BAFF-25A1-7996-E6E4-E931E7D6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9D54153-9CE1-65E3-0DB5-0284924C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一、基于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的开源软件开发环境配置</a:t>
            </a:r>
            <a:endParaRPr lang="zh-CN" altLang="en-US" dirty="0"/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54E4AA96-3497-F1A9-2EC4-33409F5DFB05}"/>
              </a:ext>
            </a:extLst>
          </p:cNvPr>
          <p:cNvSpPr/>
          <p:nvPr/>
        </p:nvSpPr>
        <p:spPr>
          <a:xfrm>
            <a:off x="553343" y="1913469"/>
            <a:ext cx="2524125" cy="2472264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600"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D706003-61DC-902B-D8BB-7F6AF6997E9E}"/>
              </a:ext>
            </a:extLst>
          </p:cNvPr>
          <p:cNvSpPr/>
          <p:nvPr/>
        </p:nvSpPr>
        <p:spPr>
          <a:xfrm>
            <a:off x="3267968" y="1913469"/>
            <a:ext cx="2524125" cy="2472264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60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A4BA121C-F6A9-E64A-727A-8F692D891A9D}"/>
              </a:ext>
            </a:extLst>
          </p:cNvPr>
          <p:cNvSpPr/>
          <p:nvPr/>
        </p:nvSpPr>
        <p:spPr>
          <a:xfrm>
            <a:off x="5982593" y="1913469"/>
            <a:ext cx="2524125" cy="2472264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60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2C7D3521-49EC-61DA-FC8A-D1B2EC02375D}"/>
              </a:ext>
            </a:extLst>
          </p:cNvPr>
          <p:cNvSpPr/>
          <p:nvPr/>
        </p:nvSpPr>
        <p:spPr>
          <a:xfrm>
            <a:off x="8697218" y="1913469"/>
            <a:ext cx="2524125" cy="2472264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A0CBEF-689D-46D5-FCCD-CBE1DCCCC301}"/>
              </a:ext>
            </a:extLst>
          </p:cNvPr>
          <p:cNvSpPr txBox="1"/>
          <p:nvPr/>
        </p:nvSpPr>
        <p:spPr>
          <a:xfrm>
            <a:off x="781943" y="2090830"/>
            <a:ext cx="21621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i="0" u="none" dirty="0" err="1">
                <a:solidFill>
                  <a:schemeClr val="accent2"/>
                </a:solidFill>
                <a:latin typeface="Noto Sans SC"/>
              </a:rPr>
              <a:t>操作系统</a:t>
            </a:r>
            <a:endParaRPr sz="2800" b="1" i="0" u="none" dirty="0">
              <a:solidFill>
                <a:schemeClr val="accent2"/>
              </a:solidFill>
              <a:latin typeface="Noto Sans S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7D3151-65CF-9D25-90EF-2F154762195A}"/>
              </a:ext>
            </a:extLst>
          </p:cNvPr>
          <p:cNvSpPr txBox="1"/>
          <p:nvPr/>
        </p:nvSpPr>
        <p:spPr>
          <a:xfrm>
            <a:off x="781943" y="2705637"/>
            <a:ext cx="2162175" cy="1596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sz="2400" i="0" u="none" dirty="0" err="1">
                <a:solidFill>
                  <a:schemeClr val="bg2"/>
                </a:solidFill>
                <a:latin typeface="Noto Sans SC"/>
              </a:rPr>
              <a:t>Windows、macOS</a:t>
            </a:r>
            <a:r>
              <a:rPr sz="2400" i="0" u="none" dirty="0">
                <a:solidFill>
                  <a:schemeClr val="bg2"/>
                </a:solidFill>
                <a:latin typeface="Noto Sans SC"/>
              </a:rPr>
              <a:t> 或 Linux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36C222-BD3D-1509-96FC-F53053FD263D}"/>
              </a:ext>
            </a:extLst>
          </p:cNvPr>
          <p:cNvSpPr txBox="1"/>
          <p:nvPr/>
        </p:nvSpPr>
        <p:spPr>
          <a:xfrm>
            <a:off x="3361386" y="2090830"/>
            <a:ext cx="234445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i="0" u="none" dirty="0">
                <a:solidFill>
                  <a:schemeClr val="accent2"/>
                </a:solidFill>
                <a:latin typeface="Noto Sans SC"/>
              </a:rPr>
              <a:t>Miniconda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374208-431F-D4E6-0258-B95FE9F5975F}"/>
              </a:ext>
            </a:extLst>
          </p:cNvPr>
          <p:cNvSpPr txBox="1"/>
          <p:nvPr/>
        </p:nvSpPr>
        <p:spPr>
          <a:xfrm>
            <a:off x="3496568" y="2686587"/>
            <a:ext cx="2162175" cy="1596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sz="2400" i="0" u="none" dirty="0" err="1">
                <a:solidFill>
                  <a:schemeClr val="bg2"/>
                </a:solidFill>
                <a:latin typeface="Noto Sans SC"/>
              </a:rPr>
              <a:t>提供解释器、包管理与虚拟环境</a:t>
            </a:r>
            <a:r>
              <a:rPr lang="zh-CN" altLang="en-US" sz="2400" i="0" u="none" dirty="0">
                <a:solidFill>
                  <a:schemeClr val="bg2"/>
                </a:solidFill>
                <a:latin typeface="Noto Sans SC"/>
              </a:rPr>
              <a:t>隔离</a:t>
            </a:r>
            <a:r>
              <a:rPr sz="2400" i="0" u="none" dirty="0">
                <a:solidFill>
                  <a:schemeClr val="bg2"/>
                </a:solidFill>
                <a:latin typeface="Noto Sans SC"/>
              </a:rPr>
              <a:t>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CAD2C4-B9D4-6E9C-5EA2-828D536197B3}"/>
              </a:ext>
            </a:extLst>
          </p:cNvPr>
          <p:cNvSpPr txBox="1"/>
          <p:nvPr/>
        </p:nvSpPr>
        <p:spPr>
          <a:xfrm>
            <a:off x="6096000" y="2090830"/>
            <a:ext cx="23192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i="0" u="none" dirty="0" err="1">
                <a:solidFill>
                  <a:schemeClr val="accent2"/>
                </a:solidFill>
                <a:latin typeface="Noto Sans SC"/>
              </a:rPr>
              <a:t>VSCode</a:t>
            </a:r>
            <a:endParaRPr sz="2800" b="1" i="0" u="none" dirty="0">
              <a:solidFill>
                <a:schemeClr val="accent2"/>
              </a:solidFill>
              <a:latin typeface="Noto Sans S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DA8F52-1D7A-285D-684A-14B3315E96BD}"/>
              </a:ext>
            </a:extLst>
          </p:cNvPr>
          <p:cNvSpPr txBox="1"/>
          <p:nvPr/>
        </p:nvSpPr>
        <p:spPr>
          <a:xfrm>
            <a:off x="6211193" y="2705637"/>
            <a:ext cx="2162175" cy="1596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sz="2400" i="0" u="none" dirty="0" err="1">
                <a:solidFill>
                  <a:schemeClr val="bg2"/>
                </a:solidFill>
                <a:latin typeface="Noto Sans SC"/>
              </a:rPr>
              <a:t>轻量级代码编辑器与可视化开发面板</a:t>
            </a:r>
            <a:r>
              <a:rPr sz="2400" i="0" u="none" dirty="0">
                <a:solidFill>
                  <a:schemeClr val="bg2"/>
                </a:solidFill>
                <a:latin typeface="Noto Sans SC"/>
              </a:rPr>
              <a:t>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91111C-4578-18D6-C607-21E0FA3E9283}"/>
              </a:ext>
            </a:extLst>
          </p:cNvPr>
          <p:cNvSpPr txBox="1"/>
          <p:nvPr/>
        </p:nvSpPr>
        <p:spPr>
          <a:xfrm>
            <a:off x="8920628" y="2090830"/>
            <a:ext cx="21621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i="0" u="none" dirty="0" err="1">
                <a:solidFill>
                  <a:schemeClr val="accent2"/>
                </a:solidFill>
                <a:latin typeface="Noto Sans SC"/>
              </a:rPr>
              <a:t>地学核心库</a:t>
            </a:r>
            <a:endParaRPr sz="2800" b="1" i="0" u="none" dirty="0">
              <a:solidFill>
                <a:schemeClr val="accent2"/>
              </a:solidFill>
              <a:latin typeface="Noto Sans S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60453B-F839-2493-4232-5215D019356C}"/>
              </a:ext>
            </a:extLst>
          </p:cNvPr>
          <p:cNvSpPr txBox="1"/>
          <p:nvPr/>
        </p:nvSpPr>
        <p:spPr>
          <a:xfrm>
            <a:off x="8925818" y="2705637"/>
            <a:ext cx="2156985" cy="1596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sz="2400" i="0" u="none" dirty="0" err="1">
                <a:solidFill>
                  <a:schemeClr val="bg2"/>
                </a:solidFill>
                <a:latin typeface="Noto Sans SC"/>
              </a:rPr>
              <a:t>NumPy、Geopandas、Rasterio</a:t>
            </a:r>
            <a:r>
              <a:rPr lang="zh-CN" altLang="en-US" sz="2400" i="0" u="none" dirty="0">
                <a:solidFill>
                  <a:schemeClr val="bg2"/>
                </a:solidFill>
                <a:latin typeface="Noto Sans SC"/>
              </a:rPr>
              <a:t>等</a:t>
            </a:r>
            <a:endParaRPr sz="2400" i="0" u="none" dirty="0">
              <a:solidFill>
                <a:schemeClr val="bg2"/>
              </a:solidFill>
              <a:latin typeface="Noto Sans SC"/>
            </a:endParaRP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9B00C675-7E3B-38A6-93E6-AED8E1DAD9BF}"/>
              </a:ext>
            </a:extLst>
          </p:cNvPr>
          <p:cNvSpPr txBox="1"/>
          <p:nvPr/>
        </p:nvSpPr>
        <p:spPr>
          <a:xfrm>
            <a:off x="502618" y="902171"/>
            <a:ext cx="9847718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、开发环境全貌：不要混淆工具</a:t>
            </a:r>
          </a:p>
        </p:txBody>
      </p:sp>
      <p:pic>
        <p:nvPicPr>
          <p:cNvPr id="22" name="图片 21" descr="电脑操作系统深度剖析：Windows、macOS和Linux的独特特性及应用场景_linux和windows的使用场景-CSDN博客">
            <a:extLst>
              <a:ext uri="{FF2B5EF4-FFF2-40B4-BE49-F238E27FC236}">
                <a16:creationId xmlns:a16="http://schemas.microsoft.com/office/drawing/2014/main" id="{C83441B4-F8FC-763C-CA4F-58794B0F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43" y="4673877"/>
            <a:ext cx="2524125" cy="1419820"/>
          </a:xfrm>
          <a:prstGeom prst="rect">
            <a:avLst/>
          </a:prstGeom>
        </p:spPr>
      </p:pic>
      <p:pic>
        <p:nvPicPr>
          <p:cNvPr id="23" name="图片 22" descr="在这里插入图片描述">
            <a:extLst>
              <a:ext uri="{FF2B5EF4-FFF2-40B4-BE49-F238E27FC236}">
                <a16:creationId xmlns:a16="http://schemas.microsoft.com/office/drawing/2014/main" id="{77AFECD7-BCFD-8933-2B52-67B59BBB6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099" y="4563094"/>
            <a:ext cx="2857111" cy="1783670"/>
          </a:xfrm>
          <a:prstGeom prst="rect">
            <a:avLst/>
          </a:prstGeom>
        </p:spPr>
      </p:pic>
      <p:pic>
        <p:nvPicPr>
          <p:cNvPr id="25" name="图片 24" descr="NumPy 基础用法详解_python中numpy库的主要功能-CSDN博客">
            <a:extLst>
              <a:ext uri="{FF2B5EF4-FFF2-40B4-BE49-F238E27FC236}">
                <a16:creationId xmlns:a16="http://schemas.microsoft.com/office/drawing/2014/main" id="{0B467739-406A-FD14-AE5A-6C8ABAA4A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6124" y="4516261"/>
            <a:ext cx="1069388" cy="982253"/>
          </a:xfrm>
          <a:prstGeom prst="rect">
            <a:avLst/>
          </a:prstGeom>
        </p:spPr>
      </p:pic>
      <p:pic>
        <p:nvPicPr>
          <p:cNvPr id="26" name="图片 25" descr="（数据科学学习手札148）geopandas直接支持gdb文件写出与追加 - 费弗里 - 博客园">
            <a:extLst>
              <a:ext uri="{FF2B5EF4-FFF2-40B4-BE49-F238E27FC236}">
                <a16:creationId xmlns:a16="http://schemas.microsoft.com/office/drawing/2014/main" id="{968C3D22-A20D-309A-57FC-806D0A0213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063"/>
          <a:stretch>
            <a:fillRect/>
          </a:stretch>
        </p:blipFill>
        <p:spPr>
          <a:xfrm>
            <a:off x="8697219" y="5708915"/>
            <a:ext cx="2647186" cy="758492"/>
          </a:xfrm>
          <a:prstGeom prst="rect">
            <a:avLst/>
          </a:prstGeom>
        </p:spPr>
      </p:pic>
      <p:pic>
        <p:nvPicPr>
          <p:cNvPr id="28" name="图片 27" descr="（数据科学学习手札148）geopandas直接支持gdb文件写出与追加 - 费弗里 - 博客园">
            <a:extLst>
              <a:ext uri="{FF2B5EF4-FFF2-40B4-BE49-F238E27FC236}">
                <a16:creationId xmlns:a16="http://schemas.microsoft.com/office/drawing/2014/main" id="{FCCFC229-D962-0BA9-B92F-63E8D67351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750"/>
          <a:stretch>
            <a:fillRect/>
          </a:stretch>
        </p:blipFill>
        <p:spPr>
          <a:xfrm>
            <a:off x="10210800" y="4460328"/>
            <a:ext cx="1133604" cy="1137738"/>
          </a:xfrm>
          <a:prstGeom prst="rect">
            <a:avLst/>
          </a:prstGeom>
        </p:spPr>
      </p:pic>
      <p:pic>
        <p:nvPicPr>
          <p:cNvPr id="29" name="图片 28" descr="JupyterNotebook基本操作_jupyter notebook 生产 py 文件-CSDN博客">
            <a:extLst>
              <a:ext uri="{FF2B5EF4-FFF2-40B4-BE49-F238E27FC236}">
                <a16:creationId xmlns:a16="http://schemas.microsoft.com/office/drawing/2014/main" id="{871120B3-4675-7BCD-7776-6E832C02BA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4016" r="40450" b="42885"/>
          <a:stretch>
            <a:fillRect/>
          </a:stretch>
        </p:blipFill>
        <p:spPr>
          <a:xfrm>
            <a:off x="6027629" y="4793203"/>
            <a:ext cx="2646554" cy="428368"/>
          </a:xfrm>
          <a:prstGeom prst="rect">
            <a:avLst/>
          </a:prstGeom>
        </p:spPr>
      </p:pic>
      <p:pic>
        <p:nvPicPr>
          <p:cNvPr id="31" name="图片 30" descr="JupyterNotebook基本操作_jupyter notebook 生产 py 文件-CSDN博客">
            <a:extLst>
              <a:ext uri="{FF2B5EF4-FFF2-40B4-BE49-F238E27FC236}">
                <a16:creationId xmlns:a16="http://schemas.microsoft.com/office/drawing/2014/main" id="{1AE7E4D6-767F-4F96-E33F-E9A6D6113B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3751" t="9653" r="3436" b="17471"/>
          <a:stretch>
            <a:fillRect/>
          </a:stretch>
        </p:blipFill>
        <p:spPr>
          <a:xfrm>
            <a:off x="6694181" y="5311267"/>
            <a:ext cx="1249390" cy="115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9249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24003" y="8526"/>
            <a:ext cx="9013371" cy="792162"/>
          </a:xfrm>
        </p:spPr>
        <p:txBody>
          <a:bodyPr/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二、</a:t>
            </a:r>
            <a:r>
              <a:rPr lang="zh-CN" altLang="en-CN">
                <a:latin typeface="微软雅黑" pitchFamily="34" charset="-122"/>
                <a:ea typeface="微软雅黑" pitchFamily="34" charset="-122"/>
              </a:rPr>
              <a:t>开源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软件开发工具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321980" y="846751"/>
            <a:ext cx="1002835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、代码编辑器</a:t>
            </a:r>
            <a:r>
              <a:rPr lang="en-US" altLang="zh-CN" sz="3200" b="1" dirty="0" err="1">
                <a:solidFill>
                  <a:srgbClr val="333333"/>
                </a:solidFill>
                <a:latin typeface="+mn-ea"/>
                <a:ea typeface="+mn-ea"/>
              </a:rPr>
              <a:t>VSCode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1030" name="Picture 6" descr="GitHub - microsoft/vscode: Visual Studio Code">
            <a:extLst>
              <a:ext uri="{FF2B5EF4-FFF2-40B4-BE49-F238E27FC236}">
                <a16:creationId xmlns:a16="http://schemas.microsoft.com/office/drawing/2014/main" id="{C93DB76E-C02F-05AC-2014-674F7E808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025" y="1745801"/>
            <a:ext cx="5940216" cy="445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321980" y="1690837"/>
            <a:ext cx="5554824" cy="501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>
                <a:solidFill>
                  <a:schemeClr val="bg2"/>
                </a:solidFill>
                <a:latin typeface="+mn-ea"/>
                <a:ea typeface="+mn-ea"/>
              </a:rPr>
              <a:t>VSCode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 (Visual Studio Code)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是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2015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年由微软发布的一款代码编辑器。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） 支持多种编程语言的编辑，如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java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c++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等。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）该软件支持语法高亮、代码自动补全等功能；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）内置了命令行工具和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Git 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版本控制系统。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33073590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</a:t>
            </a:r>
            <a:r>
              <a:rPr lang="zh-CN" altLang="en-CN" dirty="0">
                <a:latin typeface="微软雅黑" pitchFamily="34" charset="-122"/>
                <a:ea typeface="微软雅黑" pitchFamily="34" charset="-122"/>
              </a:rPr>
              <a:t>开源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软件开发工具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317241" y="846751"/>
            <a:ext cx="10033094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、代码编辑器</a:t>
            </a:r>
            <a:r>
              <a:rPr lang="en-US" altLang="zh-CN" sz="3200" b="1" dirty="0" err="1">
                <a:solidFill>
                  <a:srgbClr val="333333"/>
                </a:solidFill>
                <a:latin typeface="+mn-ea"/>
                <a:ea typeface="+mn-ea"/>
              </a:rPr>
              <a:t>VSCode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37CADB0-FA67-CB3D-2792-3B99C063AF39}"/>
              </a:ext>
            </a:extLst>
          </p:cNvPr>
          <p:cNvGrpSpPr/>
          <p:nvPr/>
        </p:nvGrpSpPr>
        <p:grpSpPr>
          <a:xfrm>
            <a:off x="1806203" y="1665177"/>
            <a:ext cx="8579593" cy="4975010"/>
            <a:chOff x="152773" y="1766774"/>
            <a:chExt cx="8579593" cy="497501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6E32F95-E945-8525-C29F-CF9241F58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022" y="1766774"/>
              <a:ext cx="7926925" cy="4717473"/>
            </a:xfrm>
            <a:prstGeom prst="rect">
              <a:avLst/>
            </a:prstGeom>
          </p:spPr>
        </p:pic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5EA02872-3EE4-53D7-6E37-48E9E9C41A57}"/>
                </a:ext>
              </a:extLst>
            </p:cNvPr>
            <p:cNvSpPr/>
            <p:nvPr/>
          </p:nvSpPr>
          <p:spPr>
            <a:xfrm>
              <a:off x="157397" y="5793698"/>
              <a:ext cx="1371600" cy="948086"/>
            </a:xfrm>
            <a:prstGeom prst="ellipse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6C093F4-F00A-2662-96D3-670D2E8993CE}"/>
                </a:ext>
              </a:extLst>
            </p:cNvPr>
            <p:cNvSpPr/>
            <p:nvPr/>
          </p:nvSpPr>
          <p:spPr>
            <a:xfrm>
              <a:off x="152773" y="2890606"/>
              <a:ext cx="814653" cy="662489"/>
            </a:xfrm>
            <a:prstGeom prst="ellipse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AEC337B-D504-DF6E-65FD-6FE5EF689343}"/>
                </a:ext>
              </a:extLst>
            </p:cNvPr>
            <p:cNvSpPr/>
            <p:nvPr/>
          </p:nvSpPr>
          <p:spPr>
            <a:xfrm>
              <a:off x="5626682" y="5102744"/>
              <a:ext cx="3105684" cy="1639040"/>
            </a:xfrm>
            <a:prstGeom prst="ellipse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CAC1974-26C1-2D3D-B1F3-AA392E4B1DEF}"/>
                </a:ext>
              </a:extLst>
            </p:cNvPr>
            <p:cNvSpPr txBox="1"/>
            <p:nvPr/>
          </p:nvSpPr>
          <p:spPr>
            <a:xfrm>
              <a:off x="317665" y="2428941"/>
              <a:ext cx="1531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accent4"/>
                  </a:solidFill>
                </a:rPr>
                <a:t>插件库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BFBE8FA-DED0-4554-83A4-8D9870D5BDE0}"/>
                </a:ext>
              </a:extLst>
            </p:cNvPr>
            <p:cNvSpPr txBox="1"/>
            <p:nvPr/>
          </p:nvSpPr>
          <p:spPr>
            <a:xfrm>
              <a:off x="657097" y="5643013"/>
              <a:ext cx="23334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accent4"/>
                  </a:solidFill>
                </a:rPr>
                <a:t>软件更新提醒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C287021-0311-7FFE-C3F4-E9364D39DAFF}"/>
                </a:ext>
              </a:extLst>
            </p:cNvPr>
            <p:cNvSpPr txBox="1"/>
            <p:nvPr/>
          </p:nvSpPr>
          <p:spPr>
            <a:xfrm>
              <a:off x="5403982" y="4677239"/>
              <a:ext cx="23334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accent4"/>
                  </a:solidFill>
                </a:rPr>
                <a:t>插件报错提醒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77964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</a:t>
            </a:r>
            <a:r>
              <a:rPr lang="zh-CN" altLang="en-CN" dirty="0">
                <a:latin typeface="微软雅黑" pitchFamily="34" charset="-122"/>
                <a:ea typeface="微软雅黑" pitchFamily="34" charset="-122"/>
              </a:rPr>
              <a:t>开源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软件开发工具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342122" y="846751"/>
            <a:ext cx="10008213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、代码编辑器</a:t>
            </a:r>
            <a:r>
              <a:rPr lang="en-US" altLang="zh-CN" sz="3200" b="1" dirty="0" err="1">
                <a:solidFill>
                  <a:srgbClr val="333333"/>
                </a:solidFill>
                <a:latin typeface="+mn-ea"/>
                <a:ea typeface="+mn-ea"/>
              </a:rPr>
              <a:t>VSCode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ACA987-C55F-4E7C-C463-10487301E9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54" t="1853" r="14880" b="1264"/>
          <a:stretch/>
        </p:blipFill>
        <p:spPr>
          <a:xfrm>
            <a:off x="1479439" y="2293182"/>
            <a:ext cx="4570888" cy="329540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3D5D434-AD5A-CA57-768A-9A87201CBB3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6340"/>
          <a:stretch/>
        </p:blipFill>
        <p:spPr>
          <a:xfrm>
            <a:off x="6196227" y="2293182"/>
            <a:ext cx="4208405" cy="329540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90CD386-7151-4EED-ED26-1360190C3920}"/>
              </a:ext>
            </a:extLst>
          </p:cNvPr>
          <p:cNvSpPr txBox="1"/>
          <p:nvPr/>
        </p:nvSpPr>
        <p:spPr>
          <a:xfrm>
            <a:off x="1581132" y="169141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+mj-ea"/>
                <a:ea typeface="+mj-ea"/>
              </a:rPr>
              <a:t>代码字号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4B2C50-09F2-3E65-27E5-F3F492E04176}"/>
              </a:ext>
            </a:extLst>
          </p:cNvPr>
          <p:cNvSpPr txBox="1"/>
          <p:nvPr/>
        </p:nvSpPr>
        <p:spPr>
          <a:xfrm>
            <a:off x="6258170" y="1711127"/>
            <a:ext cx="2042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bg2"/>
                </a:solidFill>
                <a:latin typeface="+mj-ea"/>
                <a:ea typeface="+mj-ea"/>
              </a:rPr>
              <a:t>编辑器颜色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890958-6CF4-E298-5189-D9A6055B9FED}"/>
              </a:ext>
            </a:extLst>
          </p:cNvPr>
          <p:cNvSpPr txBox="1"/>
          <p:nvPr/>
        </p:nvSpPr>
        <p:spPr>
          <a:xfrm>
            <a:off x="1232034" y="5668728"/>
            <a:ext cx="950013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200" dirty="0">
                <a:solidFill>
                  <a:schemeClr val="bg2"/>
                </a:solidFill>
              </a:rPr>
              <a:t>修改</a:t>
            </a:r>
            <a:r>
              <a:rPr lang="en-US" altLang="zh-CN" sz="2200" dirty="0">
                <a:solidFill>
                  <a:schemeClr val="bg2"/>
                </a:solidFill>
              </a:rPr>
              <a:t>notebook</a:t>
            </a:r>
            <a:r>
              <a:rPr lang="zh-CN" altLang="en-US" sz="2200" dirty="0">
                <a:solidFill>
                  <a:schemeClr val="bg2"/>
                </a:solidFill>
              </a:rPr>
              <a:t>文件根目录</a:t>
            </a:r>
            <a:r>
              <a:rPr lang="en-US" altLang="zh-CN" sz="2200" dirty="0">
                <a:solidFill>
                  <a:schemeClr val="bg2"/>
                </a:solidFill>
              </a:rPr>
              <a:t>: User/Extensions/</a:t>
            </a:r>
            <a:r>
              <a:rPr lang="en-US" altLang="zh-CN" sz="2200" dirty="0" err="1">
                <a:solidFill>
                  <a:schemeClr val="bg2"/>
                </a:solidFill>
              </a:rPr>
              <a:t>Jupyter</a:t>
            </a:r>
            <a:r>
              <a:rPr lang="en-US" altLang="zh-CN" sz="2200" dirty="0">
                <a:solidFill>
                  <a:schemeClr val="bg2"/>
                </a:solidFill>
              </a:rPr>
              <a:t>/Notebook File Root.</a:t>
            </a:r>
          </a:p>
          <a:p>
            <a:pPr algn="l"/>
            <a:r>
              <a:rPr lang="en-US" altLang="zh-CN" sz="2200" dirty="0">
                <a:solidFill>
                  <a:schemeClr val="bg2"/>
                </a:solidFill>
              </a:rPr>
              <a:t>${</a:t>
            </a:r>
            <a:r>
              <a:rPr lang="en-US" altLang="zh-CN" sz="2200" dirty="0" err="1">
                <a:solidFill>
                  <a:schemeClr val="bg2"/>
                </a:solidFill>
              </a:rPr>
              <a:t>fileDirname</a:t>
            </a:r>
            <a:r>
              <a:rPr lang="en-US" altLang="zh-CN" sz="2200" dirty="0">
                <a:solidFill>
                  <a:schemeClr val="bg2"/>
                </a:solidFill>
              </a:rPr>
              <a:t>} -&gt; ${</a:t>
            </a:r>
            <a:r>
              <a:rPr lang="en-US" altLang="zh-CN" sz="2200" dirty="0" err="1">
                <a:solidFill>
                  <a:schemeClr val="bg2"/>
                </a:solidFill>
              </a:rPr>
              <a:t>workspaceFolder</a:t>
            </a:r>
            <a:r>
              <a:rPr lang="en-US" altLang="zh-CN" sz="2200" dirty="0">
                <a:solidFill>
                  <a:schemeClr val="bg2"/>
                </a:solidFill>
              </a:rPr>
              <a:t>}</a:t>
            </a:r>
            <a:endParaRPr lang="zh-CN" altLang="en-US" sz="2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83629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三、基于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的开源软件开发环境配置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497633" y="968099"/>
            <a:ext cx="734404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第三方软件包安装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497633" y="1699889"/>
            <a:ext cx="1111706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Anaconda简介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是一个广泛应用于计算科学（数据科学、机器学习、大数据处理和预测分析）的开源</a:t>
            </a:r>
            <a:r>
              <a:rPr lang="en-US" altLang="zh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发行版本。</a:t>
            </a:r>
            <a:r>
              <a:rPr 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Anaconda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致力于简化软件包管理系统和部署。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Anaconda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特点：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buFont typeface="+mj-lt"/>
              <a:buAutoNum type="arabicPeriod"/>
            </a:pPr>
            <a:r>
              <a:rPr lang="en-US" altLang="zh-CN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zh-CN" altLang="en-US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内置</a:t>
            </a:r>
            <a:r>
              <a:rPr lang="en-US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python，</a:t>
            </a:r>
            <a:r>
              <a:rPr lang="zh-CN" altLang="en-US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高度集成</a:t>
            </a:r>
            <a:r>
              <a:rPr lang="en-US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python</a:t>
            </a:r>
            <a:r>
              <a:rPr lang="zh-CN" altLang="en-US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数据科学生态；</a:t>
            </a:r>
          </a:p>
          <a:p>
            <a:pPr algn="l">
              <a:buFont typeface="+mj-lt"/>
              <a:buAutoNum type="arabicPeriod"/>
            </a:pPr>
            <a:r>
              <a:rPr lang="en-US" altLang="zh-CN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zh-CN" altLang="en-US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拥有强大的包管理工具</a:t>
            </a:r>
            <a:r>
              <a:rPr lang="en-US" altLang="zh-CN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C</a:t>
            </a:r>
            <a:r>
              <a:rPr lang="en-US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onda</a:t>
            </a:r>
            <a:r>
              <a:rPr lang="zh-CN" altLang="en-US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；</a:t>
            </a:r>
            <a:endParaRPr lang="en-US" sz="2800" dirty="0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>
              <a:buFont typeface="+mj-lt"/>
              <a:buAutoNum type="arabicPeriod"/>
            </a:pPr>
            <a:r>
              <a:rPr lang="en-US" altLang="zh-CN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zh-CN" altLang="en-US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可用超过</a:t>
            </a:r>
            <a:r>
              <a:rPr lang="en-US" altLang="zh-CN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1400</a:t>
            </a:r>
            <a:r>
              <a:rPr lang="zh-CN" altLang="en-US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个</a:t>
            </a:r>
            <a:r>
              <a:rPr lang="en-US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python</a:t>
            </a:r>
            <a:r>
              <a:rPr lang="zh-CN" altLang="en-US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数据科学库</a:t>
            </a:r>
            <a:r>
              <a:rPr lang="en-US" altLang="zh-CN" sz="28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.</a:t>
            </a:r>
            <a:endParaRPr lang="zh-CN" altLang="en-US" sz="2800" dirty="0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035870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三、基于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的开源软件开发环境配置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466406" y="902171"/>
            <a:ext cx="988393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第三方软件包安装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680753" y="1666143"/>
            <a:ext cx="10626897" cy="4535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altLang="zh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mini</a:t>
            </a:r>
            <a:r>
              <a:rPr lang="en-CN" altLang="zh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conda </a:t>
            </a:r>
            <a:r>
              <a:rPr lang="zh-CN" altLang="en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</a:t>
            </a:r>
            <a:endParaRPr lang="en-US" altLang="zh-CN" sz="28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进入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miniconda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官网，找到对应系统的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miniconda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最新版本安装包。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200000"/>
              </a:lnSpc>
            </a:pPr>
            <a:r>
              <a:rPr lang="en-US" b="1" u="sng" dirty="0" err="1">
                <a:solidFill>
                  <a:schemeClr val="bg2"/>
                </a:solidFill>
                <a:latin typeface="+mn-ea"/>
                <a:ea typeface="+mn-ea"/>
              </a:rPr>
              <a:t>Windows系统安装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：鼠标左键双击安装包文件。</a:t>
            </a:r>
            <a:endParaRPr lang="en-US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200000"/>
              </a:lnSpc>
            </a:pPr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Mac系统安装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bash Miniconda3-latest-MacOSX-x86_64.sh</a:t>
            </a:r>
          </a:p>
          <a:p>
            <a:pPr algn="l">
              <a:lnSpc>
                <a:spcPct val="200000"/>
              </a:lnSpc>
            </a:pPr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Linux系统安装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bash Miniconda3-latest-Linux-x86_64.sh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110320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三、基于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的开源软件开发环境配置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572278" y="1607447"/>
            <a:ext cx="4484537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mini</a:t>
            </a:r>
            <a:r>
              <a:rPr lang="en-CN" altLang="zh-CN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conda </a:t>
            </a:r>
            <a:r>
              <a:rPr lang="zh-CN" altLang="en-CN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</a:t>
            </a:r>
            <a:endParaRPr lang="en-US" altLang="zh-CN" sz="32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E1CA80-8A03-875B-2A22-4DE6D94E26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"/>
          <a:stretch>
            <a:fillRect/>
          </a:stretch>
        </p:blipFill>
        <p:spPr>
          <a:xfrm>
            <a:off x="5056815" y="1744552"/>
            <a:ext cx="6302608" cy="482436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36EC5F5-9562-0292-7C7F-C2C909E65E94}"/>
              </a:ext>
            </a:extLst>
          </p:cNvPr>
          <p:cNvSpPr txBox="1"/>
          <p:nvPr/>
        </p:nvSpPr>
        <p:spPr>
          <a:xfrm>
            <a:off x="620704" y="2612851"/>
            <a:ext cx="4311904" cy="324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查看</a:t>
            </a:r>
            <a:r>
              <a:rPr lang="en-US" altLang="zh-CN" sz="2800" b="1" dirty="0" err="1">
                <a:solidFill>
                  <a:srgbClr val="FF0000"/>
                </a:solidFill>
                <a:latin typeface="+mn-ea"/>
                <a:ea typeface="+mn-ea"/>
              </a:rPr>
              <a:t>conda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版本命令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conda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 –V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进入</a:t>
            </a:r>
            <a:r>
              <a:rPr lang="en-US" altLang="zh-CN" sz="2800" b="1" dirty="0" err="1">
                <a:solidFill>
                  <a:srgbClr val="FF0000"/>
                </a:solidFill>
                <a:latin typeface="+mn-ea"/>
                <a:ea typeface="+mn-ea"/>
              </a:rPr>
              <a:t>conda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环境命令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conda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 activate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A42F0ADD-D971-70B8-A84D-4E9254DA944D}"/>
              </a:ext>
            </a:extLst>
          </p:cNvPr>
          <p:cNvSpPr txBox="1"/>
          <p:nvPr/>
        </p:nvSpPr>
        <p:spPr>
          <a:xfrm>
            <a:off x="466406" y="902171"/>
            <a:ext cx="988393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第三方软件包安装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7872492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三、基于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的开源软件开发环境配置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920839" y="1736926"/>
            <a:ext cx="106508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</a:t>
            </a: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安装情况：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查看安装路径（</a:t>
            </a:r>
            <a:r>
              <a:rPr lang="zh-CN" altLang="en-US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该命令不适用</a:t>
            </a:r>
            <a:r>
              <a:rPr lang="en-US" altLang="zh-CN" u="sng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powershell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</a:t>
            </a:r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which python</a:t>
            </a:r>
          </a:p>
          <a:p>
            <a:pPr algn="l"/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</a:t>
            </a: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版本：</a:t>
            </a:r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-V</a:t>
            </a:r>
          </a:p>
        </p:txBody>
      </p:sp>
      <p:pic>
        <p:nvPicPr>
          <p:cNvPr id="18" name="Picture 17" descr="Text&#10;&#10;Description automatically generated">
            <a:extLst>
              <a:ext uri="{FF2B5EF4-FFF2-40B4-BE49-F238E27FC236}">
                <a16:creationId xmlns:a16="http://schemas.microsoft.com/office/drawing/2014/main" id="{0837DC30-4620-0035-DE40-9319EFBA8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254" y="3405003"/>
            <a:ext cx="5131179" cy="2826988"/>
          </a:xfrm>
          <a:prstGeom prst="rect">
            <a:avLst/>
          </a:prstGeom>
        </p:spPr>
      </p:pic>
      <p:pic>
        <p:nvPicPr>
          <p:cNvPr id="20" name="Picture 19" descr="Text&#10;&#10;Description automatically generated">
            <a:extLst>
              <a:ext uri="{FF2B5EF4-FFF2-40B4-BE49-F238E27FC236}">
                <a16:creationId xmlns:a16="http://schemas.microsoft.com/office/drawing/2014/main" id="{1C80845A-A83F-D903-2B37-F9CB37E4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40" y="3405004"/>
            <a:ext cx="5131179" cy="282698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7C93A00-7E31-E000-6BED-292B08A4B198}"/>
              </a:ext>
            </a:extLst>
          </p:cNvPr>
          <p:cNvSpPr txBox="1"/>
          <p:nvPr/>
        </p:nvSpPr>
        <p:spPr>
          <a:xfrm>
            <a:off x="1189931" y="6336430"/>
            <a:ext cx="9831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2"/>
                </a:solidFill>
                <a:latin typeface="+mn-ea"/>
                <a:ea typeface="+mn-ea"/>
              </a:rPr>
              <a:t>思考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：电脑上是否可以有多个版本的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18502D36-CBE2-96FF-8A3A-D23635E6ED44}"/>
              </a:ext>
            </a:extLst>
          </p:cNvPr>
          <p:cNvSpPr txBox="1"/>
          <p:nvPr/>
        </p:nvSpPr>
        <p:spPr>
          <a:xfrm>
            <a:off x="466406" y="902171"/>
            <a:ext cx="988393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第三方软件包安装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7515826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三、基于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的开源软件开发环境配置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765194" y="1675141"/>
            <a:ext cx="10686285" cy="1319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pip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安装命令（以安装</a:t>
            </a:r>
            <a:r>
              <a:rPr lang="en-US" altLang="zh-CN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numpy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为例）：</a:t>
            </a: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pip install </a:t>
            </a:r>
            <a:r>
              <a:rPr lang="en-US" altLang="zh-CN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numpy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pip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卸载命令（以卸载</a:t>
            </a:r>
            <a:r>
              <a:rPr lang="en-US" altLang="zh-CN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numpy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为例）：</a:t>
            </a: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pip uninstall </a:t>
            </a:r>
            <a:r>
              <a:rPr lang="en-US" altLang="zh-CN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numpy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7FFE9DD7-9FAD-B833-34A7-F9D00BB93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13" y="3187706"/>
            <a:ext cx="4935814" cy="3203622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99DA1880-9B80-A24C-3180-693E3B5EE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277" y="3187706"/>
            <a:ext cx="4935813" cy="3203622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3159BB32-7E58-64E9-03A4-AF1CC27D9CC9}"/>
              </a:ext>
            </a:extLst>
          </p:cNvPr>
          <p:cNvSpPr txBox="1"/>
          <p:nvPr/>
        </p:nvSpPr>
        <p:spPr>
          <a:xfrm>
            <a:off x="466406" y="902171"/>
            <a:ext cx="988393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第三方软件包安装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4524030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E576-6150-D63D-1438-267A98D7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87E1F5-CC63-C111-A69B-FE25A5AC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三、基于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的开源软件开发环境配置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8AD22F-FE5A-7B63-FAC8-25713C607E8E}"/>
              </a:ext>
            </a:extLst>
          </p:cNvPr>
          <p:cNvSpPr txBox="1"/>
          <p:nvPr/>
        </p:nvSpPr>
        <p:spPr>
          <a:xfrm>
            <a:off x="765194" y="1675141"/>
            <a:ext cx="10686285" cy="1319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conda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安装命令（以安装</a:t>
            </a:r>
            <a:r>
              <a:rPr lang="en-US" altLang="zh-CN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numpy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为例）：</a:t>
            </a:r>
            <a:r>
              <a:rPr lang="en-US" altLang="zh-CN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conda</a:t>
            </a: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install </a:t>
            </a:r>
            <a:r>
              <a:rPr lang="en-US" altLang="zh-CN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numpy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conda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卸载命令（以卸载</a:t>
            </a:r>
            <a:r>
              <a:rPr lang="en-US" altLang="zh-CN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numpy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为例）：</a:t>
            </a:r>
            <a:r>
              <a:rPr lang="en-US" altLang="zh-CN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conda</a:t>
            </a: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uninstall </a:t>
            </a:r>
            <a:r>
              <a:rPr lang="en-US" altLang="zh-CN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numpy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13C22059-3A8E-FE75-0C1A-54D0A0B44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13" y="3187706"/>
            <a:ext cx="4935814" cy="3203622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D306FBE8-19A2-0AE5-DBCA-1012BCA7C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277" y="3187706"/>
            <a:ext cx="4935813" cy="32036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8479E1-3DC0-E410-B012-C62CDA07C109}"/>
              </a:ext>
            </a:extLst>
          </p:cNvPr>
          <p:cNvSpPr txBox="1"/>
          <p:nvPr/>
        </p:nvSpPr>
        <p:spPr>
          <a:xfrm>
            <a:off x="466406" y="902171"/>
            <a:ext cx="988393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第三方软件包安装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2415689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三、基于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的开源软件开发环境配置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503854" y="1752982"/>
            <a:ext cx="5178928" cy="4702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当需要同时开发多个项目，而不同项目所需开发环境不同，就需要分别创建不同的虚拟环境。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虚拟环境信息命令：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en-US" altLang="zh-CN" sz="28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conda</a:t>
            </a:r>
            <a:r>
              <a:rPr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env list</a:t>
            </a:r>
            <a:endParaRPr lang="en-CN" altLang="zh-CN" sz="28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4B5D1AA6-D397-9A79-221A-E20C2E9E5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516" y="1958820"/>
            <a:ext cx="6185946" cy="3662591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E7CBA94E-A940-4A85-4FD6-A9D9D050CE49}"/>
              </a:ext>
            </a:extLst>
          </p:cNvPr>
          <p:cNvSpPr txBox="1"/>
          <p:nvPr/>
        </p:nvSpPr>
        <p:spPr>
          <a:xfrm>
            <a:off x="466406" y="902171"/>
            <a:ext cx="988393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3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、开发环境创建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20839983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三、基于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的开源软件开发环境配置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79143EB1-6171-6D6B-E065-52F98AD03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10" y="1071660"/>
            <a:ext cx="4496837" cy="270092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53A0B209-68B5-C142-73A1-4EA5AA978934}"/>
              </a:ext>
            </a:extLst>
          </p:cNvPr>
          <p:cNvGrpSpPr/>
          <p:nvPr/>
        </p:nvGrpSpPr>
        <p:grpSpPr>
          <a:xfrm>
            <a:off x="7191310" y="3893067"/>
            <a:ext cx="4496839" cy="2700921"/>
            <a:chOff x="7191310" y="4009668"/>
            <a:chExt cx="4496839" cy="2700921"/>
          </a:xfrm>
        </p:grpSpPr>
        <p:pic>
          <p:nvPicPr>
            <p:cNvPr id="12" name="Picture 11" descr="Text&#10;&#10;Description automatically generated">
              <a:extLst>
                <a:ext uri="{FF2B5EF4-FFF2-40B4-BE49-F238E27FC236}">
                  <a16:creationId xmlns:a16="http://schemas.microsoft.com/office/drawing/2014/main" id="{CD5784D5-D55B-B02C-C48B-B4566A95D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91310" y="4009668"/>
              <a:ext cx="4496839" cy="2700921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AE75BEB-15B0-6AD3-FEA5-24688F0C9399}"/>
                </a:ext>
              </a:extLst>
            </p:cNvPr>
            <p:cNvSpPr txBox="1"/>
            <p:nvPr/>
          </p:nvSpPr>
          <p:spPr>
            <a:xfrm>
              <a:off x="8271096" y="5807537"/>
              <a:ext cx="2552652" cy="445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200">
                  <a:solidFill>
                    <a:schemeClr val="accent3"/>
                  </a:solidFill>
                  <a:latin typeface="+mn-ea"/>
                  <a:ea typeface="+mn-ea"/>
                </a:rPr>
                <a:t>查看虚拟环境信息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11A1F98-9159-4FE6-698D-1B0B7EFC1F4C}"/>
                </a:ext>
              </a:extLst>
            </p:cNvPr>
            <p:cNvSpPr/>
            <p:nvPr/>
          </p:nvSpPr>
          <p:spPr>
            <a:xfrm>
              <a:off x="8966456" y="4886691"/>
              <a:ext cx="2658874" cy="202031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" name="TextBox 1">
            <a:extLst>
              <a:ext uri="{FF2B5EF4-FFF2-40B4-BE49-F238E27FC236}">
                <a16:creationId xmlns:a16="http://schemas.microsoft.com/office/drawing/2014/main" id="{BA259C0E-63A3-7901-B20A-FD11628DE7EB}"/>
              </a:ext>
            </a:extLst>
          </p:cNvPr>
          <p:cNvSpPr txBox="1"/>
          <p:nvPr/>
        </p:nvSpPr>
        <p:spPr>
          <a:xfrm>
            <a:off x="466406" y="902171"/>
            <a:ext cx="401354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3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、开发环境创建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EA5B3D-534D-9AF0-6891-946F381D89DC}"/>
              </a:ext>
            </a:extLst>
          </p:cNvPr>
          <p:cNvSpPr txBox="1"/>
          <p:nvPr/>
        </p:nvSpPr>
        <p:spPr>
          <a:xfrm>
            <a:off x="503851" y="1840845"/>
            <a:ext cx="6559558" cy="324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创建名为</a:t>
            </a:r>
            <a:r>
              <a:rPr lang="en-US" altLang="zh-CN" sz="28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myenv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，指定</a:t>
            </a:r>
            <a:r>
              <a:rPr lang="en-US" altLang="zh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python3.9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版本：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conda</a:t>
            </a:r>
            <a:r>
              <a:rPr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create -n </a:t>
            </a:r>
            <a:r>
              <a:rPr lang="en-US" altLang="zh-CN" sz="28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myenv</a:t>
            </a:r>
            <a:r>
              <a:rPr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python=3.9</a:t>
            </a:r>
            <a:endParaRPr lang="en-CN" altLang="zh-CN" sz="28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</a:t>
            </a:r>
            <a:r>
              <a:rPr lang="en-US" altLang="zh-CN" sz="28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myenv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环境：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conda</a:t>
            </a:r>
            <a:r>
              <a:rPr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activate </a:t>
            </a:r>
            <a:r>
              <a:rPr lang="en-US" altLang="zh-CN" sz="28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myenv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1473989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三、基于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的开源软件开发环境配置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221208" y="1619259"/>
            <a:ext cx="7167631" cy="41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）利用</a:t>
            </a:r>
            <a:r>
              <a:rPr lang="en-US" altLang="zh-CN" sz="28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conda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创建虚拟环境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退出</a:t>
            </a:r>
            <a:r>
              <a:rPr lang="en-US" altLang="zh-CN" sz="28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myenv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环境：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conda</a:t>
            </a:r>
            <a:r>
              <a:rPr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deactivate</a:t>
            </a: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删除</a:t>
            </a:r>
            <a:r>
              <a:rPr lang="en-US" altLang="zh-CN" sz="28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myenv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环境：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conda</a:t>
            </a:r>
            <a:r>
              <a:rPr 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remove -n </a:t>
            </a:r>
            <a:r>
              <a:rPr lang="en-US" sz="28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myenv</a:t>
            </a:r>
            <a:r>
              <a:rPr 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--all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BBBBD8B-688B-710D-3D8D-BFDFD56DB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718" y="1052567"/>
            <a:ext cx="4476619" cy="2750693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3AD00A59-6701-C91A-C6DF-2FC32C45CB14}"/>
              </a:ext>
            </a:extLst>
          </p:cNvPr>
          <p:cNvGrpSpPr/>
          <p:nvPr/>
        </p:nvGrpSpPr>
        <p:grpSpPr>
          <a:xfrm>
            <a:off x="7416718" y="3940845"/>
            <a:ext cx="4476619" cy="2690597"/>
            <a:chOff x="6218558" y="4026861"/>
            <a:chExt cx="4269333" cy="2623325"/>
          </a:xfrm>
        </p:grpSpPr>
        <p:pic>
          <p:nvPicPr>
            <p:cNvPr id="8" name="Picture 7" descr="Text&#10;&#10;Description automatically generated">
              <a:extLst>
                <a:ext uri="{FF2B5EF4-FFF2-40B4-BE49-F238E27FC236}">
                  <a16:creationId xmlns:a16="http://schemas.microsoft.com/office/drawing/2014/main" id="{B765428C-F39A-9703-24D3-B125CFA04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8558" y="4026861"/>
              <a:ext cx="4269333" cy="262332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32F9A9-4A61-8CFE-4FB6-79B6EB588A79}"/>
                </a:ext>
              </a:extLst>
            </p:cNvPr>
            <p:cNvSpPr txBox="1"/>
            <p:nvPr/>
          </p:nvSpPr>
          <p:spPr>
            <a:xfrm>
              <a:off x="7781281" y="5535734"/>
              <a:ext cx="24416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200">
                  <a:solidFill>
                    <a:schemeClr val="accent3"/>
                  </a:solidFill>
                  <a:latin typeface="+mn-ea"/>
                  <a:ea typeface="+mn-ea"/>
                </a:rPr>
                <a:t>查看虚拟环境信息</a:t>
              </a:r>
            </a:p>
          </p:txBody>
        </p:sp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EF189A4F-6078-1123-AB2A-A805F2BE14EB}"/>
              </a:ext>
            </a:extLst>
          </p:cNvPr>
          <p:cNvSpPr txBox="1"/>
          <p:nvPr/>
        </p:nvSpPr>
        <p:spPr>
          <a:xfrm>
            <a:off x="466406" y="902171"/>
            <a:ext cx="401354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3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、开发环境创建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264030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AEEF4E-3B74-4C0A-71A9-DD631051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39A5AF2-197F-8F9A-C15B-F9458266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一、计算机原理与程序设计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30AAF5-7E10-8217-490A-59DD67D9F2A2}"/>
              </a:ext>
            </a:extLst>
          </p:cNvPr>
          <p:cNvSpPr txBox="1"/>
          <p:nvPr/>
        </p:nvSpPr>
        <p:spPr>
          <a:xfrm>
            <a:off x="597686" y="1446825"/>
            <a:ext cx="47521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FF0000"/>
                </a:solidFill>
              </a:rPr>
              <a:t>1. </a:t>
            </a:r>
            <a:r>
              <a:rPr lang="en-US" altLang="zh-CN" sz="3600" b="1" dirty="0" err="1">
                <a:solidFill>
                  <a:srgbClr val="FF0000"/>
                </a:solidFill>
              </a:rPr>
              <a:t>conda</a:t>
            </a:r>
            <a:r>
              <a:rPr lang="en-US" altLang="zh-CN" sz="3600" b="1" dirty="0">
                <a:solidFill>
                  <a:srgbClr val="FF0000"/>
                </a:solidFill>
              </a:rPr>
              <a:t> –V</a:t>
            </a:r>
          </a:p>
          <a:p>
            <a:pPr algn="l"/>
            <a:r>
              <a:rPr lang="en-US" altLang="zh-CN" sz="3600" b="1" dirty="0">
                <a:solidFill>
                  <a:srgbClr val="FF0000"/>
                </a:solidFill>
              </a:rPr>
              <a:t>2. python –V </a:t>
            </a:r>
          </a:p>
          <a:p>
            <a:pPr algn="l"/>
            <a:r>
              <a:rPr lang="en-US" altLang="zh-CN" sz="3600" b="1" dirty="0">
                <a:solidFill>
                  <a:srgbClr val="FF0000"/>
                </a:solidFill>
              </a:rPr>
              <a:t>3. pip install </a:t>
            </a:r>
            <a:r>
              <a:rPr lang="en-US" altLang="zh-CN" sz="3600" b="1" dirty="0" err="1">
                <a:solidFill>
                  <a:srgbClr val="FF0000"/>
                </a:solidFill>
              </a:rPr>
              <a:t>xxxx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algn="l"/>
            <a:r>
              <a:rPr lang="en-US" altLang="zh-CN" sz="3600" b="1" dirty="0">
                <a:solidFill>
                  <a:srgbClr val="FF0000"/>
                </a:solidFill>
              </a:rPr>
              <a:t>4. </a:t>
            </a:r>
            <a:r>
              <a:rPr lang="en-US" altLang="zh-CN" sz="3600" b="1" dirty="0" err="1">
                <a:solidFill>
                  <a:srgbClr val="FF0000"/>
                </a:solidFill>
              </a:rPr>
              <a:t>conda</a:t>
            </a:r>
            <a:r>
              <a:rPr lang="en-US" altLang="zh-CN" sz="3600" b="1" dirty="0">
                <a:solidFill>
                  <a:srgbClr val="FF0000"/>
                </a:solidFill>
              </a:rPr>
              <a:t> install </a:t>
            </a:r>
            <a:r>
              <a:rPr lang="en-US" altLang="zh-CN" sz="3600" b="1" dirty="0" err="1">
                <a:solidFill>
                  <a:srgbClr val="FF0000"/>
                </a:solidFill>
              </a:rPr>
              <a:t>xxxx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algn="l"/>
            <a:r>
              <a:rPr lang="en-US" altLang="zh-CN" sz="3600" b="1" dirty="0">
                <a:solidFill>
                  <a:srgbClr val="FF0000"/>
                </a:solidFill>
              </a:rPr>
              <a:t>5. </a:t>
            </a:r>
            <a:r>
              <a:rPr lang="en-US" altLang="zh-CN" sz="3600" b="1" dirty="0" err="1">
                <a:solidFill>
                  <a:srgbClr val="FF0000"/>
                </a:solidFill>
              </a:rPr>
              <a:t>conda</a:t>
            </a:r>
            <a:r>
              <a:rPr lang="en-US" altLang="zh-CN" sz="3600" b="1" dirty="0">
                <a:solidFill>
                  <a:srgbClr val="FF0000"/>
                </a:solidFill>
              </a:rPr>
              <a:t> uninstall </a:t>
            </a:r>
            <a:r>
              <a:rPr lang="en-US" altLang="zh-CN" sz="3600" b="1" dirty="0" err="1">
                <a:solidFill>
                  <a:srgbClr val="FF0000"/>
                </a:solidFill>
              </a:rPr>
              <a:t>xxxx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algn="l"/>
            <a:r>
              <a:rPr lang="en-US" altLang="zh-CN" sz="3600" b="1" dirty="0">
                <a:solidFill>
                  <a:srgbClr val="FF0000"/>
                </a:solidFill>
              </a:rPr>
              <a:t>6. </a:t>
            </a:r>
            <a:r>
              <a:rPr lang="en-US" altLang="zh-CN" sz="3600" b="1" dirty="0" err="1">
                <a:solidFill>
                  <a:srgbClr val="FF0000"/>
                </a:solidFill>
              </a:rPr>
              <a:t>conda</a:t>
            </a:r>
            <a:r>
              <a:rPr lang="en-US" altLang="zh-CN" sz="3600" b="1" dirty="0">
                <a:solidFill>
                  <a:srgbClr val="FF0000"/>
                </a:solidFill>
              </a:rPr>
              <a:t> env list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240F33-0A84-B9B4-D697-BC5F49681EEB}"/>
              </a:ext>
            </a:extLst>
          </p:cNvPr>
          <p:cNvSpPr txBox="1"/>
          <p:nvPr/>
        </p:nvSpPr>
        <p:spPr>
          <a:xfrm>
            <a:off x="5427163" y="2233664"/>
            <a:ext cx="665855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</a:rPr>
              <a:t>7. </a:t>
            </a:r>
            <a:r>
              <a:rPr lang="en-US" altLang="zh-CN" sz="3200" b="1" dirty="0" err="1">
                <a:solidFill>
                  <a:srgbClr val="FF0000"/>
                </a:solidFill>
              </a:rPr>
              <a:t>conda</a:t>
            </a:r>
            <a:r>
              <a:rPr lang="en-US" altLang="zh-CN" sz="3200" b="1" dirty="0">
                <a:solidFill>
                  <a:srgbClr val="FF0000"/>
                </a:solidFill>
              </a:rPr>
              <a:t> create –n </a:t>
            </a:r>
            <a:r>
              <a:rPr lang="en-US" altLang="zh-CN" sz="3200" b="1" dirty="0" err="1">
                <a:solidFill>
                  <a:srgbClr val="FF0000"/>
                </a:solidFill>
              </a:rPr>
              <a:t>xxxx</a:t>
            </a:r>
            <a:r>
              <a:rPr lang="en-US" altLang="zh-CN" sz="3200" b="1" dirty="0">
                <a:solidFill>
                  <a:srgbClr val="FF0000"/>
                </a:solidFill>
              </a:rPr>
              <a:t> python=</a:t>
            </a:r>
            <a:r>
              <a:rPr lang="en-US" altLang="zh-CN" sz="3200" b="1" dirty="0" err="1">
                <a:solidFill>
                  <a:srgbClr val="FF0000"/>
                </a:solidFill>
              </a:rPr>
              <a:t>xxxx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algn="l"/>
            <a:r>
              <a:rPr lang="en-US" altLang="zh-CN" sz="3200" b="1" dirty="0">
                <a:solidFill>
                  <a:srgbClr val="FF0000"/>
                </a:solidFill>
              </a:rPr>
              <a:t>8. </a:t>
            </a:r>
            <a:r>
              <a:rPr lang="en-US" altLang="zh-CN" sz="3200" b="1" dirty="0" err="1">
                <a:solidFill>
                  <a:srgbClr val="FF0000"/>
                </a:solidFill>
              </a:rPr>
              <a:t>conda</a:t>
            </a:r>
            <a:r>
              <a:rPr lang="en-US" altLang="zh-CN" sz="3200" b="1" dirty="0">
                <a:solidFill>
                  <a:srgbClr val="FF0000"/>
                </a:solidFill>
              </a:rPr>
              <a:t> activate </a:t>
            </a:r>
            <a:r>
              <a:rPr lang="en-US" altLang="zh-CN" sz="3200" b="1" dirty="0" err="1">
                <a:solidFill>
                  <a:srgbClr val="FF0000"/>
                </a:solidFill>
              </a:rPr>
              <a:t>xxxx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algn="l"/>
            <a:r>
              <a:rPr lang="en-US" altLang="zh-CN" sz="3200" b="1" dirty="0">
                <a:solidFill>
                  <a:srgbClr val="FF0000"/>
                </a:solidFill>
              </a:rPr>
              <a:t>9. </a:t>
            </a:r>
            <a:r>
              <a:rPr lang="en-US" altLang="zh-CN" sz="3200" b="1" dirty="0" err="1">
                <a:solidFill>
                  <a:srgbClr val="FF0000"/>
                </a:solidFill>
              </a:rPr>
              <a:t>conda</a:t>
            </a:r>
            <a:r>
              <a:rPr lang="en-US" altLang="zh-CN" sz="3200" b="1" dirty="0">
                <a:solidFill>
                  <a:srgbClr val="FF0000"/>
                </a:solidFill>
              </a:rPr>
              <a:t> deactivate </a:t>
            </a:r>
            <a:r>
              <a:rPr lang="en-US" altLang="zh-CN" sz="3200" b="1" dirty="0" err="1">
                <a:solidFill>
                  <a:srgbClr val="FF0000"/>
                </a:solidFill>
              </a:rPr>
              <a:t>xxxx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algn="l"/>
            <a:r>
              <a:rPr lang="en-US" altLang="zh-CN" sz="3200" b="1" dirty="0">
                <a:solidFill>
                  <a:srgbClr val="FF0000"/>
                </a:solidFill>
              </a:rPr>
              <a:t>10.conda remove –n </a:t>
            </a:r>
            <a:r>
              <a:rPr lang="en-US" altLang="zh-CN" sz="3200" b="1" dirty="0" err="1">
                <a:solidFill>
                  <a:srgbClr val="FF0000"/>
                </a:solidFill>
              </a:rPr>
              <a:t>xxxx</a:t>
            </a:r>
            <a:r>
              <a:rPr lang="en-US" altLang="zh-CN" sz="3200" b="1" dirty="0">
                <a:solidFill>
                  <a:srgbClr val="FF0000"/>
                </a:solidFill>
              </a:rPr>
              <a:t> -all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266339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一、计算机原理与程序设计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784413" y="1022545"/>
            <a:ext cx="9581996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课后练习</a:t>
            </a: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软件安装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D10A89-5E0E-5D73-1D4F-9E11D943B29C}"/>
              </a:ext>
            </a:extLst>
          </p:cNvPr>
          <p:cNvSpPr txBox="1"/>
          <p:nvPr/>
        </p:nvSpPr>
        <p:spPr>
          <a:xfrm>
            <a:off x="691793" y="2069821"/>
            <a:ext cx="10847677" cy="1642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Vscode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安装及设置，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Miniconda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工具下载及安装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;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Jupyter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 Notebook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插件安装及使用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07004688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开发环境配置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510073" y="797358"/>
            <a:ext cx="974337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实验一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605307" y="1886769"/>
            <a:ext cx="11075831" cy="47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作业内容及要求：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6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600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2600" dirty="0">
                <a:solidFill>
                  <a:srgbClr val="333333"/>
                </a:solidFill>
                <a:latin typeface="+mn-ea"/>
                <a:ea typeface="+mn-ea"/>
              </a:rPr>
              <a:t>）安装</a:t>
            </a:r>
            <a:r>
              <a:rPr lang="en-US" altLang="zh-CN" sz="2600" dirty="0" err="1">
                <a:solidFill>
                  <a:srgbClr val="333333"/>
                </a:solidFill>
                <a:latin typeface="+mn-ea"/>
                <a:ea typeface="+mn-ea"/>
              </a:rPr>
              <a:t>miniconda</a:t>
            </a:r>
            <a:r>
              <a:rPr lang="zh-CN" altLang="en-US" sz="2600" dirty="0">
                <a:solidFill>
                  <a:srgbClr val="333333"/>
                </a:solidFill>
                <a:latin typeface="+mn-ea"/>
                <a:ea typeface="+mn-ea"/>
              </a:rPr>
              <a:t>软件。</a:t>
            </a:r>
            <a:endParaRPr lang="en-US" altLang="zh-CN" sz="26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6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600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600" dirty="0">
                <a:solidFill>
                  <a:srgbClr val="333333"/>
                </a:solidFill>
                <a:latin typeface="+mn-ea"/>
                <a:ea typeface="+mn-ea"/>
              </a:rPr>
              <a:t>）利用</a:t>
            </a:r>
            <a:r>
              <a:rPr lang="en-US" altLang="zh-CN" sz="2600" dirty="0" err="1">
                <a:solidFill>
                  <a:srgbClr val="333333"/>
                </a:solidFill>
                <a:latin typeface="+mn-ea"/>
                <a:ea typeface="+mn-ea"/>
              </a:rPr>
              <a:t>miniconda</a:t>
            </a:r>
            <a:r>
              <a:rPr lang="zh-CN" altLang="en-US" sz="2600" dirty="0">
                <a:solidFill>
                  <a:srgbClr val="333333"/>
                </a:solidFill>
                <a:latin typeface="+mn-ea"/>
                <a:ea typeface="+mn-ea"/>
              </a:rPr>
              <a:t>创建名为“</a:t>
            </a:r>
            <a:r>
              <a:rPr lang="en-US" altLang="zh-CN" sz="2600" dirty="0">
                <a:solidFill>
                  <a:srgbClr val="333333"/>
                </a:solidFill>
                <a:latin typeface="+mn-ea"/>
                <a:ea typeface="+mn-ea"/>
              </a:rPr>
              <a:t>my-env</a:t>
            </a:r>
            <a:r>
              <a:rPr lang="zh-CN" altLang="en-US" sz="2600" dirty="0">
                <a:solidFill>
                  <a:srgbClr val="333333"/>
                </a:solidFill>
                <a:latin typeface="+mn-ea"/>
                <a:ea typeface="+mn-ea"/>
              </a:rPr>
              <a:t>”的</a:t>
            </a:r>
            <a:r>
              <a:rPr lang="en-US" altLang="zh-CN" sz="26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600" dirty="0">
                <a:solidFill>
                  <a:srgbClr val="333333"/>
                </a:solidFill>
                <a:latin typeface="+mn-ea"/>
                <a:ea typeface="+mn-ea"/>
              </a:rPr>
              <a:t>开发环境。</a:t>
            </a:r>
            <a:endParaRPr lang="en-US" altLang="zh-CN" sz="26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6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600" dirty="0">
                <a:solidFill>
                  <a:srgbClr val="333333"/>
                </a:solidFill>
                <a:latin typeface="+mn-ea"/>
                <a:ea typeface="+mn-ea"/>
              </a:rPr>
              <a:t>3</a:t>
            </a:r>
            <a:r>
              <a:rPr lang="zh-CN" altLang="en-US" sz="2600" dirty="0">
                <a:solidFill>
                  <a:srgbClr val="333333"/>
                </a:solidFill>
                <a:latin typeface="+mn-ea"/>
                <a:ea typeface="+mn-ea"/>
              </a:rPr>
              <a:t>）在开发环境中安装</a:t>
            </a:r>
            <a:r>
              <a:rPr lang="en-US" altLang="zh-CN" sz="2600" dirty="0" err="1">
                <a:solidFill>
                  <a:srgbClr val="333333"/>
                </a:solidFill>
                <a:latin typeface="+mn-ea"/>
                <a:ea typeface="+mn-ea"/>
              </a:rPr>
              <a:t>ipykernel</a:t>
            </a:r>
            <a:r>
              <a:rPr lang="en-US" altLang="zh-CN" sz="2600" dirty="0">
                <a:solidFill>
                  <a:srgbClr val="333333"/>
                </a:solidFill>
                <a:latin typeface="+mn-ea"/>
                <a:ea typeface="+mn-ea"/>
              </a:rPr>
              <a:t>, </a:t>
            </a:r>
            <a:r>
              <a:rPr lang="en-US" altLang="zh-CN" sz="2600" dirty="0" err="1">
                <a:solidFill>
                  <a:srgbClr val="333333"/>
                </a:solidFill>
                <a:latin typeface="+mn-ea"/>
                <a:ea typeface="+mn-ea"/>
              </a:rPr>
              <a:t>numpy</a:t>
            </a:r>
            <a:r>
              <a:rPr lang="en-US" altLang="zh-CN" sz="2600" dirty="0">
                <a:solidFill>
                  <a:srgbClr val="333333"/>
                </a:solidFill>
                <a:latin typeface="+mn-ea"/>
                <a:ea typeface="+mn-ea"/>
              </a:rPr>
              <a:t>, pandas,</a:t>
            </a:r>
            <a:r>
              <a:rPr lang="zh-CN" altLang="en-US" sz="26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2600" dirty="0" err="1">
                <a:solidFill>
                  <a:srgbClr val="333333"/>
                </a:solidFill>
                <a:latin typeface="+mn-ea"/>
                <a:ea typeface="+mn-ea"/>
              </a:rPr>
              <a:t>geopandas</a:t>
            </a:r>
            <a:r>
              <a:rPr lang="en-US" altLang="zh-CN" sz="2600" dirty="0">
                <a:solidFill>
                  <a:srgbClr val="333333"/>
                </a:solidFill>
                <a:latin typeface="+mn-ea"/>
                <a:ea typeface="+mn-ea"/>
              </a:rPr>
              <a:t>, matplotlib, </a:t>
            </a:r>
            <a:r>
              <a:rPr lang="en-US" altLang="zh-CN" sz="2600">
                <a:solidFill>
                  <a:srgbClr val="333333"/>
                </a:solidFill>
                <a:latin typeface="+mn-ea"/>
                <a:ea typeface="+mn-ea"/>
              </a:rPr>
              <a:t>rasterio</a:t>
            </a:r>
            <a:r>
              <a:rPr lang="zh-CN" altLang="en-US" sz="2600">
                <a:solidFill>
                  <a:srgbClr val="333333"/>
                </a:solidFill>
                <a:latin typeface="+mn-ea"/>
                <a:ea typeface="+mn-ea"/>
              </a:rPr>
              <a:t>第</a:t>
            </a:r>
            <a:r>
              <a:rPr lang="zh-CN" altLang="en-US" sz="2600" dirty="0">
                <a:solidFill>
                  <a:srgbClr val="333333"/>
                </a:solidFill>
                <a:latin typeface="+mn-ea"/>
                <a:ea typeface="+mn-ea"/>
              </a:rPr>
              <a:t>三方库。</a:t>
            </a:r>
            <a:endParaRPr lang="en-US" altLang="zh-CN" sz="26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7BA0C2-A265-EE38-7F87-B0E3E08CDBEB}"/>
              </a:ext>
            </a:extLst>
          </p:cNvPr>
          <p:cNvSpPr txBox="1"/>
          <p:nvPr/>
        </p:nvSpPr>
        <p:spPr>
          <a:xfrm>
            <a:off x="950712" y="1417549"/>
            <a:ext cx="9444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u="sng" dirty="0">
                <a:solidFill>
                  <a:srgbClr val="FF0000"/>
                </a:solidFill>
                <a:latin typeface="+mn-ea"/>
                <a:ea typeface="+mn-ea"/>
              </a:rPr>
              <a:t>题目：</a:t>
            </a:r>
            <a:r>
              <a:rPr lang="en-US" altLang="zh-CN" sz="3600" b="1" u="sng" dirty="0">
                <a:solidFill>
                  <a:srgbClr val="FF0000"/>
                </a:solidFill>
                <a:latin typeface="+mn-ea"/>
                <a:ea typeface="+mn-ea"/>
              </a:rPr>
              <a:t>Python</a:t>
            </a:r>
            <a:r>
              <a:rPr lang="zh-CN" altLang="en-US" sz="3600" b="1" u="sng" dirty="0">
                <a:solidFill>
                  <a:srgbClr val="FF0000"/>
                </a:solidFill>
                <a:latin typeface="+mn-ea"/>
                <a:ea typeface="+mn-ea"/>
              </a:rPr>
              <a:t>开发环境配置</a:t>
            </a:r>
            <a:endParaRPr lang="en-US" altLang="zh-CN" sz="36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088012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5801</TotalTime>
  <Words>3826</Words>
  <Application>Microsoft Office PowerPoint</Application>
  <PresentationFormat>宽屏</PresentationFormat>
  <Paragraphs>332</Paragraphs>
  <Slides>40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Noto Sans SC</vt:lpstr>
      <vt:lpstr>PingFang SC</vt:lpstr>
      <vt:lpstr>黑体</vt:lpstr>
      <vt:lpstr>微软雅黑</vt:lpstr>
      <vt:lpstr>微软雅黑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课程简介及考核</vt:lpstr>
      <vt:lpstr>课程简介及考核</vt:lpstr>
      <vt:lpstr>课程简介及考核</vt:lpstr>
      <vt:lpstr>课程简介及考核</vt:lpstr>
      <vt:lpstr>课程简介及考核</vt:lpstr>
      <vt:lpstr>课程简介及考核</vt:lpstr>
      <vt:lpstr>PowerPoint 演示文稿</vt:lpstr>
      <vt:lpstr>PowerPoint 演示文稿</vt:lpstr>
      <vt:lpstr>PowerPoint 演示文稿</vt:lpstr>
      <vt:lpstr>一、计算机原理与程序设计概述</vt:lpstr>
      <vt:lpstr>一、计算机原理与程序设计概述</vt:lpstr>
      <vt:lpstr>一、计算机原理与程序设计概述</vt:lpstr>
      <vt:lpstr>一、计算机原理与程序设计概述</vt:lpstr>
      <vt:lpstr>一、计算机原理与程序设计概述</vt:lpstr>
      <vt:lpstr>一、计算机原理与程序设计概述</vt:lpstr>
      <vt:lpstr>PowerPoint 演示文稿</vt:lpstr>
      <vt:lpstr>一、Python编程基础</vt:lpstr>
      <vt:lpstr>一、Python编程基础</vt:lpstr>
      <vt:lpstr>一、Python编程基础</vt:lpstr>
      <vt:lpstr>一、Python简介</vt:lpstr>
      <vt:lpstr>PowerPoint 演示文稿</vt:lpstr>
      <vt:lpstr>三、基于Python的开源软件开发环境配置</vt:lpstr>
      <vt:lpstr>一、基于Python的开源软件开发环境配置</vt:lpstr>
      <vt:lpstr>二、开源软件开发工具</vt:lpstr>
      <vt:lpstr>二、开源软件开发工具</vt:lpstr>
      <vt:lpstr>二、开源软件开发工具</vt:lpstr>
      <vt:lpstr>三、基于Python的开源软件开发环境配置</vt:lpstr>
      <vt:lpstr>三、基于Python的开源软件开发环境配置</vt:lpstr>
      <vt:lpstr>三、基于Python的开源软件开发环境配置</vt:lpstr>
      <vt:lpstr>三、基于Python的开源软件开发环境配置</vt:lpstr>
      <vt:lpstr>三、基于Python的开源软件开发环境配置</vt:lpstr>
      <vt:lpstr>三、基于Python的开源软件开发环境配置</vt:lpstr>
      <vt:lpstr>三、基于Python的开源软件开发环境配置</vt:lpstr>
      <vt:lpstr>三、基于Python的开源软件开发环境配置</vt:lpstr>
      <vt:lpstr>三、基于Python的开源软件开发环境配置</vt:lpstr>
      <vt:lpstr>一、计算机原理与程序设计</vt:lpstr>
      <vt:lpstr>一、计算机原理与程序设计</vt:lpstr>
      <vt:lpstr>三、Python开发环境配置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72</cp:revision>
  <cp:lastPrinted>2026-09-30T10:48:17Z</cp:lastPrinted>
  <dcterms:created xsi:type="dcterms:W3CDTF">2004-07-09T11:40:27Z</dcterms:created>
  <dcterms:modified xsi:type="dcterms:W3CDTF">2026-10-14T09:55:57Z</dcterms:modified>
</cp:coreProperties>
</file>