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21"/>
  </p:notesMasterIdLst>
  <p:handoutMasterIdLst>
    <p:handoutMasterId r:id="rId22"/>
  </p:handoutMasterIdLst>
  <p:sldIdLst>
    <p:sldId id="2708" r:id="rId3"/>
    <p:sldId id="2387" r:id="rId4"/>
    <p:sldId id="2709" r:id="rId5"/>
    <p:sldId id="2772" r:id="rId6"/>
    <p:sldId id="2727" r:id="rId7"/>
    <p:sldId id="2763" r:id="rId8"/>
    <p:sldId id="2764" r:id="rId9"/>
    <p:sldId id="2765" r:id="rId10"/>
    <p:sldId id="2720" r:id="rId11"/>
    <p:sldId id="2728" r:id="rId12"/>
    <p:sldId id="2732" r:id="rId13"/>
    <p:sldId id="2762" r:id="rId14"/>
    <p:sldId id="2766" r:id="rId15"/>
    <p:sldId id="2767" r:id="rId16"/>
    <p:sldId id="2768" r:id="rId17"/>
    <p:sldId id="2771" r:id="rId18"/>
    <p:sldId id="2769" r:id="rId19"/>
    <p:sldId id="2741" r:id="rId20"/>
  </p:sldIdLst>
  <p:sldSz cx="12192000" cy="6858000"/>
  <p:notesSz cx="7099300" cy="10234613"/>
  <p:custDataLst>
    <p:tags r:id="rId23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2" autoAdjust="0"/>
    <p:restoredTop sz="78938" autoAdjust="0"/>
  </p:normalViewPr>
  <p:slideViewPr>
    <p:cSldViewPr snapToGrid="0">
      <p:cViewPr varScale="1">
        <p:scale>
          <a:sx n="65" d="100"/>
          <a:sy n="65" d="100"/>
        </p:scale>
        <p:origin x="129" y="51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B16E866-FFF1-585A-8670-68209B92BFC1}"/>
    <pc:docChg chg="modSld">
      <pc:chgData name="Xin Luo" userId="82312ee5779919a4" providerId="LiveId" clId="{4B16E866-FFF1-585A-8670-68209B92BFC1}" dt="2026-08-27T06:03:12.266" v="12" actId="108"/>
      <pc:docMkLst>
        <pc:docMk/>
      </pc:docMkLst>
      <pc:sldChg chg="modSp mod">
        <pc:chgData name="Xin Luo" userId="82312ee5779919a4" providerId="LiveId" clId="{4B16E866-FFF1-585A-8670-68209B92BFC1}" dt="2026-08-27T06:03:12.266" v="12" actId="108"/>
        <pc:sldMkLst>
          <pc:docMk/>
          <pc:sldMk cId="4207004688" sldId="2741"/>
        </pc:sldMkLst>
        <pc:spChg chg="mod">
          <ac:chgData name="Xin Luo" userId="82312ee5779919a4" providerId="LiveId" clId="{4B16E866-FFF1-585A-8670-68209B92BFC1}" dt="2026-08-27T06:03:12.266" v="12" actId="108"/>
          <ac:spMkLst>
            <pc:docMk/>
            <pc:sldMk cId="4207004688" sldId="2741"/>
            <ac:spMk id="4" creationId="{DBE2EB52-1153-547D-4DDB-F105FCA1059C}"/>
          </ac:spMkLst>
        </pc:spChg>
        <pc:spChg chg="mod">
          <ac:chgData name="Xin Luo" userId="82312ee5779919a4" providerId="LiveId" clId="{4B16E866-FFF1-585A-8670-68209B92BFC1}" dt="2026-08-27T06:02:50.369" v="9" actId="20577"/>
          <ac:spMkLst>
            <pc:docMk/>
            <pc:sldMk cId="4207004688" sldId="2741"/>
            <ac:spMk id="6" creationId="{68615743-0F76-1E7B-8513-381292D6BC6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EB36-E65D-72D8-E515-13D9095A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C7FD3F-5A8A-1021-4086-B7BE2AF2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0DEE36-DB7D-C80E-81F9-E4CDA7017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671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4332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BD2CC-8B0B-34CA-08F1-1C15AD8F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A361F3-D0FD-45CE-B7B5-94C386302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E72C3D-9C52-863C-9070-57668E11F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6311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DC3A7-841F-220E-FC74-0D3781EE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CE0D22-5E18-0AC7-C93B-4F04A3917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690ED7-7516-F85A-7ADE-B5E02F9C9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4126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3239-485F-19B1-F59C-616A4DEB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93E92F-8DFD-24A9-42E4-F42C0EAD3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B13AE-9689-84F1-8BC1-86385C4F0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363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70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54775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break</a:t>
            </a:r>
            <a:r>
              <a:rPr lang="zh-CN" altLang="en-US" dirty="0"/>
              <a:t>跳出整个循环；</a:t>
            </a:r>
            <a:r>
              <a:rPr lang="en-US" altLang="zh-CN" dirty="0"/>
              <a:t>continue</a:t>
            </a:r>
            <a:r>
              <a:rPr lang="zh-CN" altLang="en-US" dirty="0"/>
              <a:t>跳出循环中部分循环。</a:t>
            </a:r>
          </a:p>
        </p:txBody>
      </p:sp>
    </p:spTree>
    <p:extLst>
      <p:ext uri="{BB962C8B-B14F-4D97-AF65-F5344CB8AC3E}">
        <p14:creationId xmlns:p14="http://schemas.microsoft.com/office/powerpoint/2010/main" val="854870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1D1E-E827-D5D8-F135-ED7D30905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4E861B-3E96-E4A8-55B6-9DE6F5C68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A67601-298F-BD90-DE05-F93294DA2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和</a:t>
            </a:r>
            <a:r>
              <a:rPr lang="en-US" altLang="zh-CN" dirty="0"/>
              <a:t>if</a:t>
            </a:r>
            <a:r>
              <a:rPr lang="zh-CN" altLang="en-US" dirty="0"/>
              <a:t>区别</a:t>
            </a:r>
          </a:p>
        </p:txBody>
      </p:sp>
    </p:spTree>
    <p:extLst>
      <p:ext uri="{BB962C8B-B14F-4D97-AF65-F5344CB8AC3E}">
        <p14:creationId xmlns:p14="http://schemas.microsoft.com/office/powerpoint/2010/main" val="1934266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D5ED6-7D70-8349-ED32-EC76E6376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CC6A6A-6367-3598-0372-684139946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3D8B95-0806-D841-67D7-AC26247AF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374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5F16-24DE-D32F-A500-050718E4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3D6D4-58F8-0A16-F9F3-697EA880D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ED5BB7-C43D-6A93-BA62-B5ED4FFD4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6529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285BD-8A1C-A3FF-1ED4-6467BB73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CF1398-7C25-62EF-B4A0-E3220E370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AE387C-182D-7F95-8377-E398E8E3E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迭代器自行学习</a:t>
            </a:r>
          </a:p>
        </p:txBody>
      </p:sp>
    </p:spTree>
    <p:extLst>
      <p:ext uri="{BB962C8B-B14F-4D97-AF65-F5344CB8AC3E}">
        <p14:creationId xmlns:p14="http://schemas.microsoft.com/office/powerpoint/2010/main" val="3578125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CD7B-0676-979A-AEFF-83320CE9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0C674-8C2A-9698-42ED-45F3611AA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C94855-3E43-8B84-51D6-BEF822470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7163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F41F-90BA-FD28-D810-F9873618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93B346-C053-8F50-F623-157ABDC10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59B823-9BF7-5CE5-DDA0-5FB66A77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5376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6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第三章 条件与循环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739914" y="243144"/>
            <a:ext cx="4662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三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1898544" y="3779520"/>
            <a:ext cx="6402618" cy="772176"/>
            <a:chOff x="2121802" y="2115450"/>
            <a:chExt cx="5027421" cy="576000"/>
          </a:xfrm>
        </p:grpSpPr>
        <p:sp>
          <p:nvSpPr>
            <p:cNvPr id="10" name="椭圆 9"/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697803" y="2150559"/>
              <a:ext cx="4451420" cy="48212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循环语句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898545" y="2523394"/>
            <a:ext cx="6403721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35749"/>
              <a:ext cx="5062803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条件语句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525994" y="236425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 dirty="0">
              <a:solidFill>
                <a:schemeClr val="accent1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168" y="3520308"/>
            <a:ext cx="12173832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7233" y="3917337"/>
            <a:ext cx="87530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微软雅黑" pitchFamily="34" charset="-122"/>
                <a:ea typeface="微软雅黑" pitchFamily="34" charset="-122"/>
              </a:rPr>
              <a:t>一、条件语句</a:t>
            </a:r>
          </a:p>
        </p:txBody>
      </p:sp>
      <p:sp>
        <p:nvSpPr>
          <p:cNvPr id="8" name="矩形 7"/>
          <p:cNvSpPr/>
          <p:nvPr/>
        </p:nvSpPr>
        <p:spPr>
          <a:xfrm>
            <a:off x="18168" y="5063357"/>
            <a:ext cx="12173832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482D-C7BB-32E0-E944-374D79FC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DE205C4-818C-8150-F768-46C492E9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一、条件语句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41D31-5719-59DF-5079-DB372564FAF6}"/>
              </a:ext>
            </a:extLst>
          </p:cNvPr>
          <p:cNvSpPr txBox="1"/>
          <p:nvPr/>
        </p:nvSpPr>
        <p:spPr>
          <a:xfrm>
            <a:off x="566057" y="1017028"/>
            <a:ext cx="811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程序三大结构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：顺序、分支、循环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AFD8C70-6941-B357-4017-618314ACE09A}"/>
              </a:ext>
            </a:extLst>
          </p:cNvPr>
          <p:cNvGrpSpPr/>
          <p:nvPr/>
        </p:nvGrpSpPr>
        <p:grpSpPr>
          <a:xfrm>
            <a:off x="1031096" y="2042125"/>
            <a:ext cx="2336218" cy="4235304"/>
            <a:chOff x="1031096" y="2042125"/>
            <a:chExt cx="1889904" cy="36093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94CDEC-06DA-1ABE-9B92-7AA1B1F6B9AB}"/>
                </a:ext>
              </a:extLst>
            </p:cNvPr>
            <p:cNvSpPr/>
            <p:nvPr/>
          </p:nvSpPr>
          <p:spPr>
            <a:xfrm>
              <a:off x="1031096" y="2042125"/>
              <a:ext cx="1889904" cy="77058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步骤一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8F771B-E95E-E79F-A2C2-729DC0F76100}"/>
                </a:ext>
              </a:extLst>
            </p:cNvPr>
            <p:cNvSpPr/>
            <p:nvPr/>
          </p:nvSpPr>
          <p:spPr>
            <a:xfrm>
              <a:off x="1031096" y="3511377"/>
              <a:ext cx="1889904" cy="77058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步骤二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C9FA85-CCD6-88DE-BFDF-43EECE15CDE3}"/>
                </a:ext>
              </a:extLst>
            </p:cNvPr>
            <p:cNvSpPr/>
            <p:nvPr/>
          </p:nvSpPr>
          <p:spPr>
            <a:xfrm>
              <a:off x="1031096" y="4880917"/>
              <a:ext cx="1889904" cy="77058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步骤三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28E76A6-A10A-5E61-6172-E71C88C38219}"/>
                </a:ext>
              </a:extLst>
            </p:cNvPr>
            <p:cNvCxnSpPr>
              <a:stCxn id="8" idx="2"/>
              <a:endCxn id="11" idx="0"/>
            </p:cNvCxnSpPr>
            <p:nvPr/>
          </p:nvCxnSpPr>
          <p:spPr bwMode="auto">
            <a:xfrm>
              <a:off x="1976048" y="2812708"/>
              <a:ext cx="0" cy="698669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C08D9C-AADC-42F6-6126-E5DCAEAF78F4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 bwMode="auto">
            <a:xfrm>
              <a:off x="1976048" y="4281960"/>
              <a:ext cx="0" cy="598957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75DCDB3-9C66-6752-D665-6342E48B0942}"/>
              </a:ext>
            </a:extLst>
          </p:cNvPr>
          <p:cNvGrpSpPr/>
          <p:nvPr/>
        </p:nvGrpSpPr>
        <p:grpSpPr>
          <a:xfrm>
            <a:off x="4126658" y="2042125"/>
            <a:ext cx="4153737" cy="3095932"/>
            <a:chOff x="4126659" y="2042125"/>
            <a:chExt cx="3903158" cy="223983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63E5F3-0A76-4F1D-FB75-B57AFA8785DE}"/>
                </a:ext>
              </a:extLst>
            </p:cNvPr>
            <p:cNvSpPr/>
            <p:nvPr/>
          </p:nvSpPr>
          <p:spPr>
            <a:xfrm>
              <a:off x="5190639" y="2042125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步骤一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E74E830-8282-7D1B-33CE-BBC5ED3E3776}"/>
                </a:ext>
              </a:extLst>
            </p:cNvPr>
            <p:cNvSpPr/>
            <p:nvPr/>
          </p:nvSpPr>
          <p:spPr>
            <a:xfrm>
              <a:off x="4126659" y="3511377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步骤二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CB4E39-2825-73DB-4F80-6518513FC1C2}"/>
                </a:ext>
              </a:extLst>
            </p:cNvPr>
            <p:cNvSpPr/>
            <p:nvPr/>
          </p:nvSpPr>
          <p:spPr>
            <a:xfrm>
              <a:off x="6275609" y="3511376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步骤三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F916940-2FD7-56B6-C229-8EACE57184DE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 bwMode="auto">
            <a:xfrm flipH="1">
              <a:off x="5003763" y="2812707"/>
              <a:ext cx="1063980" cy="69867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DD26FCC-49C5-D57D-6C56-DC036AA2B373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 bwMode="auto">
            <a:xfrm>
              <a:off x="6067743" y="2812707"/>
              <a:ext cx="1084970" cy="698669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97C571-83B7-B229-65E5-BBE723AFB51C}"/>
              </a:ext>
            </a:extLst>
          </p:cNvPr>
          <p:cNvGrpSpPr/>
          <p:nvPr/>
        </p:nvGrpSpPr>
        <p:grpSpPr>
          <a:xfrm>
            <a:off x="8922862" y="1839980"/>
            <a:ext cx="2336215" cy="4437449"/>
            <a:chOff x="9104292" y="1963351"/>
            <a:chExt cx="1766908" cy="345062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732244A-53EE-AB77-19E6-2799E1F0E168}"/>
                </a:ext>
              </a:extLst>
            </p:cNvPr>
            <p:cNvSpPr/>
            <p:nvPr/>
          </p:nvSpPr>
          <p:spPr>
            <a:xfrm>
              <a:off x="9104292" y="1963351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步骤一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730D1A-B74A-5DE3-98ED-62E90A6B14C2}"/>
                </a:ext>
              </a:extLst>
            </p:cNvPr>
            <p:cNvSpPr/>
            <p:nvPr/>
          </p:nvSpPr>
          <p:spPr>
            <a:xfrm>
              <a:off x="9104292" y="3273853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步骤二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5AE055E-0F2D-2C5F-E37C-B238B4F4695B}"/>
                </a:ext>
              </a:extLst>
            </p:cNvPr>
            <p:cNvSpPr/>
            <p:nvPr/>
          </p:nvSpPr>
          <p:spPr>
            <a:xfrm>
              <a:off x="9104292" y="4643393"/>
              <a:ext cx="1754208" cy="77058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步骤三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179FCB4-F757-9E55-9A7F-E9A5752B8297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 bwMode="auto">
            <a:xfrm>
              <a:off x="9981396" y="2733933"/>
              <a:ext cx="0" cy="539920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DC430BC-294B-9AF2-EF66-3FCCDC6D1C66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 bwMode="auto">
            <a:xfrm>
              <a:off x="9981396" y="4044435"/>
              <a:ext cx="0" cy="598958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Elbow Connector 45">
              <a:extLst>
                <a:ext uri="{FF2B5EF4-FFF2-40B4-BE49-F238E27FC236}">
                  <a16:creationId xmlns:a16="http://schemas.microsoft.com/office/drawing/2014/main" id="{9A62E57C-ABC3-F35D-9A10-6B2765C9F7C1}"/>
                </a:ext>
              </a:extLst>
            </p:cNvPr>
            <p:cNvCxnSpPr>
              <a:stCxn id="19" idx="3"/>
              <a:endCxn id="18" idx="3"/>
            </p:cNvCxnSpPr>
            <p:nvPr/>
          </p:nvCxnSpPr>
          <p:spPr bwMode="auto">
            <a:xfrm flipV="1">
              <a:off x="10858500" y="3659144"/>
              <a:ext cx="12700" cy="1369540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文本框 34">
            <a:extLst>
              <a:ext uri="{FF2B5EF4-FFF2-40B4-BE49-F238E27FC236}">
                <a16:creationId xmlns:a16="http://schemas.microsoft.com/office/drawing/2014/main" id="{C1152E10-7BE6-9E36-1758-ECF1EF5F7072}"/>
              </a:ext>
            </a:extLst>
          </p:cNvPr>
          <p:cNvSpPr txBox="1"/>
          <p:nvPr/>
        </p:nvSpPr>
        <p:spPr>
          <a:xfrm>
            <a:off x="5383821" y="3566100"/>
            <a:ext cx="1549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  <a:latin typeface="+mn-ea"/>
                <a:ea typeface="+mn-ea"/>
              </a:rPr>
              <a:t>条件判断</a:t>
            </a:r>
          </a:p>
        </p:txBody>
      </p:sp>
      <p:sp>
        <p:nvSpPr>
          <p:cNvPr id="9" name="文本框 34">
            <a:extLst>
              <a:ext uri="{FF2B5EF4-FFF2-40B4-BE49-F238E27FC236}">
                <a16:creationId xmlns:a16="http://schemas.microsoft.com/office/drawing/2014/main" id="{BC6758CF-C649-EF86-9994-37CAC0771A16}"/>
              </a:ext>
            </a:extLst>
          </p:cNvPr>
          <p:cNvSpPr txBox="1"/>
          <p:nvPr/>
        </p:nvSpPr>
        <p:spPr>
          <a:xfrm>
            <a:off x="10102730" y="4701021"/>
            <a:ext cx="1549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  <a:latin typeface="+mn-ea"/>
                <a:ea typeface="+mn-ea"/>
              </a:rPr>
              <a:t>循环执行</a:t>
            </a:r>
          </a:p>
        </p:txBody>
      </p:sp>
    </p:spTree>
    <p:extLst>
      <p:ext uri="{BB962C8B-B14F-4D97-AF65-F5344CB8AC3E}">
        <p14:creationId xmlns:p14="http://schemas.microsoft.com/office/powerpoint/2010/main" val="257558496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一、条件语句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60350" y="895239"/>
            <a:ext cx="8145314" cy="5550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4000" b="1" dirty="0">
                <a:solidFill>
                  <a:srgbClr val="333333"/>
                </a:solidFill>
                <a:latin typeface="+mn-ea"/>
                <a:ea typeface="+mn-ea"/>
              </a:rPr>
              <a:t>条件判断</a:t>
            </a:r>
            <a:endParaRPr lang="en-US" altLang="zh-CN" sz="4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条件语句是通过一条或多条语句的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执行结果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True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或者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False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）来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决定是否执行代码块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条件判断一般通过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if-</a:t>
            </a:r>
            <a:r>
              <a:rPr lang="en-US" altLang="zh-CN" sz="3000" b="1" u="sng" dirty="0" err="1">
                <a:solidFill>
                  <a:srgbClr val="333333"/>
                </a:solidFill>
                <a:latin typeface="+mn-ea"/>
                <a:ea typeface="+mn-ea"/>
              </a:rPr>
              <a:t>elif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-else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语句实现。要么“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if”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区块的代码被执行，要么一个“</a:t>
            </a:r>
            <a:r>
              <a:rPr lang="en-US" altLang="zh-CN" sz="3000" dirty="0" err="1">
                <a:solidFill>
                  <a:srgbClr val="333333"/>
                </a:solidFill>
                <a:latin typeface="+mn-ea"/>
                <a:ea typeface="+mn-ea"/>
              </a:rPr>
              <a:t>elif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”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区块的代码被执行，要么“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else”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区块的代码被执行。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A18C9E3-0F1A-A6F5-02AA-0B73FD93D1A3}"/>
              </a:ext>
            </a:extLst>
          </p:cNvPr>
          <p:cNvGrpSpPr/>
          <p:nvPr/>
        </p:nvGrpSpPr>
        <p:grpSpPr>
          <a:xfrm>
            <a:off x="8410800" y="1084440"/>
            <a:ext cx="3848402" cy="4960760"/>
            <a:chOff x="5508523" y="1278957"/>
            <a:chExt cx="3644609" cy="473014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1037E90-C543-B3BF-0515-994D952BA3AD}"/>
                </a:ext>
              </a:extLst>
            </p:cNvPr>
            <p:cNvSpPr/>
            <p:nvPr/>
          </p:nvSpPr>
          <p:spPr>
            <a:xfrm>
              <a:off x="5702071" y="4351910"/>
              <a:ext cx="1862032" cy="697546"/>
            </a:xfrm>
            <a:prstGeom prst="rect">
              <a:avLst/>
            </a:prstGeom>
            <a:noFill/>
            <a:ln w="28575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条件代码</a:t>
              </a:r>
            </a:p>
          </p:txBody>
        </p:sp>
        <p:sp>
          <p:nvSpPr>
            <p:cNvPr id="5" name="菱形 4">
              <a:extLst>
                <a:ext uri="{FF2B5EF4-FFF2-40B4-BE49-F238E27FC236}">
                  <a16:creationId xmlns:a16="http://schemas.microsoft.com/office/drawing/2014/main" id="{BA4FF0D2-99F8-C708-CF13-E5A0FFB8E6B5}"/>
                </a:ext>
              </a:extLst>
            </p:cNvPr>
            <p:cNvSpPr/>
            <p:nvPr/>
          </p:nvSpPr>
          <p:spPr>
            <a:xfrm>
              <a:off x="5508523" y="2179273"/>
              <a:ext cx="2249129" cy="794052"/>
            </a:xfrm>
            <a:prstGeom prst="diamond">
              <a:avLst/>
            </a:prstGeom>
            <a:noFill/>
            <a:ln w="28575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条件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A9231CB-8B36-D956-749D-3500DCB1ABBA}"/>
                </a:ext>
              </a:extLst>
            </p:cNvPr>
            <p:cNvSpPr/>
            <p:nvPr/>
          </p:nvSpPr>
          <p:spPr>
            <a:xfrm>
              <a:off x="6478229" y="1278957"/>
              <a:ext cx="309716" cy="302341"/>
            </a:xfrm>
            <a:prstGeom prst="ellipse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CA97CB2-CA55-635A-316D-75D20462DAD1}"/>
                </a:ext>
              </a:extLst>
            </p:cNvPr>
            <p:cNvSpPr/>
            <p:nvPr/>
          </p:nvSpPr>
          <p:spPr>
            <a:xfrm>
              <a:off x="6478229" y="5706756"/>
              <a:ext cx="309716" cy="302341"/>
            </a:xfrm>
            <a:prstGeom prst="ellipse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4E680E97-53A0-EAF2-3C08-9F6913A69168}"/>
                </a:ext>
              </a:extLst>
            </p:cNvPr>
            <p:cNvCxnSpPr>
              <a:cxnSpLocks/>
              <a:stCxn id="6" idx="4"/>
              <a:endCxn id="5" idx="0"/>
            </p:cNvCxnSpPr>
            <p:nvPr/>
          </p:nvCxnSpPr>
          <p:spPr bwMode="auto">
            <a:xfrm>
              <a:off x="6633087" y="1581298"/>
              <a:ext cx="1" cy="597975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5F340BA-D08D-1954-B7A7-817880C6D73D}"/>
                </a:ext>
              </a:extLst>
            </p:cNvPr>
            <p:cNvCxnSpPr>
              <a:cxnSpLocks/>
              <a:stCxn id="35" idx="2"/>
              <a:endCxn id="4" idx="0"/>
            </p:cNvCxnSpPr>
            <p:nvPr/>
          </p:nvCxnSpPr>
          <p:spPr bwMode="auto">
            <a:xfrm>
              <a:off x="6631466" y="3831443"/>
              <a:ext cx="1620" cy="520466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E23391E-E90F-AFF2-54B1-8BB505910B16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 bwMode="auto">
            <a:xfrm>
              <a:off x="6633087" y="5049456"/>
              <a:ext cx="0" cy="65730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连接符: 肘形 25">
              <a:extLst>
                <a:ext uri="{FF2B5EF4-FFF2-40B4-BE49-F238E27FC236}">
                  <a16:creationId xmlns:a16="http://schemas.microsoft.com/office/drawing/2014/main" id="{9F03EEB3-00D9-CBE5-AB06-7796F691FF53}"/>
                </a:ext>
              </a:extLst>
            </p:cNvPr>
            <p:cNvCxnSpPr>
              <a:cxnSpLocks/>
              <a:stCxn id="38" idx="2"/>
              <a:endCxn id="7" idx="6"/>
            </p:cNvCxnSpPr>
            <p:nvPr/>
          </p:nvCxnSpPr>
          <p:spPr bwMode="auto">
            <a:xfrm rot="5400000">
              <a:off x="6738556" y="4259488"/>
              <a:ext cx="1647827" cy="1549049"/>
            </a:xfrm>
            <a:prstGeom prst="bentConnector2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26DC0F8D-AC1F-F572-261D-8B536E7C5A01}"/>
                </a:ext>
              </a:extLst>
            </p:cNvPr>
            <p:cNvCxnSpPr>
              <a:cxnSpLocks/>
              <a:stCxn id="38" idx="0"/>
              <a:endCxn id="5" idx="3"/>
            </p:cNvCxnSpPr>
            <p:nvPr/>
          </p:nvCxnSpPr>
          <p:spPr bwMode="auto">
            <a:xfrm rot="16200000" flipV="1">
              <a:off x="7450524" y="2883428"/>
              <a:ext cx="1193599" cy="579341"/>
            </a:xfrm>
            <a:prstGeom prst="bentConnector2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2EEEDFF-3E0A-9377-5B2F-E37FF44321F2}"/>
                </a:ext>
              </a:extLst>
            </p:cNvPr>
            <p:cNvSpPr txBox="1"/>
            <p:nvPr/>
          </p:nvSpPr>
          <p:spPr>
            <a:xfrm>
              <a:off x="5856942" y="3391241"/>
              <a:ext cx="1549049" cy="440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CC"/>
                  </a:solidFill>
                  <a:latin typeface="+mn-ea"/>
                  <a:ea typeface="+mn-ea"/>
                </a:rPr>
                <a:t>满足条件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B76AD53-817B-D66B-BC02-0A5702D32E00}"/>
                </a:ext>
              </a:extLst>
            </p:cNvPr>
            <p:cNvSpPr txBox="1"/>
            <p:nvPr/>
          </p:nvSpPr>
          <p:spPr>
            <a:xfrm>
              <a:off x="7520854" y="3769897"/>
              <a:ext cx="1632278" cy="440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0000CC"/>
                  </a:solidFill>
                  <a:latin typeface="+mn-ea"/>
                  <a:ea typeface="+mn-ea"/>
                </a:rPr>
                <a:t>不满足条件</a:t>
              </a: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C5BE3EA-88A7-7B83-5447-842977E52C73}"/>
                </a:ext>
              </a:extLst>
            </p:cNvPr>
            <p:cNvCxnSpPr>
              <a:cxnSpLocks/>
              <a:stCxn id="5" idx="2"/>
              <a:endCxn id="35" idx="0"/>
            </p:cNvCxnSpPr>
            <p:nvPr/>
          </p:nvCxnSpPr>
          <p:spPr bwMode="auto">
            <a:xfrm flipH="1">
              <a:off x="6631466" y="2973324"/>
              <a:ext cx="1621" cy="417916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236231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6711-E464-5A33-E7D4-6D062796D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88A258D-7A8C-8AC1-5FCC-88DF62F7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1" y="8526"/>
            <a:ext cx="1045482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一、条件语句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B9C93-210B-6ECD-FB6C-9E33E3F06F39}"/>
              </a:ext>
            </a:extLst>
          </p:cNvPr>
          <p:cNvSpPr txBox="1"/>
          <p:nvPr/>
        </p:nvSpPr>
        <p:spPr>
          <a:xfrm>
            <a:off x="392792" y="800688"/>
            <a:ext cx="589629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zh-CN" altLang="en-US" sz="4000" b="1" dirty="0">
                <a:solidFill>
                  <a:srgbClr val="333333"/>
                </a:solidFill>
                <a:latin typeface="+mn-ea"/>
                <a:ea typeface="+mn-ea"/>
              </a:rPr>
              <a:t>条件判断表达式</a:t>
            </a:r>
            <a:endParaRPr lang="en-US" altLang="zh-CN" sz="4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布尔表达式与逻辑运算：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布尔值：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True/False</a:t>
            </a:r>
          </a:p>
          <a:p>
            <a:pPr algn="just"/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比较运算符：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==, !=, &gt;, &lt;…</a:t>
            </a:r>
          </a:p>
          <a:p>
            <a:pPr algn="just"/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逻辑运算符：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and, or, not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92DE4F-DFAC-1BCB-F1B8-2ADC0A201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93"/>
          <a:stretch>
            <a:fillRect/>
          </a:stretch>
        </p:blipFill>
        <p:spPr>
          <a:xfrm>
            <a:off x="6289087" y="2837650"/>
            <a:ext cx="5679462" cy="151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3585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A7DB-64F0-032A-0347-7C4EB0FAA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78E6111-3053-28C9-8882-EAB83101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1" y="8526"/>
            <a:ext cx="1046752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一、条件语句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7FE04-ED10-AD28-7E79-0FFF219A8228}"/>
              </a:ext>
            </a:extLst>
          </p:cNvPr>
          <p:cNvSpPr txBox="1"/>
          <p:nvPr/>
        </p:nvSpPr>
        <p:spPr>
          <a:xfrm>
            <a:off x="400050" y="846748"/>
            <a:ext cx="673391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条件语句基础语法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07D873E-CA1D-1E6E-CB57-3F58E5AAF4E2}"/>
              </a:ext>
            </a:extLst>
          </p:cNvPr>
          <p:cNvGrpSpPr/>
          <p:nvPr/>
        </p:nvGrpSpPr>
        <p:grpSpPr>
          <a:xfrm>
            <a:off x="1088891" y="3429000"/>
            <a:ext cx="4669016" cy="3348452"/>
            <a:chOff x="1364662" y="3429000"/>
            <a:chExt cx="4669016" cy="33484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B97976-EB68-DC67-5DEC-7ABF98606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4663" y="4052788"/>
              <a:ext cx="3145250" cy="2724664"/>
            </a:xfrm>
            <a:prstGeom prst="rect">
              <a:avLst/>
            </a:prstGeom>
          </p:spPr>
        </p:pic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CE50B879-C39F-CE80-A983-BB2720366799}"/>
                </a:ext>
              </a:extLst>
            </p:cNvPr>
            <p:cNvSpPr/>
            <p:nvPr/>
          </p:nvSpPr>
          <p:spPr>
            <a:xfrm>
              <a:off x="4634555" y="5073929"/>
              <a:ext cx="1399123" cy="404602"/>
            </a:xfrm>
            <a:prstGeom prst="rightArrow">
              <a:avLst/>
            </a:prstGeom>
            <a:solidFill>
              <a:schemeClr val="tx2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8F394F-DDD4-6C97-0D0E-1D1DB3DD3A5B}"/>
                </a:ext>
              </a:extLst>
            </p:cNvPr>
            <p:cNvSpPr txBox="1"/>
            <p:nvPr/>
          </p:nvSpPr>
          <p:spPr>
            <a:xfrm>
              <a:off x="4572234" y="4612264"/>
              <a:ext cx="1461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具体案例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B4425C-04AB-C511-10CB-7F7F2F90872F}"/>
                </a:ext>
              </a:extLst>
            </p:cNvPr>
            <p:cNvSpPr txBox="1"/>
            <p:nvPr/>
          </p:nvSpPr>
          <p:spPr>
            <a:xfrm>
              <a:off x="1364662" y="3429000"/>
              <a:ext cx="3145250" cy="581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+mn-ea"/>
                  <a:ea typeface="+mn-ea"/>
                </a:rPr>
                <a:t>If/</a:t>
              </a:r>
              <a:r>
                <a:rPr lang="en-US" altLang="zh-CN" b="1" dirty="0" err="1">
                  <a:solidFill>
                    <a:schemeClr val="accent2"/>
                  </a:solidFill>
                  <a:latin typeface="+mn-ea"/>
                  <a:ea typeface="+mn-ea"/>
                </a:rPr>
                <a:t>elif</a:t>
              </a:r>
              <a:r>
                <a:rPr lang="en-US" altLang="zh-CN" b="1" dirty="0">
                  <a:solidFill>
                    <a:schemeClr val="accent2"/>
                  </a:solidFill>
                  <a:latin typeface="+mn-ea"/>
                  <a:ea typeface="+mn-ea"/>
                </a:rPr>
                <a:t>/else: </a:t>
              </a:r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多分支</a:t>
              </a:r>
              <a:endParaRPr lang="en-US" altLang="zh-CN" b="1" dirty="0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058BAE8-59B9-CD94-8564-C565FD9AA547}"/>
              </a:ext>
            </a:extLst>
          </p:cNvPr>
          <p:cNvGrpSpPr/>
          <p:nvPr/>
        </p:nvGrpSpPr>
        <p:grpSpPr>
          <a:xfrm>
            <a:off x="2750262" y="1495530"/>
            <a:ext cx="3505394" cy="1856200"/>
            <a:chOff x="746236" y="1415242"/>
            <a:chExt cx="3146742" cy="1701377"/>
          </a:xfrm>
        </p:grpSpPr>
        <p:pic>
          <p:nvPicPr>
            <p:cNvPr id="11" name="Picture 10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46EB6E5A-85F0-9346-6E60-F50B6AB69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7728" y="2078846"/>
              <a:ext cx="3145250" cy="103777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3AE1B9-F195-4055-AF97-5F7058ABCEE5}"/>
                </a:ext>
              </a:extLst>
            </p:cNvPr>
            <p:cNvSpPr txBox="1"/>
            <p:nvPr/>
          </p:nvSpPr>
          <p:spPr>
            <a:xfrm>
              <a:off x="746236" y="1415242"/>
              <a:ext cx="847615" cy="607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accent2"/>
                  </a:solidFill>
                  <a:latin typeface="+mn-ea"/>
                  <a:ea typeface="+mn-ea"/>
                </a:rPr>
                <a:t>If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51741-5D52-C0A0-59C6-36BE8A53A977}"/>
              </a:ext>
            </a:extLst>
          </p:cNvPr>
          <p:cNvGrpSpPr/>
          <p:nvPr/>
        </p:nvGrpSpPr>
        <p:grpSpPr>
          <a:xfrm>
            <a:off x="6723485" y="1029645"/>
            <a:ext cx="3199721" cy="2675722"/>
            <a:chOff x="6199605" y="1535418"/>
            <a:chExt cx="2804174" cy="239450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43ABD5-5B57-8113-B38D-657948375C6F}"/>
                </a:ext>
              </a:extLst>
            </p:cNvPr>
            <p:cNvSpPr txBox="1"/>
            <p:nvPr/>
          </p:nvSpPr>
          <p:spPr>
            <a:xfrm>
              <a:off x="6199605" y="1535418"/>
              <a:ext cx="2460738" cy="592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accent2"/>
                  </a:solidFill>
                  <a:latin typeface="+mn-ea"/>
                  <a:ea typeface="+mn-ea"/>
                </a:rPr>
                <a:t>If/else</a:t>
              </a:r>
            </a:p>
          </p:txBody>
        </p:sp>
        <p:pic>
          <p:nvPicPr>
            <p:cNvPr id="17" name="Picture 16" descr="A black background with white text and blue letters&#10;&#10;AI-generated content may be incorrect.">
              <a:extLst>
                <a:ext uri="{FF2B5EF4-FFF2-40B4-BE49-F238E27FC236}">
                  <a16:creationId xmlns:a16="http://schemas.microsoft.com/office/drawing/2014/main" id="{2BFD923F-620B-CC75-A34B-8043277DF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7342" y="2116474"/>
              <a:ext cx="2756437" cy="1813445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40432DF-FE1A-2F7C-86AB-8E010D261FE4}"/>
              </a:ext>
            </a:extLst>
          </p:cNvPr>
          <p:cNvSpPr txBox="1"/>
          <p:nvPr/>
        </p:nvSpPr>
        <p:spPr>
          <a:xfrm>
            <a:off x="187929" y="2211146"/>
            <a:ext cx="2235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缩进规则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空格 或 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Tab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36928E7-4999-D730-F261-1F1533543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5656" y="4052788"/>
            <a:ext cx="2807840" cy="268380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7922624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4E560-E74B-EF86-0B10-2E9E72D8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155C662-FA64-BB6F-1D15-6AFA005D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1" y="8526"/>
            <a:ext cx="1048022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一、条件语句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D012DB-8942-8839-D497-3485DD138C48}"/>
              </a:ext>
            </a:extLst>
          </p:cNvPr>
          <p:cNvSpPr txBox="1"/>
          <p:nvPr/>
        </p:nvSpPr>
        <p:spPr>
          <a:xfrm>
            <a:off x="361950" y="846748"/>
            <a:ext cx="67720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条件语句基础语法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If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语句的嵌套与简化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66AF0-5876-C132-0855-94A67F7109F4}"/>
              </a:ext>
            </a:extLst>
          </p:cNvPr>
          <p:cNvSpPr txBox="1"/>
          <p:nvPr/>
        </p:nvSpPr>
        <p:spPr>
          <a:xfrm>
            <a:off x="427266" y="2492943"/>
            <a:ext cx="42173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条件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嵌套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：多层级判断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28F37B-100F-1642-A331-0E81F1F3E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23" y="1199821"/>
            <a:ext cx="5807211" cy="41821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10D128-253B-0A87-A9A6-47B14F3B3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66" y="5781136"/>
            <a:ext cx="10110107" cy="691428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A8AB5692-AA6E-F45E-1D65-A3B8F5567036}"/>
              </a:ext>
            </a:extLst>
          </p:cNvPr>
          <p:cNvSpPr txBox="1"/>
          <p:nvPr/>
        </p:nvSpPr>
        <p:spPr>
          <a:xfrm>
            <a:off x="427266" y="5112512"/>
            <a:ext cx="30971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bg2"/>
                </a:solidFill>
                <a:latin typeface="+mn-ea"/>
                <a:ea typeface="+mn-ea"/>
              </a:rPr>
              <a:t>if</a:t>
            </a:r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语句简化写法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155512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3"/>
            <a:ext cx="11670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二、循环语句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16377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47652" y="846748"/>
            <a:ext cx="7248978" cy="498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概念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zh-CN" sz="3000" dirty="0">
                <a:solidFill>
                  <a:srgbClr val="333333"/>
                </a:solidFill>
                <a:latin typeface="+mn-ea"/>
                <a:ea typeface="+mn-ea"/>
              </a:rPr>
              <a:t>循环语句 (Loop statement) 又称重复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语句</a:t>
            </a:r>
            <a:r>
              <a:rPr lang="zh-CN" altLang="zh-CN" sz="3000" dirty="0">
                <a:solidFill>
                  <a:srgbClr val="333333"/>
                </a:solidFill>
                <a:latin typeface="+mn-ea"/>
                <a:ea typeface="+mn-ea"/>
              </a:rPr>
              <a:t>，用于</a:t>
            </a:r>
            <a:r>
              <a:rPr lang="zh-CN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反复执行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某种</a:t>
            </a:r>
            <a:r>
              <a:rPr lang="zh-CN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操作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。循环语句一般都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与条件控制语句搭配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使用，根据判断条件的返回值，决定是否执行循环体。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860310E-A2A6-8DC0-9871-1DC78B0851BB}"/>
              </a:ext>
            </a:extLst>
          </p:cNvPr>
          <p:cNvGrpSpPr/>
          <p:nvPr/>
        </p:nvGrpSpPr>
        <p:grpSpPr>
          <a:xfrm>
            <a:off x="8360230" y="1226785"/>
            <a:ext cx="3955143" cy="4745843"/>
            <a:chOff x="5682075" y="1829379"/>
            <a:chExt cx="3247180" cy="33865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C2FDB18-72FD-634A-5DA0-E9367156C8A6}"/>
                </a:ext>
              </a:extLst>
            </p:cNvPr>
            <p:cNvSpPr/>
            <p:nvPr/>
          </p:nvSpPr>
          <p:spPr>
            <a:xfrm>
              <a:off x="5682075" y="2316719"/>
              <a:ext cx="2083886" cy="815573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循环条件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036FB50-34EA-A237-E4CA-F0BE8F02293B}"/>
                </a:ext>
              </a:extLst>
            </p:cNvPr>
            <p:cNvSpPr/>
            <p:nvPr/>
          </p:nvSpPr>
          <p:spPr>
            <a:xfrm>
              <a:off x="5682075" y="3565969"/>
              <a:ext cx="2083886" cy="815573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循环体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3F16E751-D6D1-8166-7B23-5C0684B1A6B8}"/>
                </a:ext>
              </a:extLst>
            </p:cNvPr>
            <p:cNvCxnSpPr>
              <a:stCxn id="5" idx="2"/>
              <a:endCxn id="6" idx="0"/>
            </p:cNvCxnSpPr>
            <p:nvPr/>
          </p:nvCxnSpPr>
          <p:spPr bwMode="auto">
            <a:xfrm>
              <a:off x="6724018" y="3132292"/>
              <a:ext cx="0" cy="433677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6059AD7-7202-DBA6-503E-D1311CDDB2A8}"/>
                </a:ext>
              </a:extLst>
            </p:cNvPr>
            <p:cNvCxnSpPr>
              <a:cxnSpLocks/>
              <a:endCxn id="5" idx="0"/>
            </p:cNvCxnSpPr>
            <p:nvPr/>
          </p:nvCxnSpPr>
          <p:spPr bwMode="auto">
            <a:xfrm>
              <a:off x="6724018" y="1829379"/>
              <a:ext cx="0" cy="48734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连接符: 肘形 12">
              <a:extLst>
                <a:ext uri="{FF2B5EF4-FFF2-40B4-BE49-F238E27FC236}">
                  <a16:creationId xmlns:a16="http://schemas.microsoft.com/office/drawing/2014/main" id="{A1BA7944-2524-D182-5B72-8A4AA3E00F8F}"/>
                </a:ext>
              </a:extLst>
            </p:cNvPr>
            <p:cNvCxnSpPr>
              <a:cxnSpLocks/>
              <a:stCxn id="5" idx="3"/>
            </p:cNvCxnSpPr>
            <p:nvPr/>
          </p:nvCxnSpPr>
          <p:spPr bwMode="auto">
            <a:xfrm>
              <a:off x="7765961" y="2724506"/>
              <a:ext cx="264016" cy="2491438"/>
            </a:xfrm>
            <a:prstGeom prst="bentConnector2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连接符: 肘形 13">
              <a:extLst>
                <a:ext uri="{FF2B5EF4-FFF2-40B4-BE49-F238E27FC236}">
                  <a16:creationId xmlns:a16="http://schemas.microsoft.com/office/drawing/2014/main" id="{5D72AB84-0978-5B82-1032-E381A6B23A45}"/>
                </a:ext>
              </a:extLst>
            </p:cNvPr>
            <p:cNvCxnSpPr>
              <a:cxnSpLocks/>
              <a:stCxn id="6" idx="2"/>
              <a:endCxn id="5" idx="1"/>
            </p:cNvCxnSpPr>
            <p:nvPr/>
          </p:nvCxnSpPr>
          <p:spPr bwMode="auto">
            <a:xfrm rot="5400000" flipH="1">
              <a:off x="5374529" y="3032053"/>
              <a:ext cx="1657036" cy="1041943"/>
            </a:xfrm>
            <a:prstGeom prst="bentConnector4">
              <a:avLst>
                <a:gd name="adj1" fmla="val -13796"/>
                <a:gd name="adj2" fmla="val 124412"/>
              </a:avLst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2D80ACF-3D26-2E94-9688-EC532DAADAC0}"/>
                </a:ext>
              </a:extLst>
            </p:cNvPr>
            <p:cNvSpPr txBox="1"/>
            <p:nvPr/>
          </p:nvSpPr>
          <p:spPr>
            <a:xfrm>
              <a:off x="8024327" y="3433943"/>
              <a:ext cx="9049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/>
                  </a:solidFill>
                  <a:latin typeface="+mj-ea"/>
                  <a:ea typeface="+mj-ea"/>
                </a:rPr>
                <a:t>False</a:t>
              </a:r>
              <a:endParaRPr lang="zh-CN" altLang="en-US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66E5F04-BF75-2A37-322C-D7169B736A22}"/>
                </a:ext>
              </a:extLst>
            </p:cNvPr>
            <p:cNvSpPr txBox="1"/>
            <p:nvPr/>
          </p:nvSpPr>
          <p:spPr>
            <a:xfrm>
              <a:off x="6756212" y="3187568"/>
              <a:ext cx="1041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dirty="0">
                  <a:solidFill>
                    <a:schemeClr val="bg2"/>
                  </a:solidFill>
                  <a:latin typeface="+mj-ea"/>
                  <a:ea typeface="+mj-ea"/>
                </a:rPr>
                <a:t>True</a:t>
              </a:r>
              <a:endParaRPr lang="zh-CN" altLang="en-US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204831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" y="8526"/>
            <a:ext cx="10492923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66704" y="846749"/>
            <a:ext cx="7799874" cy="5458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概念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Python 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中的循环语句包括 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while 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循环 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与 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for </a:t>
            </a:r>
            <a:r>
              <a:rPr lang="zh-CN" altLang="en-US" sz="3000" b="1" u="sng" dirty="0">
                <a:solidFill>
                  <a:srgbClr val="333333"/>
                </a:solidFill>
                <a:latin typeface="+mn-ea"/>
                <a:ea typeface="+mn-ea"/>
              </a:rPr>
              <a:t>循环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，</a:t>
            </a:r>
            <a:r>
              <a:rPr lang="zh-CN" altLang="en-US" sz="3000" u="sng" dirty="0">
                <a:solidFill>
                  <a:srgbClr val="333333"/>
                </a:solidFill>
                <a:latin typeface="+mn-ea"/>
                <a:ea typeface="+mn-ea"/>
              </a:rPr>
              <a:t>前者通过判断是否满足特定条件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，以决定是否重复执行某种操作；</a:t>
            </a:r>
            <a:r>
              <a:rPr lang="zh-CN" altLang="en-US" sz="3000" u="sng" dirty="0">
                <a:solidFill>
                  <a:srgbClr val="333333"/>
                </a:solidFill>
                <a:latin typeface="+mn-ea"/>
                <a:ea typeface="+mn-ea"/>
              </a:rPr>
              <a:t>后者采用遍历的形式反复执行某种操作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为了更加灵活的控制循环语句，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Python 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中还提供了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break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000" b="1" u="sng" dirty="0">
                <a:solidFill>
                  <a:srgbClr val="333333"/>
                </a:solidFill>
                <a:latin typeface="+mn-ea"/>
                <a:ea typeface="+mn-ea"/>
              </a:rPr>
              <a:t>continue</a:t>
            </a:r>
            <a:r>
              <a:rPr lang="en-US" altLang="zh-CN" sz="30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zh-CN" altLang="en-US" sz="3000" dirty="0">
                <a:solidFill>
                  <a:srgbClr val="333333"/>
                </a:solidFill>
                <a:latin typeface="+mn-ea"/>
                <a:ea typeface="+mn-ea"/>
              </a:rPr>
              <a:t>等语句。</a:t>
            </a:r>
            <a:endParaRPr lang="en-US" altLang="zh-CN" sz="3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D052DDC4-3246-1B3C-EF34-66067440EA89}"/>
              </a:ext>
            </a:extLst>
          </p:cNvPr>
          <p:cNvGrpSpPr/>
          <p:nvPr/>
        </p:nvGrpSpPr>
        <p:grpSpPr>
          <a:xfrm>
            <a:off x="8715829" y="3839881"/>
            <a:ext cx="3362785" cy="2872975"/>
            <a:chOff x="6403973" y="3976512"/>
            <a:chExt cx="2740027" cy="2261409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162FAEB-1DB7-D845-F638-5C533CF6E59C}"/>
                </a:ext>
              </a:extLst>
            </p:cNvPr>
            <p:cNvSpPr/>
            <p:nvPr/>
          </p:nvSpPr>
          <p:spPr>
            <a:xfrm>
              <a:off x="7082107" y="3976512"/>
              <a:ext cx="234896" cy="236873"/>
            </a:xfrm>
            <a:prstGeom prst="ellipse">
              <a:avLst/>
            </a:prstGeom>
            <a:solidFill>
              <a:srgbClr val="00B050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菱形 9">
              <a:extLst>
                <a:ext uri="{FF2B5EF4-FFF2-40B4-BE49-F238E27FC236}">
                  <a16:creationId xmlns:a16="http://schemas.microsoft.com/office/drawing/2014/main" id="{BE46F00D-C7DD-34BC-73D6-15DDDB072029}"/>
                </a:ext>
              </a:extLst>
            </p:cNvPr>
            <p:cNvSpPr/>
            <p:nvPr/>
          </p:nvSpPr>
          <p:spPr>
            <a:xfrm>
              <a:off x="6403973" y="4575723"/>
              <a:ext cx="1591159" cy="634922"/>
            </a:xfrm>
            <a:prstGeom prst="diamond">
              <a:avLst/>
            </a:prstGeom>
            <a:solidFill>
              <a:srgbClr val="CC6600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en-US" altLang="zh-CN" sz="1800" b="1" dirty="0">
                  <a:latin typeface="微软雅黑" pitchFamily="34" charset="-122"/>
                  <a:ea typeface="微软雅黑" pitchFamily="34" charset="-122"/>
                </a:rPr>
                <a:t>for</a:t>
              </a:r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</a:rPr>
                <a:t>元素集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62B46BB3-AC68-F2FA-DD5C-53019AF569CD}"/>
                </a:ext>
              </a:extLst>
            </p:cNvPr>
            <p:cNvSpPr/>
            <p:nvPr/>
          </p:nvSpPr>
          <p:spPr>
            <a:xfrm>
              <a:off x="6553200" y="5489886"/>
              <a:ext cx="1292709" cy="552344"/>
            </a:xfrm>
            <a:prstGeom prst="roundRect">
              <a:avLst/>
            </a:prstGeom>
            <a:solidFill>
              <a:srgbClr val="CC6600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</a:rPr>
                <a:t>循环体</a:t>
              </a: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00E8035-BBF4-301A-68AF-CF1F38D576CA}"/>
                </a:ext>
              </a:extLst>
            </p:cNvPr>
            <p:cNvSpPr/>
            <p:nvPr/>
          </p:nvSpPr>
          <p:spPr>
            <a:xfrm>
              <a:off x="8138900" y="6001048"/>
              <a:ext cx="234896" cy="236873"/>
            </a:xfrm>
            <a:prstGeom prst="ellipse">
              <a:avLst/>
            </a:prstGeom>
            <a:solidFill>
              <a:srgbClr val="00B050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14A08140-4680-F675-00A2-3A0814E05D4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 bwMode="auto">
            <a:xfrm flipH="1">
              <a:off x="7199552" y="4213385"/>
              <a:ext cx="2" cy="362338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D16E459-F446-67C7-181E-76EBEB653C8E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 bwMode="auto">
            <a:xfrm>
              <a:off x="7199552" y="5210645"/>
              <a:ext cx="2" cy="279241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连接符: 肘形 35">
              <a:extLst>
                <a:ext uri="{FF2B5EF4-FFF2-40B4-BE49-F238E27FC236}">
                  <a16:creationId xmlns:a16="http://schemas.microsoft.com/office/drawing/2014/main" id="{E5B2402E-DE4E-F422-25D2-25202BA3C25B}"/>
                </a:ext>
              </a:extLst>
            </p:cNvPr>
            <p:cNvCxnSpPr>
              <a:cxnSpLocks/>
              <a:stCxn id="11" idx="1"/>
              <a:endCxn id="10" idx="1"/>
            </p:cNvCxnSpPr>
            <p:nvPr/>
          </p:nvCxnSpPr>
          <p:spPr bwMode="auto">
            <a:xfrm rot="10800000">
              <a:off x="6403973" y="4893185"/>
              <a:ext cx="149227" cy="872874"/>
            </a:xfrm>
            <a:prstGeom prst="bentConnector3">
              <a:avLst>
                <a:gd name="adj1" fmla="val 224820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61DBB9C8-0742-DE75-2284-9749A2EDC28B}"/>
                </a:ext>
              </a:extLst>
            </p:cNvPr>
            <p:cNvCxnSpPr>
              <a:cxnSpLocks/>
              <a:stCxn id="10" idx="3"/>
              <a:endCxn id="27" idx="0"/>
            </p:cNvCxnSpPr>
            <p:nvPr/>
          </p:nvCxnSpPr>
          <p:spPr bwMode="auto">
            <a:xfrm>
              <a:off x="7995132" y="4893184"/>
              <a:ext cx="261216" cy="1107864"/>
            </a:xfrm>
            <a:prstGeom prst="bentConnector2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80844747-4223-E5D6-BA2D-0FB6AC328F13}"/>
                </a:ext>
              </a:extLst>
            </p:cNvPr>
            <p:cNvSpPr txBox="1"/>
            <p:nvPr/>
          </p:nvSpPr>
          <p:spPr>
            <a:xfrm>
              <a:off x="7296891" y="5078882"/>
              <a:ext cx="701189" cy="3633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+mj-ea"/>
                  <a:ea typeface="+mj-ea"/>
                </a:rPr>
                <a:t>True</a:t>
              </a:r>
              <a:endParaRPr lang="zh-CN" altLang="en-US" b="1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22F7816-63C3-0C27-C6D9-25ECD9FE7520}"/>
                </a:ext>
              </a:extLst>
            </p:cNvPr>
            <p:cNvSpPr txBox="1"/>
            <p:nvPr/>
          </p:nvSpPr>
          <p:spPr>
            <a:xfrm>
              <a:off x="8256348" y="5063448"/>
              <a:ext cx="887652" cy="363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+mj-ea"/>
                  <a:ea typeface="+mj-ea"/>
                </a:rPr>
                <a:t>False</a:t>
              </a:r>
              <a:endParaRPr lang="zh-CN" altLang="en-US" b="1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101DF4CB-7B32-BCB3-1A3A-C0474FF7E7D3}"/>
              </a:ext>
            </a:extLst>
          </p:cNvPr>
          <p:cNvGrpSpPr/>
          <p:nvPr/>
        </p:nvGrpSpPr>
        <p:grpSpPr>
          <a:xfrm>
            <a:off x="8677033" y="975436"/>
            <a:ext cx="3354726" cy="2947999"/>
            <a:chOff x="6403976" y="1174766"/>
            <a:chExt cx="2731971" cy="2319278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4E97B50-99B3-64F9-20FA-EDF26F766881}"/>
                </a:ext>
              </a:extLst>
            </p:cNvPr>
            <p:cNvSpPr/>
            <p:nvPr/>
          </p:nvSpPr>
          <p:spPr>
            <a:xfrm>
              <a:off x="7074053" y="1174766"/>
              <a:ext cx="251003" cy="25347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D58DAA6B-887B-6F89-A2C9-15246563EB02}"/>
                </a:ext>
              </a:extLst>
            </p:cNvPr>
            <p:cNvSpPr/>
            <p:nvPr/>
          </p:nvSpPr>
          <p:spPr>
            <a:xfrm>
              <a:off x="6403976" y="1695075"/>
              <a:ext cx="1591158" cy="634922"/>
            </a:xfrm>
            <a:prstGeom prst="diamond">
              <a:avLst/>
            </a:prstGeom>
            <a:solidFill>
              <a:srgbClr val="CC6600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en-US" altLang="zh-CN" sz="1800" b="1" dirty="0">
                  <a:latin typeface="微软雅黑" pitchFamily="34" charset="-122"/>
                  <a:ea typeface="微软雅黑" pitchFamily="34" charset="-122"/>
                </a:rPr>
                <a:t>while </a:t>
              </a:r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</a:rPr>
                <a:t>条件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82DCEB7-44E4-078A-D7EF-C5910A9FD071}"/>
                </a:ext>
              </a:extLst>
            </p:cNvPr>
            <p:cNvSpPr/>
            <p:nvPr/>
          </p:nvSpPr>
          <p:spPr>
            <a:xfrm>
              <a:off x="6553200" y="2706668"/>
              <a:ext cx="1292709" cy="533906"/>
            </a:xfrm>
            <a:prstGeom prst="roundRect">
              <a:avLst/>
            </a:prstGeom>
            <a:solidFill>
              <a:srgbClr val="CC6600"/>
            </a:solidFill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</a:rPr>
                <a:t>循环体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1C280EC-69EA-9868-7549-41CE5E3241E0}"/>
                </a:ext>
              </a:extLst>
            </p:cNvPr>
            <p:cNvSpPr/>
            <p:nvPr/>
          </p:nvSpPr>
          <p:spPr>
            <a:xfrm>
              <a:off x="8122793" y="3240574"/>
              <a:ext cx="251003" cy="25347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61AE5B61-75AA-22F6-8BEC-F1C54F8EB53D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 bwMode="auto">
            <a:xfrm>
              <a:off x="7199555" y="1428236"/>
              <a:ext cx="0" cy="266839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A1D1A88-5A81-6790-4308-4037292255C4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 bwMode="auto">
            <a:xfrm flipH="1">
              <a:off x="7199555" y="2329997"/>
              <a:ext cx="1" cy="376671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877973F6-C933-8190-2AE1-0677CB902644}"/>
                </a:ext>
              </a:extLst>
            </p:cNvPr>
            <p:cNvCxnSpPr>
              <a:cxnSpLocks/>
              <a:stCxn id="7" idx="3"/>
              <a:endCxn id="14" idx="0"/>
            </p:cNvCxnSpPr>
            <p:nvPr/>
          </p:nvCxnSpPr>
          <p:spPr bwMode="auto">
            <a:xfrm>
              <a:off x="7995134" y="2012536"/>
              <a:ext cx="253161" cy="1228038"/>
            </a:xfrm>
            <a:prstGeom prst="bentConnector2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连接符: 肘形 25">
              <a:extLst>
                <a:ext uri="{FF2B5EF4-FFF2-40B4-BE49-F238E27FC236}">
                  <a16:creationId xmlns:a16="http://schemas.microsoft.com/office/drawing/2014/main" id="{0B486635-09B9-729E-1E44-521F1411C510}"/>
                </a:ext>
              </a:extLst>
            </p:cNvPr>
            <p:cNvCxnSpPr>
              <a:cxnSpLocks/>
              <a:stCxn id="8" idx="1"/>
              <a:endCxn id="7" idx="1"/>
            </p:cNvCxnSpPr>
            <p:nvPr/>
          </p:nvCxnSpPr>
          <p:spPr bwMode="auto">
            <a:xfrm rot="10800000">
              <a:off x="6403977" y="2012536"/>
              <a:ext cx="149224" cy="961085"/>
            </a:xfrm>
            <a:prstGeom prst="bentConnector3">
              <a:avLst>
                <a:gd name="adj1" fmla="val 227302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EF1C49CF-030C-5275-F084-AE5321095BD6}"/>
                </a:ext>
              </a:extLst>
            </p:cNvPr>
            <p:cNvSpPr txBox="1"/>
            <p:nvPr/>
          </p:nvSpPr>
          <p:spPr>
            <a:xfrm>
              <a:off x="7235397" y="2318173"/>
              <a:ext cx="700807" cy="363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+mj-ea"/>
                  <a:ea typeface="+mj-ea"/>
                </a:rPr>
                <a:t>True</a:t>
              </a:r>
              <a:endParaRPr lang="zh-CN" altLang="en-US" b="1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BD30DFD6-20AA-FDC8-B2BA-6721A1FB1445}"/>
                </a:ext>
              </a:extLst>
            </p:cNvPr>
            <p:cNvSpPr txBox="1"/>
            <p:nvPr/>
          </p:nvSpPr>
          <p:spPr>
            <a:xfrm>
              <a:off x="8248294" y="2312540"/>
              <a:ext cx="887653" cy="36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+mj-ea"/>
                  <a:ea typeface="+mj-ea"/>
                </a:rPr>
                <a:t>False</a:t>
              </a:r>
              <a:endParaRPr lang="zh-CN" altLang="en-US" b="1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878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EB1C-0800-AB75-0979-EE8E2C17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1F01A01-DCA0-E182-0057-8C4F1C2D5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79C0AB8-9B4D-2273-555F-030D7E28AA11}"/>
              </a:ext>
            </a:extLst>
          </p:cNvPr>
          <p:cNvGrpSpPr/>
          <p:nvPr/>
        </p:nvGrpSpPr>
        <p:grpSpPr>
          <a:xfrm>
            <a:off x="6349550" y="858892"/>
            <a:ext cx="5276391" cy="3728753"/>
            <a:chOff x="221470" y="788693"/>
            <a:chExt cx="5276391" cy="37287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1CCF177-61DC-54A7-A2FB-DF1876DFA561}"/>
                </a:ext>
              </a:extLst>
            </p:cNvPr>
            <p:cNvSpPr txBox="1"/>
            <p:nvPr/>
          </p:nvSpPr>
          <p:spPr>
            <a:xfrm>
              <a:off x="301172" y="788693"/>
              <a:ext cx="4331856" cy="825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3600" b="1" dirty="0">
                  <a:solidFill>
                    <a:srgbClr val="FF0000"/>
                  </a:solidFill>
                  <a:latin typeface="+mn-ea"/>
                  <a:ea typeface="+mn-ea"/>
                </a:rPr>
                <a:t>while</a:t>
              </a:r>
              <a:r>
                <a:rPr lang="zh-CN" altLang="en-US" sz="3600" b="1" dirty="0">
                  <a:solidFill>
                    <a:srgbClr val="FF0000"/>
                  </a:solidFill>
                  <a:latin typeface="+mn-ea"/>
                  <a:ea typeface="+mn-ea"/>
                </a:rPr>
                <a:t>循环</a:t>
              </a:r>
              <a:endParaRPr lang="en-US" altLang="zh-CN" sz="3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pic>
          <p:nvPicPr>
            <p:cNvPr id="11" name="Picture 10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715330CE-A75C-9E94-2DC2-1AD026ACB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410" y="1694483"/>
              <a:ext cx="4654451" cy="176253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F8F2CC-7778-CD15-760C-27DFEB546C64}"/>
                </a:ext>
              </a:extLst>
            </p:cNvPr>
            <p:cNvSpPr txBox="1"/>
            <p:nvPr/>
          </p:nvSpPr>
          <p:spPr>
            <a:xfrm>
              <a:off x="221470" y="3605958"/>
              <a:ext cx="39624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b="1" dirty="0">
                  <a:solidFill>
                    <a:srgbClr val="FF0000"/>
                  </a:solidFill>
                  <a:latin typeface="+mj-ea"/>
                  <a:ea typeface="+mj-ea"/>
                </a:rPr>
                <a:t>示例</a:t>
              </a:r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：累加，用户输入数字，直到输入</a:t>
              </a:r>
              <a:r>
                <a:rPr lang="en-US" altLang="zh-CN" dirty="0">
                  <a:solidFill>
                    <a:schemeClr val="bg2"/>
                  </a:solidFill>
                  <a:latin typeface="+mj-ea"/>
                  <a:ea typeface="+mj-ea"/>
                </a:rPr>
                <a:t>0</a:t>
              </a:r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，统计输入次数</a:t>
              </a:r>
              <a:endParaRPr lang="en-US" altLang="zh-CN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1D8EF0F3-02B3-29AB-512E-2547DBD29A10}"/>
                </a:ext>
              </a:extLst>
            </p:cNvPr>
            <p:cNvSpPr/>
            <p:nvPr/>
          </p:nvSpPr>
          <p:spPr>
            <a:xfrm rot="5400000">
              <a:off x="4137166" y="3700994"/>
              <a:ext cx="991722" cy="641181"/>
            </a:xfrm>
            <a:prstGeom prst="rightArrow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0A3CF6-A88F-BD5B-A7A2-10925C14F4BC}"/>
              </a:ext>
            </a:extLst>
          </p:cNvPr>
          <p:cNvGrpSpPr/>
          <p:nvPr/>
        </p:nvGrpSpPr>
        <p:grpSpPr>
          <a:xfrm>
            <a:off x="566059" y="1094820"/>
            <a:ext cx="5493656" cy="5450209"/>
            <a:chOff x="566059" y="1094820"/>
            <a:chExt cx="5493656" cy="5450209"/>
          </a:xfrm>
        </p:grpSpPr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925F1F6A-6025-40D8-39B1-B563A9253EA5}"/>
                </a:ext>
              </a:extLst>
            </p:cNvPr>
            <p:cNvSpPr txBox="1"/>
            <p:nvPr/>
          </p:nvSpPr>
          <p:spPr>
            <a:xfrm>
              <a:off x="566059" y="1094820"/>
              <a:ext cx="5493656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3600" b="1" dirty="0">
                  <a:solidFill>
                    <a:srgbClr val="FF0000"/>
                  </a:solidFill>
                  <a:latin typeface="+mn-ea"/>
                  <a:ea typeface="+mn-ea"/>
                </a:rPr>
                <a:t>for</a:t>
              </a:r>
              <a:r>
                <a:rPr lang="zh-CN" altLang="en-US" sz="3600" b="1" dirty="0">
                  <a:solidFill>
                    <a:srgbClr val="FF0000"/>
                  </a:solidFill>
                  <a:latin typeface="+mn-ea"/>
                  <a:ea typeface="+mn-ea"/>
                </a:rPr>
                <a:t>循环</a:t>
              </a:r>
              <a:endParaRPr lang="en-US" altLang="zh-CN" sz="3600" b="1" dirty="0">
                <a:solidFill>
                  <a:srgbClr val="FF0000"/>
                </a:solidFill>
                <a:latin typeface="+mn-ea"/>
                <a:ea typeface="+mn-ea"/>
              </a:endParaRPr>
            </a:p>
            <a:p>
              <a:pPr algn="just"/>
              <a:r>
                <a:rPr lang="en-US" altLang="zh-CN" sz="2800" b="1" dirty="0">
                  <a:solidFill>
                    <a:srgbClr val="333333"/>
                  </a:solidFill>
                  <a:latin typeface="+mn-ea"/>
                  <a:ea typeface="+mn-ea"/>
                </a:rPr>
                <a:t>range()</a:t>
              </a:r>
              <a:r>
                <a:rPr lang="zh-CN" altLang="en-US" sz="2800" b="1" dirty="0">
                  <a:solidFill>
                    <a:srgbClr val="333333"/>
                  </a:solidFill>
                  <a:latin typeface="+mn-ea"/>
                  <a:ea typeface="+mn-ea"/>
                </a:rPr>
                <a:t>函数</a:t>
              </a:r>
              <a:r>
                <a:rPr lang="en-US" altLang="zh-CN" sz="2800" dirty="0">
                  <a:solidFill>
                    <a:srgbClr val="333333"/>
                  </a:solidFill>
                  <a:latin typeface="+mn-ea"/>
                  <a:ea typeface="+mn-ea"/>
                </a:rPr>
                <a:t>: </a:t>
              </a:r>
              <a:r>
                <a:rPr lang="zh-CN" altLang="en-US" sz="2800" dirty="0">
                  <a:solidFill>
                    <a:srgbClr val="333333"/>
                  </a:solidFill>
                  <a:latin typeface="+mn-ea"/>
                  <a:ea typeface="+mn-ea"/>
                </a:rPr>
                <a:t>常用生成数字序列</a:t>
              </a:r>
              <a:endParaRPr lang="en-US" altLang="zh-CN" sz="2800" dirty="0">
                <a:solidFill>
                  <a:srgbClr val="333333"/>
                </a:solidFill>
                <a:latin typeface="+mn-ea"/>
                <a:ea typeface="+mn-ea"/>
              </a:endParaRPr>
            </a:p>
          </p:txBody>
        </p:sp>
        <p:pic>
          <p:nvPicPr>
            <p:cNvPr id="5" name="Picture 18">
              <a:extLst>
                <a:ext uri="{FF2B5EF4-FFF2-40B4-BE49-F238E27FC236}">
                  <a16:creationId xmlns:a16="http://schemas.microsoft.com/office/drawing/2014/main" id="{9BF0FE50-35D6-9186-177A-A164C6F78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7663"/>
            <a:stretch>
              <a:fillRect/>
            </a:stretch>
          </p:blipFill>
          <p:spPr>
            <a:xfrm>
              <a:off x="602343" y="2591409"/>
              <a:ext cx="5319938" cy="848472"/>
            </a:xfrm>
            <a:prstGeom prst="rect">
              <a:avLst/>
            </a:prstGeom>
          </p:spPr>
        </p:pic>
        <p:sp>
          <p:nvSpPr>
            <p:cNvPr id="7" name="TextBox 22">
              <a:extLst>
                <a:ext uri="{FF2B5EF4-FFF2-40B4-BE49-F238E27FC236}">
                  <a16:creationId xmlns:a16="http://schemas.microsoft.com/office/drawing/2014/main" id="{189EC7DF-7C0E-5263-CE57-18A35C2D0A11}"/>
                </a:ext>
              </a:extLst>
            </p:cNvPr>
            <p:cNvSpPr txBox="1"/>
            <p:nvPr/>
          </p:nvSpPr>
          <p:spPr>
            <a:xfrm>
              <a:off x="773916" y="3714001"/>
              <a:ext cx="226521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2800" dirty="0">
                  <a:solidFill>
                    <a:srgbClr val="333333"/>
                  </a:solidFill>
                  <a:latin typeface="+mn-ea"/>
                  <a:ea typeface="+mn-ea"/>
                </a:rPr>
                <a:t>遍历字典：</a:t>
              </a:r>
              <a:endParaRPr lang="en-US" altLang="zh-CN" sz="2800" dirty="0">
                <a:solidFill>
                  <a:srgbClr val="333333"/>
                </a:solidFill>
                <a:latin typeface="+mn-ea"/>
                <a:ea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C5063AE-0418-13E4-CA2E-C127166C8353}"/>
                </a:ext>
              </a:extLst>
            </p:cNvPr>
            <p:cNvSpPr txBox="1"/>
            <p:nvPr/>
          </p:nvSpPr>
          <p:spPr>
            <a:xfrm>
              <a:off x="602343" y="5590922"/>
              <a:ext cx="531993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2800" dirty="0">
                  <a:solidFill>
                    <a:srgbClr val="333333"/>
                  </a:solidFill>
                  <a:latin typeface="+mn-ea"/>
                  <a:ea typeface="+mn-ea"/>
                </a:rPr>
                <a:t>常用列表、字符串、元组、字典键等元素的遍历。</a:t>
              </a:r>
              <a:endParaRPr lang="en-US" altLang="zh-CN" sz="2800" dirty="0">
                <a:solidFill>
                  <a:srgbClr val="333333"/>
                </a:solidFill>
                <a:latin typeface="+mn-ea"/>
                <a:ea typeface="+mn-ea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E58B9D7-9554-C2AB-E19A-FD7FE9D6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4434" y="4260691"/>
              <a:ext cx="5327847" cy="1176860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E979ECE1-F4D0-540B-CD66-C217F2DB8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6748" y="4725063"/>
            <a:ext cx="5876672" cy="1629077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69326225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A4E4-4A33-E7E7-E5CA-3774E6990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EF2D9F2-33FA-F8E5-C89A-23105723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10537373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ACC44B-2985-3CB9-03D7-98BEB254FA18}"/>
              </a:ext>
            </a:extLst>
          </p:cNvPr>
          <p:cNvSpPr txBox="1"/>
          <p:nvPr/>
        </p:nvSpPr>
        <p:spPr>
          <a:xfrm>
            <a:off x="605641" y="921876"/>
            <a:ext cx="7908913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循环控制：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A8721-8AB0-FD63-C515-B41BF6589657}"/>
              </a:ext>
            </a:extLst>
          </p:cNvPr>
          <p:cNvSpPr txBox="1"/>
          <p:nvPr/>
        </p:nvSpPr>
        <p:spPr>
          <a:xfrm>
            <a:off x="605641" y="1868483"/>
            <a:ext cx="5783943" cy="41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chemeClr val="bg2"/>
                </a:solidFill>
                <a:latin typeface="+mn-ea"/>
                <a:ea typeface="+mn-ea"/>
              </a:rPr>
              <a:t>break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立即终止整个循环</a:t>
            </a:r>
          </a:p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chemeClr val="bg2"/>
                </a:solidFill>
                <a:latin typeface="+mn-ea"/>
                <a:ea typeface="+mn-ea"/>
              </a:rPr>
              <a:t>continue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跳过当前轮次，进入下一轮</a:t>
            </a:r>
          </a:p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chemeClr val="bg2"/>
                </a:solidFill>
                <a:latin typeface="+mn-ea"/>
                <a:ea typeface="+mn-ea"/>
              </a:rPr>
              <a:t>pass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占位符，无操作（保持语法完整性）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373DE9-5277-76A9-0BD2-9CFCF3653A9A}"/>
              </a:ext>
            </a:extLst>
          </p:cNvPr>
          <p:cNvPicPr>
            <a:picLocks/>
          </p:cNvPicPr>
          <p:nvPr/>
        </p:nvPicPr>
        <p:blipFill>
          <a:blip r:embed="rId3"/>
          <a:srcRect l="2530" r="3770"/>
          <a:stretch>
            <a:fillRect/>
          </a:stretch>
        </p:blipFill>
        <p:spPr>
          <a:xfrm>
            <a:off x="6463145" y="2296202"/>
            <a:ext cx="5451764" cy="2863626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16455966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88CA-BE6F-DF06-0F5C-D2095849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9B612A5-0F18-F415-6911-857C3D8F2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174917-5D93-3CA2-B20E-18CBCBBD1C3C}"/>
              </a:ext>
            </a:extLst>
          </p:cNvPr>
          <p:cNvSpPr txBox="1"/>
          <p:nvPr/>
        </p:nvSpPr>
        <p:spPr>
          <a:xfrm>
            <a:off x="384630" y="846748"/>
            <a:ext cx="8199198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循环嵌套：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5267F-B4B4-DFAA-C864-2D3D76FB5FB1}"/>
              </a:ext>
            </a:extLst>
          </p:cNvPr>
          <p:cNvSpPr txBox="1"/>
          <p:nvPr/>
        </p:nvSpPr>
        <p:spPr>
          <a:xfrm>
            <a:off x="449942" y="1846823"/>
            <a:ext cx="10805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概念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：外层循环每执行一次，内层循环完整执行</a:t>
            </a:r>
          </a:p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应用场景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：矩阵运算、多级菜单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60FA1-F1DC-D891-8E2A-86EB801665ED}"/>
              </a:ext>
            </a:extLst>
          </p:cNvPr>
          <p:cNvSpPr txBox="1"/>
          <p:nvPr/>
        </p:nvSpPr>
        <p:spPr>
          <a:xfrm>
            <a:off x="563029" y="3480001"/>
            <a:ext cx="1069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程序示例</a:t>
            </a:r>
            <a:r>
              <a:rPr lang="zh-CN" altLang="en-US" sz="2800" dirty="0">
                <a:solidFill>
                  <a:schemeClr val="bg2"/>
                </a:solidFill>
                <a:latin typeface="+mj-ea"/>
                <a:ea typeface="+mj-ea"/>
              </a:rPr>
              <a:t>：</a:t>
            </a:r>
            <a:endParaRPr lang="en-US" altLang="zh-CN" sz="2800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99B2FC-78C6-4265-49BE-AB4642C53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29" y="4085769"/>
            <a:ext cx="10692800" cy="233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5415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A560-7005-DCCC-ECB1-C4E7456A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FBBEEF1-4CAC-147E-53BB-A4FE461E6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8AB1A-DF7F-E4B7-1620-FAAA0AAC4645}"/>
              </a:ext>
            </a:extLst>
          </p:cNvPr>
          <p:cNvSpPr txBox="1"/>
          <p:nvPr/>
        </p:nvSpPr>
        <p:spPr>
          <a:xfrm>
            <a:off x="246744" y="846748"/>
            <a:ext cx="833708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迭代器与可迭代对象：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101EB-393E-FE56-EB84-9C937140F7CE}"/>
              </a:ext>
            </a:extLst>
          </p:cNvPr>
          <p:cNvSpPr txBox="1"/>
          <p:nvPr/>
        </p:nvSpPr>
        <p:spPr>
          <a:xfrm>
            <a:off x="246744" y="1940982"/>
            <a:ext cx="112195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可迭代对象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：列表、字符串、字典（</a:t>
            </a:r>
            <a:r>
              <a:rPr lang="en-US" sz="3200" b="1" dirty="0">
                <a:solidFill>
                  <a:srgbClr val="FF0000"/>
                </a:solidFill>
                <a:latin typeface="+mn-ea"/>
                <a:ea typeface="+mn-ea"/>
              </a:rPr>
              <a:t>for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循环的底层支持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）；</a:t>
            </a:r>
          </a:p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迭代器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：实现了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__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iter__()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与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__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next__()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方法对象。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9D5099-C274-4892-EA6C-06813C3F73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14" r="10250"/>
          <a:stretch>
            <a:fillRect/>
          </a:stretch>
        </p:blipFill>
        <p:spPr>
          <a:xfrm>
            <a:off x="6096000" y="3829158"/>
            <a:ext cx="5146052" cy="191730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A83A53-400D-DD74-8183-2B9866422E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56" b="55798"/>
          <a:stretch>
            <a:fillRect/>
          </a:stretch>
        </p:blipFill>
        <p:spPr>
          <a:xfrm>
            <a:off x="524307" y="3829158"/>
            <a:ext cx="5383707" cy="191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9488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1E41-6614-99B3-2A13-801793CA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0632663-8865-DC00-482D-95BC2EE0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6801B3-2DE5-DDC5-6B3E-F2AD4E4F7F7A}"/>
              </a:ext>
            </a:extLst>
          </p:cNvPr>
          <p:cNvSpPr txBox="1"/>
          <p:nvPr/>
        </p:nvSpPr>
        <p:spPr>
          <a:xfrm>
            <a:off x="166914" y="846748"/>
            <a:ext cx="8416913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CN" sz="3200" b="1" dirty="0">
                <a:solidFill>
                  <a:srgbClr val="FF0000"/>
                </a:solidFill>
                <a:latin typeface="+mn-ea"/>
                <a:ea typeface="+mn-ea"/>
              </a:rPr>
              <a:t>推导式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：循环的简洁实现形式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15DC7F8-49B5-1DDF-8AA6-9B04C6D1C1B9}"/>
              </a:ext>
            </a:extLst>
          </p:cNvPr>
          <p:cNvGrpSpPr/>
          <p:nvPr/>
        </p:nvGrpSpPr>
        <p:grpSpPr>
          <a:xfrm>
            <a:off x="323343" y="1676174"/>
            <a:ext cx="11545309" cy="1573061"/>
            <a:chOff x="323345" y="1850529"/>
            <a:chExt cx="11545309" cy="15730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DB5932-470B-681C-10BF-660ADE8ECD54}"/>
                </a:ext>
              </a:extLst>
            </p:cNvPr>
            <p:cNvSpPr txBox="1"/>
            <p:nvPr/>
          </p:nvSpPr>
          <p:spPr>
            <a:xfrm>
              <a:off x="323345" y="1850529"/>
              <a:ext cx="1154530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列表推导式</a:t>
              </a:r>
              <a:r>
                <a:rPr lang="zh-CN" altLang="en-US" sz="2800" b="1" dirty="0">
                  <a:solidFill>
                    <a:schemeClr val="bg2"/>
                  </a:solidFill>
                  <a:latin typeface="+mn-ea"/>
                  <a:ea typeface="+mn-ea"/>
                </a:rPr>
                <a:t>：</a:t>
              </a:r>
              <a:r>
                <a:rPr lang="zh-CN" altLang="en-US" sz="2800" dirty="0">
                  <a:solidFill>
                    <a:schemeClr val="bg2"/>
                  </a:solidFill>
                  <a:latin typeface="+mn-ea"/>
                  <a:ea typeface="+mn-ea"/>
                </a:rPr>
                <a:t>快速生成列表</a:t>
              </a: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2B75EEE-5604-A055-1E19-57B400262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5156" b="72072"/>
            <a:stretch>
              <a:fillRect/>
            </a:stretch>
          </p:blipFill>
          <p:spPr>
            <a:xfrm>
              <a:off x="323345" y="2421310"/>
              <a:ext cx="11545309" cy="1002280"/>
            </a:xfrm>
            <a:prstGeom prst="rect">
              <a:avLst/>
            </a:prstGeom>
          </p:spPr>
        </p:pic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B7240A5-732F-6517-FA04-F94620F07C2B}"/>
              </a:ext>
            </a:extLst>
          </p:cNvPr>
          <p:cNvGrpSpPr/>
          <p:nvPr/>
        </p:nvGrpSpPr>
        <p:grpSpPr>
          <a:xfrm>
            <a:off x="406706" y="3456450"/>
            <a:ext cx="11378581" cy="1440195"/>
            <a:chOff x="406708" y="3600406"/>
            <a:chExt cx="11378581" cy="1440195"/>
          </a:xfrm>
        </p:grpSpPr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A80B2442-8FA6-CC2D-43B6-2CEFE77535E7}"/>
                </a:ext>
              </a:extLst>
            </p:cNvPr>
            <p:cNvSpPr txBox="1"/>
            <p:nvPr/>
          </p:nvSpPr>
          <p:spPr>
            <a:xfrm>
              <a:off x="406709" y="3600406"/>
              <a:ext cx="113785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字典推导式</a:t>
              </a:r>
              <a:r>
                <a:rPr lang="zh-CN" altLang="en-US" sz="2800" b="1" dirty="0">
                  <a:solidFill>
                    <a:schemeClr val="bg2"/>
                  </a:solidFill>
                  <a:latin typeface="+mn-ea"/>
                  <a:ea typeface="+mn-ea"/>
                </a:rPr>
                <a:t>：</a:t>
              </a:r>
              <a:r>
                <a:rPr lang="zh-CN" altLang="en-US" sz="2800" dirty="0">
                  <a:solidFill>
                    <a:schemeClr val="bg2"/>
                  </a:solidFill>
                  <a:latin typeface="+mn-ea"/>
                  <a:ea typeface="+mn-ea"/>
                </a:rPr>
                <a:t>快速生成字典</a:t>
              </a:r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522B9669-0B06-3CFF-5776-4B83575CB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3546" r="19375" b="38527"/>
            <a:stretch>
              <a:fillRect/>
            </a:stretch>
          </p:blipFill>
          <p:spPr>
            <a:xfrm>
              <a:off x="406708" y="4123626"/>
              <a:ext cx="11378581" cy="916975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BB51F7F-CD45-9B32-4758-B05109E6366C}"/>
              </a:ext>
            </a:extLst>
          </p:cNvPr>
          <p:cNvGrpSpPr/>
          <p:nvPr/>
        </p:nvGrpSpPr>
        <p:grpSpPr>
          <a:xfrm>
            <a:off x="1254029" y="5107463"/>
            <a:ext cx="8936813" cy="1452991"/>
            <a:chOff x="1159687" y="5216323"/>
            <a:chExt cx="8936813" cy="1452991"/>
          </a:xfrm>
        </p:grpSpPr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0AF8196E-AFC1-DDB4-9853-DB41A70762D5}"/>
                </a:ext>
              </a:extLst>
            </p:cNvPr>
            <p:cNvSpPr txBox="1"/>
            <p:nvPr/>
          </p:nvSpPr>
          <p:spPr>
            <a:xfrm>
              <a:off x="1230087" y="5216323"/>
              <a:ext cx="88664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带条件推导式</a:t>
              </a:r>
              <a:endParaRPr lang="zh-CN" altLang="en-US" sz="28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C09C1E2-91EE-A1DF-441E-B4BDAE1EE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2072" r="31406"/>
            <a:stretch>
              <a:fillRect/>
            </a:stretch>
          </p:blipFill>
          <p:spPr>
            <a:xfrm>
              <a:off x="1159687" y="5822793"/>
              <a:ext cx="8936813" cy="8465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718462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2A7F-D1DE-A893-7D94-4EA0F7D4C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113F72B-AFD2-D212-4F42-B926908B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78015-0E7D-654C-0B58-247C85D66E8D}"/>
              </a:ext>
            </a:extLst>
          </p:cNvPr>
          <p:cNvSpPr txBox="1"/>
          <p:nvPr/>
        </p:nvSpPr>
        <p:spPr>
          <a:xfrm>
            <a:off x="217714" y="846748"/>
            <a:ext cx="394788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综合实践：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BD4A2-17CE-0B15-E6D8-9C777704BF68}"/>
              </a:ext>
            </a:extLst>
          </p:cNvPr>
          <p:cNvSpPr txBox="1"/>
          <p:nvPr/>
        </p:nvSpPr>
        <p:spPr>
          <a:xfrm>
            <a:off x="1074057" y="1768401"/>
            <a:ext cx="3526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成绩等级分类</a:t>
            </a:r>
            <a:endParaRPr lang="zh-CN" alt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6" name="Picture 5" descr="A screen shot of a black background with white text&#10;&#10;AI-generated content may be incorrect.">
            <a:extLst>
              <a:ext uri="{FF2B5EF4-FFF2-40B4-BE49-F238E27FC236}">
                <a16:creationId xmlns:a16="http://schemas.microsoft.com/office/drawing/2014/main" id="{1D4765C1-C7D2-6B77-B5F2-AD3408B81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057" y="2353176"/>
            <a:ext cx="3526971" cy="42656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BD1779-1247-FF78-7205-4B19381D21C2}"/>
              </a:ext>
            </a:extLst>
          </p:cNvPr>
          <p:cNvSpPr txBox="1"/>
          <p:nvPr/>
        </p:nvSpPr>
        <p:spPr>
          <a:xfrm>
            <a:off x="5372267" y="1757650"/>
            <a:ext cx="65385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猜数字游戏</a:t>
            </a:r>
            <a:endParaRPr lang="zh-CN" alt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15" name="Picture 1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570B240-4AD9-03E9-01BE-0EC4AAD4D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267" y="2353175"/>
            <a:ext cx="6538516" cy="426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8381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二、循环语句</a:t>
            </a:r>
            <a:endParaRPr lang="zh-CN" altLang="en-US" sz="400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BE2EB52-1153-547D-4DDB-F105FCA1059C}"/>
              </a:ext>
            </a:extLst>
          </p:cNvPr>
          <p:cNvSpPr txBox="1"/>
          <p:nvPr/>
        </p:nvSpPr>
        <p:spPr>
          <a:xfrm>
            <a:off x="552734" y="937433"/>
            <a:ext cx="99846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章节实验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en-US" sz="3200" b="1" dirty="0">
                <a:solidFill>
                  <a:srgbClr val="333333"/>
                </a:solidFill>
                <a:latin typeface="+mn-ea"/>
                <a:ea typeface="+mn-ea"/>
              </a:rPr>
              <a:t> 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条件循环程序设计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8615743-0F76-1E7B-8513-381292D6BC62}"/>
              </a:ext>
            </a:extLst>
          </p:cNvPr>
          <p:cNvSpPr txBox="1"/>
          <p:nvPr/>
        </p:nvSpPr>
        <p:spPr>
          <a:xfrm>
            <a:off x="627797" y="1701891"/>
            <a:ext cx="1114339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0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条件循环程序设计</a:t>
            </a:r>
            <a:r>
              <a:rPr lang="en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0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）利用</a:t>
            </a:r>
            <a:r>
              <a:rPr 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pandas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库读取学生信息表格。</a:t>
            </a:r>
            <a:endParaRPr lang="en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）条件循环</a:t>
            </a:r>
            <a:r>
              <a:rPr 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编程，统计与自己同省的同学人数。</a:t>
            </a:r>
            <a:endParaRPr lang="en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00468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1009</Words>
  <Application>Microsoft Office PowerPoint</Application>
  <PresentationFormat>宽屏</PresentationFormat>
  <Paragraphs>116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黑体</vt:lpstr>
      <vt:lpstr>微软雅黑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一、条件语句</vt:lpstr>
      <vt:lpstr>一、条件语句</vt:lpstr>
      <vt:lpstr>一、条件语句</vt:lpstr>
      <vt:lpstr>一、条件语句</vt:lpstr>
      <vt:lpstr>一、条件语句</vt:lpstr>
      <vt:lpstr>PowerPoint 演示文稿</vt:lpstr>
      <vt:lpstr>二、循环语句</vt:lpstr>
      <vt:lpstr>二、循环语句</vt:lpstr>
      <vt:lpstr>二、循环语句</vt:lpstr>
      <vt:lpstr>二、循环语句</vt:lpstr>
      <vt:lpstr>二、循环语句</vt:lpstr>
      <vt:lpstr>二、循环语句</vt:lpstr>
      <vt:lpstr>二、循环语句</vt:lpstr>
      <vt:lpstr>二、循环语句</vt:lpstr>
      <vt:lpstr>二、循环语句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32</cp:revision>
  <dcterms:created xsi:type="dcterms:W3CDTF">2004-07-09T11:40:27Z</dcterms:created>
  <dcterms:modified xsi:type="dcterms:W3CDTF">2026-10-12T05:33:36Z</dcterms:modified>
</cp:coreProperties>
</file>